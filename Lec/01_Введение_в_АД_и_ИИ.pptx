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98" r:id="rId3"/>
    <p:sldId id="299" r:id="rId4"/>
    <p:sldId id="300" r:id="rId5"/>
    <p:sldId id="297" r:id="rId6"/>
    <p:sldId id="301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302" r:id="rId22"/>
    <p:sldId id="313" r:id="rId23"/>
    <p:sldId id="296" r:id="rId24"/>
    <p:sldId id="267" r:id="rId25"/>
    <p:sldId id="269" r:id="rId26"/>
    <p:sldId id="268" r:id="rId27"/>
    <p:sldId id="270" r:id="rId28"/>
    <p:sldId id="271" r:id="rId29"/>
    <p:sldId id="272" r:id="rId30"/>
    <p:sldId id="273" r:id="rId31"/>
    <p:sldId id="274" r:id="rId32"/>
    <p:sldId id="275" r:id="rId33"/>
    <p:sldId id="314" r:id="rId34"/>
    <p:sldId id="315" r:id="rId35"/>
    <p:sldId id="276" r:id="rId36"/>
    <p:sldId id="277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303" r:id="rId47"/>
    <p:sldId id="304" r:id="rId48"/>
    <p:sldId id="305" r:id="rId49"/>
    <p:sldId id="306" r:id="rId50"/>
    <p:sldId id="308" r:id="rId51"/>
    <p:sldId id="307" r:id="rId52"/>
    <p:sldId id="309" r:id="rId53"/>
    <p:sldId id="311" r:id="rId54"/>
    <p:sldId id="312" r:id="rId55"/>
  </p:sldIdLst>
  <p:sldSz cx="12192000" cy="6858000"/>
  <p:notesSz cx="6858000" cy="9144000"/>
  <p:embeddedFontLst>
    <p:embeddedFont>
      <p:font typeface="Montserrat" panose="00000500000000000000" pitchFamily="2" charset="-52"/>
      <p:regular r:id="rId57"/>
      <p:bold r:id="rId58"/>
      <p:italic r:id="rId59"/>
      <p:boldItalic r:id="rId60"/>
    </p:embeddedFont>
    <p:embeddedFont>
      <p:font typeface="Raleway" pitchFamily="2" charset="-52"/>
      <p:regular r:id="rId61"/>
      <p:bold r:id="rId62"/>
      <p:italic r:id="rId63"/>
      <p:boldItalic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  <p:embeddedFont>
      <p:font typeface="Roboto Light" panose="02000000000000000000" pitchFamily="2" charset="0"/>
      <p:regular r:id="rId69"/>
      <p:bold r:id="rId70"/>
      <p:italic r:id="rId71"/>
      <p:boldItalic r:id="rId72"/>
    </p:embeddedFont>
    <p:embeddedFont>
      <p:font typeface="Roboto Medium" panose="02000000000000000000" pitchFamily="2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h/7PQb71VlDRa/w1V+JErnEPEU0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onymous" initials="" lastIdx="13" clrIdx="0"/>
  <p:cmAuthor id="1" name="tatyana G" initials="" lastIdx="3" clrIdx="1"/>
  <p:cmAuthor id="2" name="Andrey Sozykin" initials="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74" Type="http://schemas.openxmlformats.org/officeDocument/2006/relationships/font" Target="fonts/font18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0.fntdata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56a47fe6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1356a47fe6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09AEDBDB-2BD4-4C5C-EA43-48208849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d898154dd_0_60:notes">
            <a:extLst>
              <a:ext uri="{FF2B5EF4-FFF2-40B4-BE49-F238E27FC236}">
                <a16:creationId xmlns:a16="http://schemas.microsoft.com/office/drawing/2014/main" id="{FB68C8EB-43CC-C75A-D8D3-6A50673FA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3d898154dd_0_60:notes">
            <a:extLst>
              <a:ext uri="{FF2B5EF4-FFF2-40B4-BE49-F238E27FC236}">
                <a16:creationId xmlns:a16="http://schemas.microsoft.com/office/drawing/2014/main" id="{A115F541-712F-2EE2-0523-73485660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83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60CF7AA4-B4C5-5D88-3BA4-56A41FDE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d898154dd_0_60:notes">
            <a:extLst>
              <a:ext uri="{FF2B5EF4-FFF2-40B4-BE49-F238E27FC236}">
                <a16:creationId xmlns:a16="http://schemas.microsoft.com/office/drawing/2014/main" id="{73C32E7A-EB31-FE58-2B7F-A0ADCE4D7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3d898154dd_0_60:notes">
            <a:extLst>
              <a:ext uri="{FF2B5EF4-FFF2-40B4-BE49-F238E27FC236}">
                <a16:creationId xmlns:a16="http://schemas.microsoft.com/office/drawing/2014/main" id="{9CA5E3E7-5438-16CD-0DE2-DBFB1B248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989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BEFB8F98-029B-ADC2-7B90-4763E028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d898154dd_0_60:notes">
            <a:extLst>
              <a:ext uri="{FF2B5EF4-FFF2-40B4-BE49-F238E27FC236}">
                <a16:creationId xmlns:a16="http://schemas.microsoft.com/office/drawing/2014/main" id="{E17CB41A-4659-0850-A07D-DDD0B4013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3d898154dd_0_60:notes">
            <a:extLst>
              <a:ext uri="{FF2B5EF4-FFF2-40B4-BE49-F238E27FC236}">
                <a16:creationId xmlns:a16="http://schemas.microsoft.com/office/drawing/2014/main" id="{0DFA67B8-9A3C-8787-AE2C-0DD117556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804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d898154d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3d898154d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9959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730D3FF0-FD99-FB08-D9BC-275FCBC6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d898154dd_0_60:notes">
            <a:extLst>
              <a:ext uri="{FF2B5EF4-FFF2-40B4-BE49-F238E27FC236}">
                <a16:creationId xmlns:a16="http://schemas.microsoft.com/office/drawing/2014/main" id="{3E7A1A0F-02D2-AEE4-D2E0-5783B2CE4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3d898154dd_0_60:notes">
            <a:extLst>
              <a:ext uri="{FF2B5EF4-FFF2-40B4-BE49-F238E27FC236}">
                <a16:creationId xmlns:a16="http://schemas.microsoft.com/office/drawing/2014/main" id="{1A1AE03A-8E17-0147-02BF-299874567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213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d898154dd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3d898154dd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d898154d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d898154d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d898154d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d898154d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d898154d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d898154d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d898154d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3d898154d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d898154d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3d898154dd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d898154d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13d898154d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d898154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3d898154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d898154d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3d898154d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3d898154dd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3d898154dd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d898154d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13d898154d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d898154dd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13d898154dd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d898154dd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3d898154dd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d898154dd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3d898154dd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41F0EEA2-D5B0-B0DB-3E41-54F87AF0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d898154dd_0_152:notes">
            <a:extLst>
              <a:ext uri="{FF2B5EF4-FFF2-40B4-BE49-F238E27FC236}">
                <a16:creationId xmlns:a16="http://schemas.microsoft.com/office/drawing/2014/main" id="{82956BEB-C5D0-BAE1-BDA5-C9C4EFB26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3d898154dd_0_152:notes">
            <a:extLst>
              <a:ext uri="{FF2B5EF4-FFF2-40B4-BE49-F238E27FC236}">
                <a16:creationId xmlns:a16="http://schemas.microsoft.com/office/drawing/2014/main" id="{8EE5A126-1DED-F20D-1816-2CE1A194A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504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2EDBBD1C-7D0A-013C-66C5-F606B4BB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d898154dd_0_152:notes">
            <a:extLst>
              <a:ext uri="{FF2B5EF4-FFF2-40B4-BE49-F238E27FC236}">
                <a16:creationId xmlns:a16="http://schemas.microsoft.com/office/drawing/2014/main" id="{FB9D5AF5-7F32-22A3-F253-A8A723638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3d898154dd_0_152:notes">
            <a:extLst>
              <a:ext uri="{FF2B5EF4-FFF2-40B4-BE49-F238E27FC236}">
                <a16:creationId xmlns:a16="http://schemas.microsoft.com/office/drawing/2014/main" id="{49C8E0FC-9499-F515-32FC-69699D165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567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356375269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1356375269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407097a37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407097a37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407097a378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1407097a378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07097a378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407097a378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07097a378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1407097a378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407097a378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1407097a378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407097a378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1407097a378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407097a378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1407097a378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407097a378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1407097a378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07097a378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07097a378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F174C48B-AE8A-1E05-586E-F60E3D11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07097a378_0_394:notes">
            <a:extLst>
              <a:ext uri="{FF2B5EF4-FFF2-40B4-BE49-F238E27FC236}">
                <a16:creationId xmlns:a16="http://schemas.microsoft.com/office/drawing/2014/main" id="{BB3FFF9A-42C4-31ED-975F-77997B271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07097a378_0_394:notes">
            <a:extLst>
              <a:ext uri="{FF2B5EF4-FFF2-40B4-BE49-F238E27FC236}">
                <a16:creationId xmlns:a16="http://schemas.microsoft.com/office/drawing/2014/main" id="{41CB7C6D-1856-C4F1-66A9-FC1E4E6C4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3839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8FFE1A38-2A5F-A5C9-1B49-3190BAEF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07097a378_0_394:notes">
            <a:extLst>
              <a:ext uri="{FF2B5EF4-FFF2-40B4-BE49-F238E27FC236}">
                <a16:creationId xmlns:a16="http://schemas.microsoft.com/office/drawing/2014/main" id="{69D4B6E6-5622-87F4-51AB-E4D1B3370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07097a378_0_394:notes">
            <a:extLst>
              <a:ext uri="{FF2B5EF4-FFF2-40B4-BE49-F238E27FC236}">
                <a16:creationId xmlns:a16="http://schemas.microsoft.com/office/drawing/2014/main" id="{E99A5CF4-0B5E-F473-56A0-5EBA1AC09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3936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07097a378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1407097a378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407097a378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1407097a378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407097a378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1407097a378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407097a378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1407097a378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07097a378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1407097a378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407097a378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1407097a378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07097a378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1407097a378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407097a378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1407097a378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407097a37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1407097a378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407097a378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1407097a378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407097a378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g1407097a378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3301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7635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5980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8091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7034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1914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1049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e6e8c9f0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e6e8c9f0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8839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3f95e48034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13f95e48034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1356a47fe64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"/>
            <a:ext cx="12192000" cy="685799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356a47fe64_0_3"/>
          <p:cNvSpPr txBox="1">
            <a:spLocks noGrp="1"/>
          </p:cNvSpPr>
          <p:nvPr>
            <p:ph type="ctrTitle"/>
          </p:nvPr>
        </p:nvSpPr>
        <p:spPr>
          <a:xfrm>
            <a:off x="4810779" y="2235150"/>
            <a:ext cx="6971318" cy="251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5239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505"/>
              <a:buFont typeface="Raleway"/>
              <a:buNone/>
            </a:pPr>
            <a:r>
              <a:rPr lang="ru-RU" sz="4400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АНАЛИЗ ДАННЫХ И</a:t>
            </a:r>
            <a:br>
              <a:rPr lang="ru-RU" sz="4400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ru-RU" sz="4400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ИСКУССТВЕННЫЙ ИНТЕЛЛЕКТ</a:t>
            </a:r>
            <a:endParaRPr sz="4400"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E97B109A-D5F7-7004-2DFC-62F06DE4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13d898154dd_0_60">
            <a:extLst>
              <a:ext uri="{FF2B5EF4-FFF2-40B4-BE49-F238E27FC236}">
                <a16:creationId xmlns:a16="http://schemas.microsoft.com/office/drawing/2014/main" id="{66937E7E-6164-791E-CED8-48BEBD683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3d898154dd_0_60">
            <a:extLst>
              <a:ext uri="{FF2B5EF4-FFF2-40B4-BE49-F238E27FC236}">
                <a16:creationId xmlns:a16="http://schemas.microsoft.com/office/drawing/2014/main" id="{19055DCE-FC10-1CD7-AEDE-79334766943D}"/>
              </a:ext>
            </a:extLst>
          </p:cNvPr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Преподаватель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" name="Google Shape;164;g13d898154dd_0_60">
            <a:extLst>
              <a:ext uri="{FF2B5EF4-FFF2-40B4-BE49-F238E27FC236}">
                <a16:creationId xmlns:a16="http://schemas.microsoft.com/office/drawing/2014/main" id="{2755EC17-4FB7-BC9C-6D57-4F321CB8C33D}"/>
              </a:ext>
            </a:extLst>
          </p:cNvPr>
          <p:cNvSpPr txBox="1"/>
          <p:nvPr/>
        </p:nvSpPr>
        <p:spPr>
          <a:xfrm>
            <a:off x="949760" y="1810013"/>
            <a:ext cx="7006571" cy="631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Созыкин Андрей Владимирович, к.т.н.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Директор учебно-научного центра «Искусственный интеллект» ИРИТ-РТФ УрФУ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Руководитель образовательной программы «Прикладной искусственный интеллект»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Контакты:</a:t>
            </a:r>
          </a:p>
          <a:p>
            <a:pPr marL="809625" lvl="1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@AndreySozykin</a:t>
            </a:r>
            <a:endParaRPr lang="ru-RU"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09625" lvl="1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Andrey.Sozykin@urfu.ru</a:t>
            </a:r>
            <a:endParaRPr lang="ru-RU"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9996" rtl="0">
              <a:spcBef>
                <a:spcPts val="0"/>
              </a:spcBef>
              <a:spcAft>
                <a:spcPts val="0"/>
              </a:spcAft>
            </a:pPr>
            <a:endParaRPr lang="en-US" sz="1800" b="0" i="1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br>
              <a:rPr lang="ru-RU" sz="2800" dirty="0"/>
            </a:br>
            <a:endParaRPr lang="ru-RU"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Рисунок 2" descr="Изображение выглядит как человек, одежда, джинсы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F08AD5-4C5C-FD62-33A9-EEEA29FD6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699" y="2051752"/>
            <a:ext cx="2657541" cy="398631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822E18-A932-2A8C-DBAD-6E5104ECFF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0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A9A255DA-2AD6-82A2-4760-3551AB65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13d898154dd_0_60">
            <a:extLst>
              <a:ext uri="{FF2B5EF4-FFF2-40B4-BE49-F238E27FC236}">
                <a16:creationId xmlns:a16="http://schemas.microsoft.com/office/drawing/2014/main" id="{09B9A940-D181-338E-110B-7792E77861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3d898154dd_0_60">
            <a:extLst>
              <a:ext uri="{FF2B5EF4-FFF2-40B4-BE49-F238E27FC236}">
                <a16:creationId xmlns:a16="http://schemas.microsoft.com/office/drawing/2014/main" id="{78CFC44C-CED4-D759-9777-C6FDB3B5F214}"/>
              </a:ext>
            </a:extLst>
          </p:cNvPr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План курса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" name="Google Shape;164;g13d898154dd_0_60">
            <a:extLst>
              <a:ext uri="{FF2B5EF4-FFF2-40B4-BE49-F238E27FC236}">
                <a16:creationId xmlns:a16="http://schemas.microsoft.com/office/drawing/2014/main" id="{CD01FF46-1024-08CA-CFC0-C83A63A0CE49}"/>
              </a:ext>
            </a:extLst>
          </p:cNvPr>
          <p:cNvSpPr txBox="1"/>
          <p:nvPr/>
        </p:nvSpPr>
        <p:spPr>
          <a:xfrm>
            <a:off x="949760" y="1810013"/>
            <a:ext cx="10685192" cy="437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Введение в искусственный интеллект. Жизненный цикл ИИ.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Элементы машинного обучения</a:t>
            </a:r>
          </a:p>
          <a:p>
            <a:pPr marL="457200" lvl="0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Технологии искусственного интеллекта</a:t>
            </a:r>
          </a:p>
          <a:p>
            <a:pPr marL="457200" lvl="0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Большие языковые модели</a:t>
            </a:r>
          </a:p>
          <a:p>
            <a:pPr marL="457200" lvl="0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Агентные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многоагентные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системы</a:t>
            </a:r>
          </a:p>
          <a:p>
            <a:pPr marL="457200" lvl="0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Этика искусственного интеллекта</a:t>
            </a:r>
          </a:p>
          <a:p>
            <a:pPr marL="457200" lvl="0" indent="-355600">
              <a:lnSpc>
                <a:spcPct val="150000"/>
              </a:lnSpc>
              <a:spcBef>
                <a:spcPts val="10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Форсайт 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C9B1D3-B043-32F5-F8F4-F3C6FCCFCA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0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760D031F-68F9-1E92-F6E5-CC885BFB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13d898154dd_0_60">
            <a:extLst>
              <a:ext uri="{FF2B5EF4-FFF2-40B4-BE49-F238E27FC236}">
                <a16:creationId xmlns:a16="http://schemas.microsoft.com/office/drawing/2014/main" id="{23AE440E-864B-1745-B441-77A4C2ABC9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3d898154dd_0_60">
            <a:extLst>
              <a:ext uri="{FF2B5EF4-FFF2-40B4-BE49-F238E27FC236}">
                <a16:creationId xmlns:a16="http://schemas.microsoft.com/office/drawing/2014/main" id="{FB57CAFB-5611-721E-496A-85B5530D7F3E}"/>
              </a:ext>
            </a:extLst>
          </p:cNvPr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Искусственный интеллект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" name="Google Shape;164;g13d898154dd_0_60">
            <a:extLst>
              <a:ext uri="{FF2B5EF4-FFF2-40B4-BE49-F238E27FC236}">
                <a16:creationId xmlns:a16="http://schemas.microsoft.com/office/drawing/2014/main" id="{8307EE0C-9A80-3365-BCC6-743D3076FEC4}"/>
              </a:ext>
            </a:extLst>
          </p:cNvPr>
          <p:cNvSpPr txBox="1"/>
          <p:nvPr/>
        </p:nvSpPr>
        <p:spPr>
          <a:xfrm>
            <a:off x="1084851" y="2955641"/>
            <a:ext cx="10022298" cy="1297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01600" marR="0" lvl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</a:pPr>
            <a:r>
              <a:rPr lang="ru-RU" sz="2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Что такое искусственный интеллект?</a:t>
            </a:r>
            <a:endParaRPr lang="ru-RU" sz="28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9996" rtl="0">
              <a:spcBef>
                <a:spcPts val="0"/>
              </a:spcBef>
              <a:spcAft>
                <a:spcPts val="0"/>
              </a:spcAft>
            </a:pPr>
            <a:endParaRPr lang="en-US" sz="1800" b="0" i="1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679D13-2184-2699-27FD-266F54A070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13d898154dd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3d898154dd_0_60"/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Искусственный интеллект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" name="Google Shape;164;g13d898154dd_0_60"/>
          <p:cNvSpPr txBox="1"/>
          <p:nvPr/>
        </p:nvSpPr>
        <p:spPr>
          <a:xfrm>
            <a:off x="971050" y="1999200"/>
            <a:ext cx="10022298" cy="41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Искусственный интеллект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— комплекс технологических решений, позволяющий имитировать когнитивные функции человека и получать при выполнении конкретных задач результаты, сопоставимые, как минимум, с результатами интеллектуальной деятельности человека</a:t>
            </a:r>
          </a:p>
          <a:p>
            <a:pPr marL="629996" rtl="0">
              <a:spcBef>
                <a:spcPts val="0"/>
              </a:spcBef>
              <a:spcAft>
                <a:spcPts val="0"/>
              </a:spcAft>
            </a:pPr>
            <a:endParaRPr lang="en-US" sz="1800" b="0" i="1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629996" rtl="0">
              <a:spcBef>
                <a:spcPts val="0"/>
              </a:spcBef>
              <a:spcAft>
                <a:spcPts val="0"/>
              </a:spcAft>
            </a:pPr>
            <a:r>
              <a:rPr lang="ru-RU" sz="1800" b="0" i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Национальная стратегия развития ИИ в России на период до 2030 года</a:t>
            </a:r>
            <a:endParaRPr lang="ru-RU" sz="2800" b="0" dirty="0">
              <a:effectLst/>
            </a:endParaRPr>
          </a:p>
          <a:p>
            <a:br>
              <a:rPr lang="ru-RU" sz="2800" dirty="0"/>
            </a:br>
            <a:endParaRPr lang="ru-RU"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1B3B794-EB85-9481-1B77-371E83B39B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4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B7C196CF-5F41-7382-EB04-9A46C17E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13d898154dd_0_60">
            <a:extLst>
              <a:ext uri="{FF2B5EF4-FFF2-40B4-BE49-F238E27FC236}">
                <a16:creationId xmlns:a16="http://schemas.microsoft.com/office/drawing/2014/main" id="{0F57B2BD-FF76-A01E-CD52-DE33DDDC7A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3d898154dd_0_60">
            <a:extLst>
              <a:ext uri="{FF2B5EF4-FFF2-40B4-BE49-F238E27FC236}">
                <a16:creationId xmlns:a16="http://schemas.microsoft.com/office/drawing/2014/main" id="{147EE2A4-9F89-9F8A-1888-CEF72B058ED0}"/>
              </a:ext>
            </a:extLst>
          </p:cNvPr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Искусственный интеллект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" name="Google Shape;164;g13d898154dd_0_60">
            <a:extLst>
              <a:ext uri="{FF2B5EF4-FFF2-40B4-BE49-F238E27FC236}">
                <a16:creationId xmlns:a16="http://schemas.microsoft.com/office/drawing/2014/main" id="{CFC75FB9-CCF4-0022-8C71-EBCC81DCAB68}"/>
              </a:ext>
            </a:extLst>
          </p:cNvPr>
          <p:cNvSpPr txBox="1"/>
          <p:nvPr/>
        </p:nvSpPr>
        <p:spPr>
          <a:xfrm>
            <a:off x="1084851" y="2955641"/>
            <a:ext cx="10022298" cy="1297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01600" marR="0" lvl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</a:pPr>
            <a:r>
              <a:rPr lang="ru-RU" sz="2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Когда появился искусственный интеллект?</a:t>
            </a:r>
            <a:endParaRPr lang="ru-RU" sz="28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9996" rtl="0">
              <a:spcBef>
                <a:spcPts val="0"/>
              </a:spcBef>
              <a:spcAft>
                <a:spcPts val="0"/>
              </a:spcAft>
            </a:pPr>
            <a:endParaRPr lang="en-US" sz="1800" b="0" i="1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FAF7D8-05AE-53EC-0D29-F037F06B3E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4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13d898154dd_0_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13d898154dd_0_163"/>
          <p:cNvSpPr txBox="1"/>
          <p:nvPr/>
        </p:nvSpPr>
        <p:spPr>
          <a:xfrm>
            <a:off x="1836400" y="567338"/>
            <a:ext cx="79620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Этапы развития искусственного интеллекта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1" name="Google Shape;111;g13d898154dd_0_163"/>
          <p:cNvSpPr txBox="1"/>
          <p:nvPr/>
        </p:nvSpPr>
        <p:spPr>
          <a:xfrm>
            <a:off x="732250" y="1974850"/>
            <a:ext cx="76020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1940-60 гг.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–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зарождение ИИ</a:t>
            </a:r>
            <a:endParaRPr sz="25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1970-80 гг.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– 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первая зима ИИ</a:t>
            </a:r>
            <a:endParaRPr sz="30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1980-85 гг.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–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этап экспертных систем в ИИ</a:t>
            </a:r>
            <a:endParaRPr sz="25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1985-1990 гг. </a:t>
            </a: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–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вторая зима ИИ</a:t>
            </a:r>
            <a:endParaRPr sz="25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 2000-х гг. по настоящее время 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– современный этап</a:t>
            </a:r>
            <a:endParaRPr sz="25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06BFD3-3D1D-99BC-28A4-ADDFF4AAFE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13d898154dd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13d898154dd_0_8"/>
          <p:cNvSpPr txBox="1"/>
          <p:nvPr/>
        </p:nvSpPr>
        <p:spPr>
          <a:xfrm>
            <a:off x="1836400" y="567338"/>
            <a:ext cx="79620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Основоположник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0" name="Google Shape;120;g13d898154dd_0_8"/>
          <p:cNvSpPr txBox="1">
            <a:spLocks noGrp="1"/>
          </p:cNvSpPr>
          <p:nvPr>
            <p:ph type="subTitle" idx="1"/>
          </p:nvPr>
        </p:nvSpPr>
        <p:spPr>
          <a:xfrm>
            <a:off x="2858457" y="5049245"/>
            <a:ext cx="2339700" cy="1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Алан Тюринг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(1912-1954)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g13d898154dd_0_8"/>
          <p:cNvSpPr txBox="1"/>
          <p:nvPr/>
        </p:nvSpPr>
        <p:spPr>
          <a:xfrm>
            <a:off x="5636282" y="2367695"/>
            <a:ext cx="39828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0" i="0" u="none" strike="noStrike" cap="none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«</a:t>
            </a: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Я предлагаю рассмотреть вопрос:</a:t>
            </a:r>
            <a:b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-RU" sz="25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Могут ли машины мыслить?</a:t>
            </a:r>
            <a:r>
              <a:rPr lang="ru-RU" sz="3000" b="0" i="0" u="none" strike="noStrike" cap="none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»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1950</a:t>
            </a:r>
            <a:endParaRPr sz="300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g13d898154dd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6305" y="1958359"/>
            <a:ext cx="2224000" cy="302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13d898154dd_0_8"/>
          <p:cNvSpPr txBox="1"/>
          <p:nvPr/>
        </p:nvSpPr>
        <p:spPr>
          <a:xfrm>
            <a:off x="2796357" y="4532670"/>
            <a:ext cx="2463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-RU" sz="13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www.wikipedia.org</a:t>
            </a:r>
            <a:endParaRPr sz="1300" b="0" i="0" u="none" strike="noStrike" cap="non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DCBCAF-D28D-A7CB-8E38-E3D859375E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13d898154dd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13d898154dd_0_21"/>
          <p:cNvSpPr txBox="1"/>
          <p:nvPr/>
        </p:nvSpPr>
        <p:spPr>
          <a:xfrm>
            <a:off x="1836400" y="567338"/>
            <a:ext cx="7962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Игра в имитацию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3" name="Google Shape;133;g13d898154dd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298" y="2143187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13d898154dd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472" y="2143174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13d898154dd_0_21"/>
          <p:cNvSpPr txBox="1"/>
          <p:nvPr/>
        </p:nvSpPr>
        <p:spPr>
          <a:xfrm>
            <a:off x="2885048" y="1573775"/>
            <a:ext cx="2647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Мужчина</a:t>
            </a:r>
            <a:endParaRPr/>
          </a:p>
        </p:txBody>
      </p:sp>
      <p:sp>
        <p:nvSpPr>
          <p:cNvPr id="136" name="Google Shape;136;g13d898154dd_0_21"/>
          <p:cNvSpPr txBox="1"/>
          <p:nvPr/>
        </p:nvSpPr>
        <p:spPr>
          <a:xfrm>
            <a:off x="6397323" y="1573775"/>
            <a:ext cx="2325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Женщина</a:t>
            </a:r>
            <a:endParaRPr/>
          </a:p>
        </p:txBody>
      </p:sp>
      <p:cxnSp>
        <p:nvCxnSpPr>
          <p:cNvPr id="137" name="Google Shape;137;g13d898154dd_0_21"/>
          <p:cNvCxnSpPr/>
          <p:nvPr/>
        </p:nvCxnSpPr>
        <p:spPr>
          <a:xfrm>
            <a:off x="2938223" y="3785200"/>
            <a:ext cx="6028800" cy="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g13d898154dd_0_21"/>
          <p:cNvSpPr txBox="1"/>
          <p:nvPr/>
        </p:nvSpPr>
        <p:spPr>
          <a:xfrm>
            <a:off x="7138073" y="3726200"/>
            <a:ext cx="2325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Стена</a:t>
            </a:r>
            <a:endParaRPr/>
          </a:p>
        </p:txBody>
      </p:sp>
      <p:pic>
        <p:nvPicPr>
          <p:cNvPr id="139" name="Google Shape;139;g13d898154dd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8723" y="4107775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3d898154dd_0_21"/>
          <p:cNvSpPr txBox="1"/>
          <p:nvPr/>
        </p:nvSpPr>
        <p:spPr>
          <a:xfrm>
            <a:off x="4622023" y="5607050"/>
            <a:ext cx="23250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Задающий вопросы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8F2A49-2691-43EC-A1AC-2F39DEA691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13d898154dd_0_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13d898154dd_0_43"/>
          <p:cNvSpPr txBox="1"/>
          <p:nvPr/>
        </p:nvSpPr>
        <p:spPr>
          <a:xfrm>
            <a:off x="1836400" y="567338"/>
            <a:ext cx="7962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Игра в имитацию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49" name="Google Shape;149;g13d898154dd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1823" y="2080112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13d898154dd_0_43"/>
          <p:cNvSpPr txBox="1"/>
          <p:nvPr/>
        </p:nvSpPr>
        <p:spPr>
          <a:xfrm>
            <a:off x="6147674" y="1510713"/>
            <a:ext cx="2325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Женщина</a:t>
            </a:r>
            <a:endParaRPr/>
          </a:p>
        </p:txBody>
      </p:sp>
      <p:cxnSp>
        <p:nvCxnSpPr>
          <p:cNvPr id="151" name="Google Shape;151;g13d898154dd_0_43"/>
          <p:cNvCxnSpPr/>
          <p:nvPr/>
        </p:nvCxnSpPr>
        <p:spPr>
          <a:xfrm>
            <a:off x="2688574" y="3722138"/>
            <a:ext cx="6028800" cy="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" name="Google Shape;152;g13d898154dd_0_43"/>
          <p:cNvSpPr txBox="1"/>
          <p:nvPr/>
        </p:nvSpPr>
        <p:spPr>
          <a:xfrm>
            <a:off x="6888424" y="3663138"/>
            <a:ext cx="2325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Стена</a:t>
            </a:r>
            <a:endParaRPr/>
          </a:p>
        </p:txBody>
      </p:sp>
      <p:pic>
        <p:nvPicPr>
          <p:cNvPr id="153" name="Google Shape;153;g13d898154dd_0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9074" y="4044713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13d898154dd_0_43"/>
          <p:cNvSpPr txBox="1"/>
          <p:nvPr/>
        </p:nvSpPr>
        <p:spPr>
          <a:xfrm>
            <a:off x="4372374" y="5543988"/>
            <a:ext cx="23250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Задающий вопросы</a:t>
            </a:r>
            <a:endParaRPr/>
          </a:p>
        </p:txBody>
      </p:sp>
      <p:pic>
        <p:nvPicPr>
          <p:cNvPr id="155" name="Google Shape;155;g13d898154dd_0_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3224" y="2136202"/>
            <a:ext cx="1189612" cy="11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3d898154dd_0_43"/>
          <p:cNvSpPr txBox="1"/>
          <p:nvPr/>
        </p:nvSpPr>
        <p:spPr>
          <a:xfrm>
            <a:off x="2815524" y="1587488"/>
            <a:ext cx="2325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Компьютер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9D5FE5-B498-D734-EA70-343C6D5C671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13d898154dd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3d898154dd_0_60"/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Нейронные сети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" name="Google Shape;164;g13d898154dd_0_60"/>
          <p:cNvSpPr txBox="1"/>
          <p:nvPr/>
        </p:nvSpPr>
        <p:spPr>
          <a:xfrm>
            <a:off x="971049" y="1999200"/>
            <a:ext cx="9192453" cy="31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Модель искусственного нейрона,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Маккаллок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и Питтс, 1943 г.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Правила обучения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Хебба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1949 г.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Если нейроны часто срабатывают вместе, то связи между ними укрепляются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Персептрон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Розенблатта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1958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г.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13d898154dd_0_60"/>
          <p:cNvSpPr/>
          <p:nvPr/>
        </p:nvSpPr>
        <p:spPr>
          <a:xfrm>
            <a:off x="3089024" y="5010038"/>
            <a:ext cx="584700" cy="4467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13d898154dd_0_60"/>
          <p:cNvSpPr/>
          <p:nvPr/>
        </p:nvSpPr>
        <p:spPr>
          <a:xfrm>
            <a:off x="3750374" y="4999538"/>
            <a:ext cx="489000" cy="46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25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13d898154dd_0_60"/>
          <p:cNvSpPr/>
          <p:nvPr/>
        </p:nvSpPr>
        <p:spPr>
          <a:xfrm>
            <a:off x="4392224" y="4999538"/>
            <a:ext cx="489000" cy="467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B94AB8-42F2-464D-CFD7-6CEA3FA410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13d898154dd_0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3d898154dd_0_72"/>
          <p:cNvSpPr txBox="1"/>
          <p:nvPr/>
        </p:nvSpPr>
        <p:spPr>
          <a:xfrm>
            <a:off x="1836400" y="528250"/>
            <a:ext cx="7962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Автор термина «искусственный интеллект»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" name="Google Shape;176;g13d898154dd_0_72"/>
          <p:cNvSpPr txBox="1">
            <a:spLocks noGrp="1"/>
          </p:cNvSpPr>
          <p:nvPr>
            <p:ph type="subTitle" idx="1"/>
          </p:nvPr>
        </p:nvSpPr>
        <p:spPr>
          <a:xfrm>
            <a:off x="1605098" y="4923120"/>
            <a:ext cx="2339700" cy="1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Джон Маккарти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(1927-2011)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13d898154dd_0_72"/>
          <p:cNvSpPr txBox="1"/>
          <p:nvPr/>
        </p:nvSpPr>
        <p:spPr>
          <a:xfrm>
            <a:off x="4371122" y="1862370"/>
            <a:ext cx="6283739" cy="287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«</a:t>
            </a:r>
            <a:r>
              <a:rPr lang="ru-RU" sz="2500" dirty="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Всякий аспект обучения или любое другое свойство интеллекта может в принципе быть столь точно описано, что машина сможет его симулировать</a:t>
            </a: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»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1956, Дартмутский семинар</a:t>
            </a:r>
            <a:endParaRPr sz="3000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13d898154dd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998" y="1936793"/>
            <a:ext cx="2463875" cy="2854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13d898154dd_0_72"/>
          <p:cNvSpPr txBox="1"/>
          <p:nvPr/>
        </p:nvSpPr>
        <p:spPr>
          <a:xfrm>
            <a:off x="1542998" y="4406545"/>
            <a:ext cx="2463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-RU" sz="13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www.wikipedia.org</a:t>
            </a:r>
            <a:endParaRPr sz="1300" b="0" i="0" u="none" strike="noStrike" cap="non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AFAB1A-7826-770A-2FDA-970A274145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13d898154dd_0_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13d898154dd_0_87"/>
          <p:cNvSpPr txBox="1"/>
          <p:nvPr/>
        </p:nvSpPr>
        <p:spPr>
          <a:xfrm>
            <a:off x="1867425" y="605263"/>
            <a:ext cx="767596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Первая зима искусственного интеллекта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8" name="Google Shape;188;g13d898154dd_0_87"/>
          <p:cNvSpPr txBox="1"/>
          <p:nvPr/>
        </p:nvSpPr>
        <p:spPr>
          <a:xfrm>
            <a:off x="971049" y="1999200"/>
            <a:ext cx="9297557" cy="386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Автоматический перевод 1950-60 гг.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Перевести с английского на русский и обратно выражение «Крепок дух, но немощна плоть»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Результат: «Водка хорошая, но мясо протухло»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Свертывание разработок и финансирования в 1964 г. 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Минский,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Пайперт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Персептроны, 1969 г.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Ограничения персептронов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A0F05FF-F1DA-3133-8D79-25F80AE4B8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13d898154d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13d898154dd_0_0"/>
          <p:cNvSpPr txBox="1"/>
          <p:nvPr/>
        </p:nvSpPr>
        <p:spPr>
          <a:xfrm>
            <a:off x="1846174" y="594613"/>
            <a:ext cx="9063563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Этап экспертных систем в искусственном интеллекте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7" name="Google Shape;197;g13d898154dd_0_0"/>
          <p:cNvSpPr txBox="1"/>
          <p:nvPr/>
        </p:nvSpPr>
        <p:spPr>
          <a:xfrm>
            <a:off x="971050" y="1999200"/>
            <a:ext cx="9833584" cy="352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Экспертные системы (1970-85 гг.)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Если [условие], то [вывод]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Примеры экспертных систем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MYCIN – диагностика заболеваний крови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XCON – составление спецификации комплектующих на основе заказа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Специализированные компьютеры для ИИ – LISP-машины  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5187DC6-59F7-C301-A9F4-CF9E5F6E2E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13d898154dd_0_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13d898154dd_0_106"/>
          <p:cNvSpPr txBox="1"/>
          <p:nvPr/>
        </p:nvSpPr>
        <p:spPr>
          <a:xfrm>
            <a:off x="1867425" y="605263"/>
            <a:ext cx="6390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Вторая зима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6" name="Google Shape;206;g13d898154dd_0_106"/>
          <p:cNvSpPr txBox="1"/>
          <p:nvPr/>
        </p:nvSpPr>
        <p:spPr>
          <a:xfrm>
            <a:off x="971050" y="1999200"/>
            <a:ext cx="9223984" cy="340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Падение популярности экспертных систем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Правила быстро становятся очень сложными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Фиксированные правила не учитывают неопределенность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Коллапс LISP-машин, 1987 г.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99999" marR="0" lvl="0" indent="-355599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Рабочие станции и персональные компьютеры предоставили большую производительность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98B935-69F4-F0FC-AF91-136FDD4487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13d898154dd_0_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13d898154dd_0_98"/>
          <p:cNvSpPr txBox="1"/>
          <p:nvPr/>
        </p:nvSpPr>
        <p:spPr>
          <a:xfrm>
            <a:off x="1846175" y="5946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Глубокие нейронные сети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5" name="Google Shape;215;g13d898154dd_0_98"/>
          <p:cNvSpPr txBox="1"/>
          <p:nvPr/>
        </p:nvSpPr>
        <p:spPr>
          <a:xfrm>
            <a:off x="949760" y="1652675"/>
            <a:ext cx="9224254" cy="29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Обучение многослойных нейронных сетей, 1986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90000" marR="0" lvl="0" indent="-355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Алгоритм обратного распространения ошибки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Распознавание рукописных цифр с помощью глубоких нейронных сетей, 1989 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g13d898154dd_0_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619" y="3839448"/>
            <a:ext cx="4305691" cy="223148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13d898154dd_0_98"/>
          <p:cNvSpPr txBox="1"/>
          <p:nvPr/>
        </p:nvSpPr>
        <p:spPr>
          <a:xfrm>
            <a:off x="3825766" y="6070937"/>
            <a:ext cx="4025462" cy="4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www.wikipedia.org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F6EF44-857B-4A88-7A9B-AF539CD130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13d898154dd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61" y="1748827"/>
            <a:ext cx="2788550" cy="41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13d898154dd_0_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13d898154dd_0_116"/>
          <p:cNvSpPr txBox="1"/>
          <p:nvPr/>
        </p:nvSpPr>
        <p:spPr>
          <a:xfrm>
            <a:off x="1846175" y="528263"/>
            <a:ext cx="8254266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Искусственный интеллект победил человека в шахматах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7" name="Google Shape;227;g13d898154dd_0_116"/>
          <p:cNvSpPr txBox="1"/>
          <p:nvPr/>
        </p:nvSpPr>
        <p:spPr>
          <a:xfrm>
            <a:off x="1124225" y="5544575"/>
            <a:ext cx="3011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Источник: www.</a:t>
            </a:r>
            <a:r>
              <a:rPr lang="ru-RU" sz="13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13d898154dd_0_116"/>
          <p:cNvSpPr txBox="1"/>
          <p:nvPr/>
        </p:nvSpPr>
        <p:spPr>
          <a:xfrm>
            <a:off x="5163563" y="2089950"/>
            <a:ext cx="3447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 1997 году шахматный суперкомпьютер Deep Blue компании IBM победил чемпиона мира Гарри Гаспарова</a:t>
            </a:r>
            <a:endParaRPr sz="20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B7E339-CB2E-1018-3632-B8D8841292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13d898154dd_0_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13d898154dd_0_128"/>
          <p:cNvSpPr txBox="1"/>
          <p:nvPr/>
        </p:nvSpPr>
        <p:spPr>
          <a:xfrm>
            <a:off x="1846174" y="528263"/>
            <a:ext cx="79074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Нейронные сети в компьютерном зрении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7" name="Google Shape;237;g13d898154dd_0_128"/>
          <p:cNvSpPr txBox="1"/>
          <p:nvPr/>
        </p:nvSpPr>
        <p:spPr>
          <a:xfrm>
            <a:off x="2854124" y="6062510"/>
            <a:ext cx="3011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Источник: www.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13d898154dd_0_128"/>
          <p:cNvSpPr txBox="1"/>
          <p:nvPr/>
        </p:nvSpPr>
        <p:spPr>
          <a:xfrm>
            <a:off x="6305999" y="1788237"/>
            <a:ext cx="34476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 2012 году глубокая нейронная сеть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AlexNet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позволила существенно увеличить качество распознавания объектов на изображениях </a:t>
            </a: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g13d898154dd_0_128"/>
          <p:cNvPicPr preferRelativeResize="0"/>
          <p:nvPr/>
        </p:nvPicPr>
        <p:blipFill rotWithShape="1">
          <a:blip r:embed="rId4">
            <a:alphaModFix/>
          </a:blip>
          <a:srcRect l="49844" t="5577" b="3875"/>
          <a:stretch/>
        </p:blipFill>
        <p:spPr>
          <a:xfrm>
            <a:off x="2708624" y="1788237"/>
            <a:ext cx="3156900" cy="4274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788E93-4631-D9F9-6E9E-6FF1D89773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13d898154dd_0_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3d898154dd_0_140"/>
          <p:cNvSpPr txBox="1"/>
          <p:nvPr/>
        </p:nvSpPr>
        <p:spPr>
          <a:xfrm>
            <a:off x="1846175" y="549672"/>
            <a:ext cx="70638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Искусственный интеллект победил человека в Go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8" name="Google Shape;248;g13d898154dd_0_140"/>
          <p:cNvSpPr txBox="1"/>
          <p:nvPr/>
        </p:nvSpPr>
        <p:spPr>
          <a:xfrm>
            <a:off x="2308075" y="3965675"/>
            <a:ext cx="3011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Источник: www.</a:t>
            </a:r>
            <a:r>
              <a:rPr lang="ru-RU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13d898154dd_0_140"/>
          <p:cNvSpPr txBox="1"/>
          <p:nvPr/>
        </p:nvSpPr>
        <p:spPr>
          <a:xfrm>
            <a:off x="5891249" y="2089950"/>
            <a:ext cx="4072557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 2016 году система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AlphaGo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компании Deep Mind победила чемпиона мира по игре в Go Ли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Сэдоля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g13d898154dd_0_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6175" y="2863976"/>
            <a:ext cx="3813550" cy="9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FBF934-E1EF-2071-5C5D-4FCB4B464D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13d898154dd_0_1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13d898154dd_0_152"/>
          <p:cNvSpPr txBox="1"/>
          <p:nvPr/>
        </p:nvSpPr>
        <p:spPr>
          <a:xfrm>
            <a:off x="1846175" y="528263"/>
            <a:ext cx="8296308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Нейронные сети в обработке естественного языка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59" name="Google Shape;259;g13d898154dd_0_152"/>
          <p:cNvSpPr txBox="1"/>
          <p:nvPr/>
        </p:nvSpPr>
        <p:spPr>
          <a:xfrm>
            <a:off x="2604766" y="5218558"/>
            <a:ext cx="3011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Источник: www.</a:t>
            </a: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13d898154dd_0_152"/>
          <p:cNvSpPr txBox="1"/>
          <p:nvPr/>
        </p:nvSpPr>
        <p:spPr>
          <a:xfrm>
            <a:off x="6181366" y="2612293"/>
            <a:ext cx="4932356" cy="201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52396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 2017 году предложена архитектура нейронной сети «Трансформер», которая позволила существенно повысить качество решения задач обработки естественного языка</a:t>
            </a: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2" name="Google Shape;262;g13d898154dd_0_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6878" y="2109270"/>
            <a:ext cx="3807173" cy="30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E6AE50-2FA6-901D-15FC-62B2D58F65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84052E59-C24F-CD9C-0CC5-F68E14EB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13d898154dd_0_152">
            <a:extLst>
              <a:ext uri="{FF2B5EF4-FFF2-40B4-BE49-F238E27FC236}">
                <a16:creationId xmlns:a16="http://schemas.microsoft.com/office/drawing/2014/main" id="{9B20646D-2A83-126F-AADA-319B9CBD87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13d898154dd_0_152">
            <a:extLst>
              <a:ext uri="{FF2B5EF4-FFF2-40B4-BE49-F238E27FC236}">
                <a16:creationId xmlns:a16="http://schemas.microsoft.com/office/drawing/2014/main" id="{A1E2AF3F-2D6C-69BE-8016-619BECABF6AA}"/>
              </a:ext>
            </a:extLst>
          </p:cNvPr>
          <p:cNvSpPr txBox="1"/>
          <p:nvPr/>
        </p:nvSpPr>
        <p:spPr>
          <a:xfrm>
            <a:off x="1846175" y="528263"/>
            <a:ext cx="7063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Большие языковые модели 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</a:t>
            </a:r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ChatGPT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" name="Google Shape;200;g1407097a378_0_222">
            <a:extLst>
              <a:ext uri="{FF2B5EF4-FFF2-40B4-BE49-F238E27FC236}">
                <a16:creationId xmlns:a16="http://schemas.microsoft.com/office/drawing/2014/main" id="{E58BD41F-F96B-CE2F-8DA4-797065406CA5}"/>
              </a:ext>
            </a:extLst>
          </p:cNvPr>
          <p:cNvSpPr txBox="1"/>
          <p:nvPr/>
        </p:nvSpPr>
        <p:spPr>
          <a:xfrm>
            <a:off x="675175" y="2079925"/>
            <a:ext cx="1038170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Большие языковые модели (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Large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Language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LLM) – большие нейронные сети с архитектурой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Transformer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для моделирования языка</a:t>
            </a:r>
          </a:p>
          <a:p>
            <a:pPr marL="540000" lvl="1" indent="-355600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GPT – Generative Pretrained Transformer</a:t>
            </a:r>
          </a:p>
          <a:p>
            <a:pPr marL="540000" marR="0" lvl="1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ChatGPT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2022 год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Большая языковая модель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Диалоговый интерфейс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4C4EC1-AC9D-499C-5BF7-31130D7AA5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51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78998552-66E4-0455-A755-C95C16D9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13d898154dd_0_152">
            <a:extLst>
              <a:ext uri="{FF2B5EF4-FFF2-40B4-BE49-F238E27FC236}">
                <a16:creationId xmlns:a16="http://schemas.microsoft.com/office/drawing/2014/main" id="{26CC64AD-79B0-FC4A-DAD5-1AE1F4A562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13d898154dd_0_152">
            <a:extLst>
              <a:ext uri="{FF2B5EF4-FFF2-40B4-BE49-F238E27FC236}">
                <a16:creationId xmlns:a16="http://schemas.microsoft.com/office/drawing/2014/main" id="{34040E8D-A8CA-5F68-200B-5E1F78DDEF8F}"/>
              </a:ext>
            </a:extLst>
          </p:cNvPr>
          <p:cNvSpPr txBox="1"/>
          <p:nvPr/>
        </p:nvSpPr>
        <p:spPr>
          <a:xfrm>
            <a:off x="1846175" y="528263"/>
            <a:ext cx="7063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Агенты и </a:t>
            </a:r>
            <a:r>
              <a:rPr lang="ru-RU" sz="3000" dirty="0" err="1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мультиагентные</a:t>
            </a: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 системы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" name="Google Shape;200;g1407097a378_0_222">
            <a:extLst>
              <a:ext uri="{FF2B5EF4-FFF2-40B4-BE49-F238E27FC236}">
                <a16:creationId xmlns:a16="http://schemas.microsoft.com/office/drawing/2014/main" id="{707F49AC-48D8-5560-5A3E-F11057382265}"/>
              </a:ext>
            </a:extLst>
          </p:cNvPr>
          <p:cNvSpPr txBox="1"/>
          <p:nvPr/>
        </p:nvSpPr>
        <p:spPr>
          <a:xfrm>
            <a:off x="675175" y="2079925"/>
            <a:ext cx="10381708" cy="3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Агент – система, которая независимо выполняет задачи от имени пользователя </a:t>
            </a:r>
          </a:p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Ключевые особенности агентов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Используют большие языковые модели для управления потоком работ и принятия решений</a:t>
            </a: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Имеют доступ к внешним инструментам для взаимодействия с внешним миром: как для сбора дополнительных данных, так и для выполнения действий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EBCF35-02A1-8201-FC43-6A5E5B5436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10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1356375269f_0_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1356375269f_0_168"/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Почему ИИ популярен сейчас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0" name="Google Shape;270;g1356375269f_0_168"/>
          <p:cNvSpPr txBox="1"/>
          <p:nvPr/>
        </p:nvSpPr>
        <p:spPr>
          <a:xfrm>
            <a:off x="971049" y="1999200"/>
            <a:ext cx="9791543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Большие вычислительные мощности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Большие объемы данных для обучения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Совершенствование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алгоритмов (сверточные нейронные сети, архитектура «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Transformer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», большие языковые модели)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Удобные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интерфейсы взаимодействия с ИИ, доступные большинству людей</a:t>
            </a:r>
            <a:endParaRPr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E90CEC-6706-BEDA-1189-1D3597E2DD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07097a378_0_222"/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Тест Тьюринга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0" name="Google Shape;200;g1407097a378_0_222"/>
          <p:cNvSpPr txBox="1"/>
          <p:nvPr/>
        </p:nvSpPr>
        <p:spPr>
          <a:xfrm>
            <a:off x="717217" y="2805139"/>
            <a:ext cx="10560384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84400" marR="0" lvl="1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</a:pPr>
            <a:r>
              <a:rPr lang="ru-RU" sz="2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Пройден ли тест Тьюринга?</a:t>
            </a:r>
            <a:endParaRPr sz="2800"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2" name="Google Shape;202;g1407097a378_0_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B03BFA-9639-7555-53E6-E3EFEDE526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07097a378_0_418"/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Альтернативные тесты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7" name="Google Shape;227;g1407097a378_0_418"/>
          <p:cNvSpPr txBox="1"/>
          <p:nvPr/>
        </p:nvSpPr>
        <p:spPr>
          <a:xfrm>
            <a:off x="675174" y="2079925"/>
            <a:ext cx="9940273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Кофе тест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Машина заходит в дом и готовит кофе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Робот-студент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Робот поступает в университет, учится там и получает диплом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Тест на трудоустройство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Машина выполняет экономически полезную работу на уровне, сравнимом с человеком 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9" name="Google Shape;229;g1407097a378_0_4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D52BF7-1A56-F211-FD5E-A53A080411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1407097a378_0_2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1407097a378_0_239"/>
          <p:cNvSpPr txBox="1"/>
          <p:nvPr/>
        </p:nvSpPr>
        <p:spPr>
          <a:xfrm>
            <a:off x="1846174" y="722213"/>
            <a:ext cx="7791811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Эксперимент «Китайская комната»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2" name="Google Shape;212;g1407097a378_0_239"/>
          <p:cNvSpPr/>
          <p:nvPr/>
        </p:nvSpPr>
        <p:spPr>
          <a:xfrm>
            <a:off x="2198998" y="2484382"/>
            <a:ext cx="3110700" cy="238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g1407097a378_0_2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898" y="2989534"/>
            <a:ext cx="1181750" cy="11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1407097a378_0_239"/>
          <p:cNvSpPr txBox="1"/>
          <p:nvPr/>
        </p:nvSpPr>
        <p:spPr>
          <a:xfrm>
            <a:off x="3386923" y="4256782"/>
            <a:ext cx="177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Англоговорящий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человек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g1407097a378_0_2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1048" y="2983045"/>
            <a:ext cx="137160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07097a378_0_239"/>
          <p:cNvSpPr txBox="1"/>
          <p:nvPr/>
        </p:nvSpPr>
        <p:spPr>
          <a:xfrm>
            <a:off x="7201048" y="4171282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Китайцы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1407097a378_0_239"/>
          <p:cNvSpPr txBox="1"/>
          <p:nvPr/>
        </p:nvSpPr>
        <p:spPr>
          <a:xfrm>
            <a:off x="5880298" y="4288282"/>
            <a:ext cx="928500" cy="40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人工智能</a:t>
            </a:r>
            <a:endParaRPr/>
          </a:p>
        </p:txBody>
      </p:sp>
      <p:cxnSp>
        <p:nvCxnSpPr>
          <p:cNvPr id="218" name="Google Shape;218;g1407097a378_0_239"/>
          <p:cNvCxnSpPr/>
          <p:nvPr/>
        </p:nvCxnSpPr>
        <p:spPr>
          <a:xfrm rot="10800000">
            <a:off x="5615998" y="4049207"/>
            <a:ext cx="145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19" name="Google Shape;219;g1407097a378_0_239"/>
          <p:cNvSpPr txBox="1"/>
          <p:nvPr/>
        </p:nvSpPr>
        <p:spPr>
          <a:xfrm>
            <a:off x="2320648" y="2589332"/>
            <a:ext cx="1181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Руководствапо подготовке ответов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1407097a378_0_239"/>
          <p:cNvSpPr txBox="1"/>
          <p:nvPr/>
        </p:nvSpPr>
        <p:spPr>
          <a:xfrm>
            <a:off x="5590548" y="2947907"/>
            <a:ext cx="14871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你叫什么名字？</a:t>
            </a:r>
            <a:endParaRPr/>
          </a:p>
        </p:txBody>
      </p:sp>
      <p:cxnSp>
        <p:nvCxnSpPr>
          <p:cNvPr id="221" name="Google Shape;221;g1407097a378_0_239"/>
          <p:cNvCxnSpPr/>
          <p:nvPr/>
        </p:nvCxnSpPr>
        <p:spPr>
          <a:xfrm rot="10800000">
            <a:off x="5605548" y="3589282"/>
            <a:ext cx="14571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9D462E3-78F7-1071-8095-E46D5ED994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407097a378_0_332"/>
          <p:cNvSpPr txBox="1"/>
          <p:nvPr/>
        </p:nvSpPr>
        <p:spPr>
          <a:xfrm>
            <a:off x="1846175" y="722213"/>
            <a:ext cx="6390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Типы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6" name="Google Shape;236;g1407097a378_0_332"/>
          <p:cNvSpPr txBox="1"/>
          <p:nvPr/>
        </p:nvSpPr>
        <p:spPr>
          <a:xfrm>
            <a:off x="675174" y="2079925"/>
            <a:ext cx="9509349" cy="301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Сильный искусственный интеллект (</a:t>
            </a: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General AI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Обладает мышлением и самосознанием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Хорошо решает различные задачи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Слабый искусственный интеллект</a:t>
            </a: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(Narrow AI)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Эмулирует когнитивную функцию, но не понимает, что делает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Хорошо решает одну задачу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g1407097a378_0_3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096D55-DCC3-EDAF-CD49-3C69934B67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07097a378_0_340"/>
          <p:cNvSpPr txBox="1"/>
          <p:nvPr/>
        </p:nvSpPr>
        <p:spPr>
          <a:xfrm>
            <a:off x="1846175" y="604813"/>
            <a:ext cx="6390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Подходы к созданию искусственного интеллекта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5" name="Google Shape;245;g1407097a378_0_340"/>
          <p:cNvSpPr txBox="1"/>
          <p:nvPr/>
        </p:nvSpPr>
        <p:spPr>
          <a:xfrm>
            <a:off x="675174" y="2079925"/>
            <a:ext cx="10234563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Нисходящий (Top-Down AI)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Создание систем, имитирующих когнитивные функции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Не требуется, чтобы процесс функционирования соответствовал человеческому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Восходящий (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Bottom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-Up)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Моделирование когнитивных функций на основе биологических элементов и создание соответствующих вычислительных систем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g1407097a378_0_3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98FE5B-4196-0DAA-310E-A99BF713A8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07097a378_0_348"/>
          <p:cNvSpPr txBox="1"/>
          <p:nvPr/>
        </p:nvSpPr>
        <p:spPr>
          <a:xfrm>
            <a:off x="1846174" y="604813"/>
            <a:ext cx="8453963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Текущее состояние развития искусственного интеллекта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54" name="Google Shape;254;g1407097a378_0_348"/>
          <p:cNvSpPr txBox="1"/>
          <p:nvPr/>
        </p:nvSpPr>
        <p:spPr>
          <a:xfrm>
            <a:off x="469724" y="1962525"/>
            <a:ext cx="11007573" cy="301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5400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Слабый искусственный интеллект, построенный с помощью восходящего подхода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Инструмент: нейронные сети (аналогия с нейронами головного мозга)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Хорошо решается только одна задача (нейронная сеть для автоматического перевода не может водить автомобиль)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Действует в рамках обучения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Не понимает, что делает и почему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6" name="Google Shape;256;g1407097a378_0_3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905C2B-3A4C-0F85-4B38-445799A48D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07097a378_0_364"/>
          <p:cNvSpPr txBox="1"/>
          <p:nvPr/>
        </p:nvSpPr>
        <p:spPr>
          <a:xfrm>
            <a:off x="1846175" y="604813"/>
            <a:ext cx="6390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Слабый искусственный интеллект: языковая модель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64" name="Google Shape;264;g1407097a378_0_3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1407097a378_0_364"/>
          <p:cNvSpPr txBox="1"/>
          <p:nvPr/>
        </p:nvSpPr>
        <p:spPr>
          <a:xfrm>
            <a:off x="5309801" y="1922742"/>
            <a:ext cx="6799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Ограничения языковой модели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400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Нет понимания структуры предметной области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400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Недостаток фактических знаний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5FF44F-9578-4ECB-0638-CB3E0BE67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99" y="1922742"/>
            <a:ext cx="4715931" cy="430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C8E301-2CBF-68B3-D2BD-5BA6287084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07097a378_0_375"/>
          <p:cNvSpPr txBox="1"/>
          <p:nvPr/>
        </p:nvSpPr>
        <p:spPr>
          <a:xfrm>
            <a:off x="1846175" y="604813"/>
            <a:ext cx="6390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Слабый искусственный интеллект: состязательные атаки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75" name="Google Shape;275;g1407097a378_0_3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1407097a378_0_375"/>
          <p:cNvSpPr txBox="1"/>
          <p:nvPr/>
        </p:nvSpPr>
        <p:spPr>
          <a:xfrm>
            <a:off x="498925" y="5207450"/>
            <a:ext cx="10985152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Добавление небольшого шума к изображению полностью меняет результаты распознавания объектов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g1407097a378_0_3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727" y="2050724"/>
            <a:ext cx="6529188" cy="247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1407097a378_0_375"/>
          <p:cNvSpPr txBox="1"/>
          <p:nvPr/>
        </p:nvSpPr>
        <p:spPr>
          <a:xfrm>
            <a:off x="890275" y="4599000"/>
            <a:ext cx="674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https://openai.com/blog/adversarial-example-research/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7DBC43-9E34-60C7-9519-D2CA8F4D9A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07097a378_0_394"/>
          <p:cNvSpPr txBox="1"/>
          <p:nvPr/>
        </p:nvSpPr>
        <p:spPr>
          <a:xfrm>
            <a:off x="1846175" y="604813"/>
            <a:ext cx="6390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Слабый искусственный интеллект: автономная ловушка 101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86" name="Google Shape;286;g1407097a378_0_3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1407097a378_0_394"/>
          <p:cNvPicPr preferRelativeResize="0"/>
          <p:nvPr/>
        </p:nvPicPr>
        <p:blipFill rotWithShape="1">
          <a:blip r:embed="rId4">
            <a:alphaModFix/>
          </a:blip>
          <a:srcRect t="51126" r="34516"/>
          <a:stretch/>
        </p:blipFill>
        <p:spPr>
          <a:xfrm>
            <a:off x="1846175" y="1945263"/>
            <a:ext cx="5747572" cy="321721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1407097a378_0_394"/>
          <p:cNvSpPr txBox="1"/>
          <p:nvPr/>
        </p:nvSpPr>
        <p:spPr>
          <a:xfrm>
            <a:off x="1846175" y="5224200"/>
            <a:ext cx="552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https://jamesbridle.com/works/autonomous-trap-001</a:t>
            </a:r>
            <a:endParaRPr/>
          </a:p>
        </p:txBody>
      </p:sp>
      <p:sp>
        <p:nvSpPr>
          <p:cNvPr id="290" name="Google Shape;290;g1407097a378_0_394"/>
          <p:cNvSpPr txBox="1"/>
          <p:nvPr/>
        </p:nvSpPr>
        <p:spPr>
          <a:xfrm>
            <a:off x="574175" y="5741800"/>
            <a:ext cx="10064328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Самоуправляемый автомобиль не может пересекать сплошную линию разметки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7883FC-76CD-1B52-1EB7-E914DD01F4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03DBD051-B6F7-E093-D10A-B56836ED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07097a378_0_394">
            <a:extLst>
              <a:ext uri="{FF2B5EF4-FFF2-40B4-BE49-F238E27FC236}">
                <a16:creationId xmlns:a16="http://schemas.microsoft.com/office/drawing/2014/main" id="{A5401B1A-7090-67C5-36C1-95EA41D7BC3B}"/>
              </a:ext>
            </a:extLst>
          </p:cNvPr>
          <p:cNvSpPr txBox="1"/>
          <p:nvPr/>
        </p:nvSpPr>
        <p:spPr>
          <a:xfrm>
            <a:off x="1846175" y="604813"/>
            <a:ext cx="63903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AI Darwin Awards</a:t>
            </a:r>
          </a:p>
        </p:txBody>
      </p:sp>
      <p:pic>
        <p:nvPicPr>
          <p:cNvPr id="286" name="Google Shape;286;g1407097a378_0_394">
            <a:extLst>
              <a:ext uri="{FF2B5EF4-FFF2-40B4-BE49-F238E27FC236}">
                <a16:creationId xmlns:a16="http://schemas.microsoft.com/office/drawing/2014/main" id="{24EFBFB1-AEC0-1D29-58CA-70BC6452D2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A31B3E-4746-E28C-B2BF-F7D447078E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D7E6E8-DB58-F3FD-4B0E-421246355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261" y="1177158"/>
            <a:ext cx="9961226" cy="5181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6B730A-51A1-B555-F448-E15267CB9DCA}"/>
              </a:ext>
            </a:extLst>
          </p:cNvPr>
          <p:cNvSpPr txBox="1"/>
          <p:nvPr/>
        </p:nvSpPr>
        <p:spPr>
          <a:xfrm>
            <a:off x="1930" y="648866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https://aidarwinawards.org/nominees/replit.html</a:t>
            </a:r>
          </a:p>
        </p:txBody>
      </p:sp>
    </p:spTree>
    <p:extLst>
      <p:ext uri="{BB962C8B-B14F-4D97-AF65-F5344CB8AC3E}">
        <p14:creationId xmlns:p14="http://schemas.microsoft.com/office/powerpoint/2010/main" val="2667956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EFCF28B0-837F-C128-D50D-9EFA3102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07097a378_0_394">
            <a:extLst>
              <a:ext uri="{FF2B5EF4-FFF2-40B4-BE49-F238E27FC236}">
                <a16:creationId xmlns:a16="http://schemas.microsoft.com/office/drawing/2014/main" id="{2297A832-893C-1ADD-29B3-8684760AC2E1}"/>
              </a:ext>
            </a:extLst>
          </p:cNvPr>
          <p:cNvSpPr txBox="1"/>
          <p:nvPr/>
        </p:nvSpPr>
        <p:spPr>
          <a:xfrm>
            <a:off x="1846175" y="604813"/>
            <a:ext cx="63903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AI Darwin Awards</a:t>
            </a:r>
          </a:p>
        </p:txBody>
      </p:sp>
      <p:pic>
        <p:nvPicPr>
          <p:cNvPr id="286" name="Google Shape;286;g1407097a378_0_394">
            <a:extLst>
              <a:ext uri="{FF2B5EF4-FFF2-40B4-BE49-F238E27FC236}">
                <a16:creationId xmlns:a16="http://schemas.microsoft.com/office/drawing/2014/main" id="{09802E36-93C8-0E49-CC48-059619B667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3F336A-E5E2-CE64-6280-1C0122C1ED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D45489-05A4-4B6A-E8F4-597BF6DC167B}"/>
              </a:ext>
            </a:extLst>
          </p:cNvPr>
          <p:cNvSpPr txBox="1"/>
          <p:nvPr/>
        </p:nvSpPr>
        <p:spPr>
          <a:xfrm>
            <a:off x="1930" y="648866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https://aidarwinawards.org/nominees/replit.html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099120-BF56-EBFD-698A-CE830909E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59" y="4518948"/>
            <a:ext cx="10552052" cy="1702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EC3E02-9EF5-6D0B-9A90-04C167255B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115"/>
          <a:stretch>
            <a:fillRect/>
          </a:stretch>
        </p:blipFill>
        <p:spPr>
          <a:xfrm>
            <a:off x="801103" y="1650562"/>
            <a:ext cx="10745916" cy="278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44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407097a378_0_435"/>
          <p:cNvSpPr txBox="1"/>
          <p:nvPr/>
        </p:nvSpPr>
        <p:spPr>
          <a:xfrm>
            <a:off x="1846175" y="528613"/>
            <a:ext cx="6390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Свойства сильного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6" name="Google Shape;296;g1407097a378_0_435"/>
          <p:cNvSpPr txBox="1"/>
          <p:nvPr/>
        </p:nvSpPr>
        <p:spPr>
          <a:xfrm>
            <a:off x="381649" y="2079925"/>
            <a:ext cx="9939509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Принятие решений, использование стратегий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Действия в условиях неопределенности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Представление знаний, включая общие сведения о реальности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Планирование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Обучение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Общение на естественном языке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8" name="Google Shape;298;g1407097a378_0_4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24AB84-43CD-6012-1F0A-56DA9A4AE7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407097a378_0_427"/>
          <p:cNvSpPr txBox="1"/>
          <p:nvPr/>
        </p:nvSpPr>
        <p:spPr>
          <a:xfrm>
            <a:off x="1865750" y="461475"/>
            <a:ext cx="6714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Ограничения для создания сильного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5" name="Google Shape;305;g1407097a378_0_427"/>
          <p:cNvSpPr txBox="1"/>
          <p:nvPr/>
        </p:nvSpPr>
        <p:spPr>
          <a:xfrm>
            <a:off x="381649" y="2079925"/>
            <a:ext cx="10633191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Философские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Нет уверенности, что сильный искусственный интеллект возможен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Технические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Нет инструментов для создания сильного искусственного интеллекта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7" name="Google Shape;307;g1407097a378_0_4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5DFE20-62D2-6E15-519F-97D0E2029E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407097a378_0_464"/>
          <p:cNvSpPr txBox="1"/>
          <p:nvPr/>
        </p:nvSpPr>
        <p:spPr>
          <a:xfrm>
            <a:off x="1865750" y="461475"/>
            <a:ext cx="67143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Методы реализации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34" name="Google Shape;334;g1407097a378_0_464"/>
          <p:cNvSpPr txBox="1"/>
          <p:nvPr/>
        </p:nvSpPr>
        <p:spPr>
          <a:xfrm>
            <a:off x="381650" y="2079925"/>
            <a:ext cx="76797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Символьные вычисления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Логический подход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Агентно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-ориентированный подход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Представление и использование знаний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Машинное обучение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6" name="Google Shape;336;g1407097a378_0_4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340F1AF-3090-F697-9013-31A114BBEC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407097a378_0_473"/>
          <p:cNvSpPr txBox="1"/>
          <p:nvPr/>
        </p:nvSpPr>
        <p:spPr>
          <a:xfrm>
            <a:off x="1865750" y="722213"/>
            <a:ext cx="6714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Символьные вычисления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43" name="Google Shape;343;g1407097a378_0_473"/>
          <p:cNvSpPr txBox="1"/>
          <p:nvPr/>
        </p:nvSpPr>
        <p:spPr>
          <a:xfrm>
            <a:off x="381649" y="2079925"/>
            <a:ext cx="9627589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Символьные вычисления – обработка последовательностей символов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Преобразование математических выражений и формул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Язык 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Гипотеза Ньюэлла — Саймона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Физическая символьная система имеет необходимые и достаточные средства для произведения основных интеллектуальных операций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g1407097a378_0_4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EFC61BE-EEB5-57B9-EEB3-170D2CAB3E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07097a378_0_482"/>
          <p:cNvSpPr txBox="1"/>
          <p:nvPr/>
        </p:nvSpPr>
        <p:spPr>
          <a:xfrm>
            <a:off x="1865750" y="722213"/>
            <a:ext cx="6714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Символьные вычисления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2" name="Google Shape;352;g1407097a378_0_482"/>
          <p:cNvSpPr txBox="1"/>
          <p:nvPr/>
        </p:nvSpPr>
        <p:spPr>
          <a:xfrm>
            <a:off x="381649" y="2079925"/>
            <a:ext cx="11053605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Язык для символьных вычислений – LISP (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Processing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language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Специализированные вычислительные системы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LISP-машины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Универсальный решатель задач, 1959 г.: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Доказательство математических теорем, решение шахматных задач, головоломок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Первая система с разделением знаний о задаче и алгоритма поиска решения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4" name="Google Shape;354;g1407097a378_0_4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441C4E4-F143-35AB-01A6-BF1C61B5E3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407097a378_0_492"/>
          <p:cNvSpPr txBox="1"/>
          <p:nvPr/>
        </p:nvSpPr>
        <p:spPr>
          <a:xfrm>
            <a:off x="1865750" y="722213"/>
            <a:ext cx="6714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Логический подход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1" name="Google Shape;361;g1407097a378_0_492"/>
          <p:cNvSpPr txBox="1"/>
          <p:nvPr/>
        </p:nvSpPr>
        <p:spPr>
          <a:xfrm>
            <a:off x="381649" y="2079925"/>
            <a:ext cx="9886957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Развитие символьного подхода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Основывается на логике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Набор фактов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Правила логического вывода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Язык программирования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Prolog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Основан на логике предикатов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Декларативный язык программирования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Работа программы: установления истинности или ложности высказывания для набора фактов в базе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3" name="Google Shape;363;g1407097a378_0_4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6F77E1-E3BA-0F0B-2CE3-C51AC4AAA7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407097a378_0_500"/>
          <p:cNvSpPr txBox="1"/>
          <p:nvPr/>
        </p:nvSpPr>
        <p:spPr>
          <a:xfrm>
            <a:off x="1865750" y="722213"/>
            <a:ext cx="6714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Агентно-ориентированный подход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0" name="Google Shape;370;g1407097a378_0_500"/>
          <p:cNvSpPr txBox="1"/>
          <p:nvPr/>
        </p:nvSpPr>
        <p:spPr>
          <a:xfrm>
            <a:off x="3795358" y="2150327"/>
            <a:ext cx="7208973" cy="301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Интеллектуальный агент, действующий в среде 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Агент получает сигналы от внешней среды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Агент воздействует на среду с помощью исполнительных механизмов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Интеллект – способность достигать поставленных перед машиной целей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2" name="Google Shape;372;g1407097a378_0_5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g1407097a378_0_5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50" y="2321925"/>
            <a:ext cx="3341227" cy="2672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1407097a378_0_500"/>
          <p:cNvSpPr txBox="1"/>
          <p:nvPr/>
        </p:nvSpPr>
        <p:spPr>
          <a:xfrm>
            <a:off x="206250" y="5095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Источник: ru.wikipedia.org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ED4EA8-FCE6-B001-971B-8FAF08EC32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407097a378_0_548"/>
          <p:cNvSpPr txBox="1"/>
          <p:nvPr/>
        </p:nvSpPr>
        <p:spPr>
          <a:xfrm>
            <a:off x="1865750" y="722213"/>
            <a:ext cx="6714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Инженерия знаний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g1407097a378_0_548"/>
          <p:cNvSpPr txBox="1"/>
          <p:nvPr/>
        </p:nvSpPr>
        <p:spPr>
          <a:xfrm>
            <a:off x="376375" y="1650550"/>
            <a:ext cx="10880204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База знаний – база данных, которая содержит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Данные о некоторой предметной области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Правила вывода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Онтология (граф знаний) – популярный способ представления знаний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Набор понятий и связей между ними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3" name="Google Shape;383;g1407097a378_0_5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1407097a378_0_548"/>
          <p:cNvSpPr/>
          <p:nvPr/>
        </p:nvSpPr>
        <p:spPr>
          <a:xfrm>
            <a:off x="3596609" y="4512952"/>
            <a:ext cx="1085700" cy="989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Кот</a:t>
            </a:r>
            <a:endParaRPr/>
          </a:p>
        </p:txBody>
      </p:sp>
      <p:sp>
        <p:nvSpPr>
          <p:cNvPr id="386" name="Google Shape;386;g1407097a378_0_548"/>
          <p:cNvSpPr/>
          <p:nvPr/>
        </p:nvSpPr>
        <p:spPr>
          <a:xfrm>
            <a:off x="6275059" y="4512952"/>
            <a:ext cx="1085700" cy="989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Окно</a:t>
            </a:r>
            <a:endParaRPr/>
          </a:p>
        </p:txBody>
      </p:sp>
      <p:cxnSp>
        <p:nvCxnSpPr>
          <p:cNvPr id="387" name="Google Shape;387;g1407097a378_0_548"/>
          <p:cNvCxnSpPr>
            <a:stCxn id="385" idx="6"/>
            <a:endCxn id="386" idx="2"/>
          </p:cNvCxnSpPr>
          <p:nvPr/>
        </p:nvCxnSpPr>
        <p:spPr>
          <a:xfrm>
            <a:off x="4682309" y="5007502"/>
            <a:ext cx="159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8" name="Google Shape;388;g1407097a378_0_548"/>
          <p:cNvSpPr txBox="1"/>
          <p:nvPr/>
        </p:nvSpPr>
        <p:spPr>
          <a:xfrm>
            <a:off x="4682309" y="4512952"/>
            <a:ext cx="159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Сидит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1F11CC-0B75-0DD6-32BB-C8445DB72E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1407097a378_0_5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1407097a378_0_560"/>
          <p:cNvSpPr txBox="1"/>
          <p:nvPr/>
        </p:nvSpPr>
        <p:spPr>
          <a:xfrm>
            <a:off x="1833925" y="650725"/>
            <a:ext cx="6873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Машинное обучение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g1407097a378_0_560"/>
          <p:cNvSpPr txBox="1">
            <a:spLocks noGrp="1"/>
          </p:cNvSpPr>
          <p:nvPr>
            <p:ph type="subTitle" idx="1"/>
          </p:nvPr>
        </p:nvSpPr>
        <p:spPr>
          <a:xfrm>
            <a:off x="1124250" y="4902100"/>
            <a:ext cx="2339700" cy="1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Артур Сэмюэл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(1901 - 1990)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g1407097a378_0_560"/>
          <p:cNvSpPr txBox="1"/>
          <p:nvPr/>
        </p:nvSpPr>
        <p:spPr>
          <a:xfrm>
            <a:off x="3890274" y="1953775"/>
            <a:ext cx="5915877" cy="332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«</a:t>
            </a:r>
            <a:r>
              <a:rPr lang="ru-RU" sz="2500" dirty="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Машинное обучение – область знаний, которая дает возможность компьютерам обучаться без необходимости непосредственного программирования</a:t>
            </a: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»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1959</a:t>
            </a:r>
            <a:endParaRPr sz="3000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g1407097a378_0_5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4900" y="1847587"/>
            <a:ext cx="20574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1407097a378_0_560"/>
          <p:cNvSpPr txBox="1"/>
          <p:nvPr/>
        </p:nvSpPr>
        <p:spPr>
          <a:xfrm>
            <a:off x="974900" y="4375700"/>
            <a:ext cx="205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-RU" sz="13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2BC203-BE24-74CB-CA58-845005D817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407097a378_0_512"/>
          <p:cNvSpPr txBox="1"/>
          <p:nvPr/>
        </p:nvSpPr>
        <p:spPr>
          <a:xfrm>
            <a:off x="1865750" y="722213"/>
            <a:ext cx="6714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Машинное обучение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07" name="Google Shape;407;g1407097a378_0_5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1407097a378_0_5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164" y="3789594"/>
            <a:ext cx="13716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1407097a378_0_5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7702" y="3855282"/>
            <a:ext cx="1242025" cy="12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1407097a378_0_512"/>
          <p:cNvSpPr txBox="1"/>
          <p:nvPr/>
        </p:nvSpPr>
        <p:spPr>
          <a:xfrm>
            <a:off x="6835164" y="5111356"/>
            <a:ext cx="1487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Входные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412" name="Google Shape;412;g1407097a378_0_512"/>
          <p:cNvSpPr txBox="1"/>
          <p:nvPr/>
        </p:nvSpPr>
        <p:spPr>
          <a:xfrm>
            <a:off x="3160664" y="5180256"/>
            <a:ext cx="26706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Ожидаемые выходные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413" name="Google Shape;413;g1407097a378_0_512"/>
          <p:cNvSpPr txBox="1"/>
          <p:nvPr/>
        </p:nvSpPr>
        <p:spPr>
          <a:xfrm>
            <a:off x="3582114" y="2447456"/>
            <a:ext cx="48051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30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у = f(x)</a:t>
            </a:r>
            <a:endParaRPr sz="4200"/>
          </a:p>
        </p:txBody>
      </p:sp>
      <p:cxnSp>
        <p:nvCxnSpPr>
          <p:cNvPr id="414" name="Google Shape;414;g1407097a378_0_512"/>
          <p:cNvCxnSpPr/>
          <p:nvPr/>
        </p:nvCxnSpPr>
        <p:spPr>
          <a:xfrm rot="10800000" flipH="1">
            <a:off x="4839914" y="3405456"/>
            <a:ext cx="182700" cy="354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5" name="Google Shape;415;g1407097a378_0_512"/>
          <p:cNvCxnSpPr/>
          <p:nvPr/>
        </p:nvCxnSpPr>
        <p:spPr>
          <a:xfrm rot="10800000">
            <a:off x="6613464" y="3372957"/>
            <a:ext cx="739500" cy="58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5648A9-D31B-5BEB-F213-CA677CFD0E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407097a378_0_522"/>
          <p:cNvSpPr txBox="1"/>
          <p:nvPr/>
        </p:nvSpPr>
        <p:spPr>
          <a:xfrm>
            <a:off x="1887225" y="419800"/>
            <a:ext cx="67143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20"/>
              <a:buFont typeface="Raleway"/>
              <a:buNone/>
            </a:pPr>
            <a:r>
              <a:rPr lang="ru-RU" sz="300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Методы реализации искусственного интеллекта</a:t>
            </a:r>
            <a:endParaRPr sz="3000" b="0" i="0" u="none" strike="noStrike" cap="none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21" name="Google Shape;421;g1407097a378_0_522"/>
          <p:cNvSpPr txBox="1"/>
          <p:nvPr/>
        </p:nvSpPr>
        <p:spPr>
          <a:xfrm>
            <a:off x="387125" y="1865525"/>
            <a:ext cx="1097455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Наиболее популярный метод реализации искусственного интеллекта – машинное обучение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Востребованное направление – объединение методов машинного обучения и инженерии знаний: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■"/>
            </a:pP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Графовые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базы данных для расширения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контек</a:t>
            </a: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та больших языковых моделей </a:t>
            </a: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технология </a:t>
            </a: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Retrieval Augmented Generation)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9999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Машинное обучение с подкреплением использует </a:t>
            </a:r>
            <a:r>
              <a:rPr lang="ru-RU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агентный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подход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3" name="Google Shape;423;g1407097a378_0_5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60" y="181763"/>
            <a:ext cx="1487001" cy="146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C6DA06-8FD8-54EB-BEC4-E453F44B77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Жизненный цикл проектов ИИ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BD238C-E22F-E53E-2180-76BD74E68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19" y="1489165"/>
            <a:ext cx="8508319" cy="4593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9CA84-C600-7D06-F0BA-2139FB5B82C7}"/>
              </a:ext>
            </a:extLst>
          </p:cNvPr>
          <p:cNvSpPr txBox="1"/>
          <p:nvPr/>
        </p:nvSpPr>
        <p:spPr>
          <a:xfrm>
            <a:off x="410966" y="6454278"/>
            <a:ext cx="9234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https://www.coursera.org/specializations/machine-learning-engineering-for-production-mlops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21AECC-5F28-6367-F115-34CFB3FAEA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164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492625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Жизненный цикл проектов ИИ</a:t>
            </a:r>
            <a:endParaRPr lang="ru-RU"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" name="Google Shape;131;g13e6e8c9f0c_0_28">
            <a:extLst>
              <a:ext uri="{FF2B5EF4-FFF2-40B4-BE49-F238E27FC236}">
                <a16:creationId xmlns:a16="http://schemas.microsoft.com/office/drawing/2014/main" id="{196D3F7B-9FEE-D8EB-3382-3ADA1771E200}"/>
              </a:ext>
            </a:extLst>
          </p:cNvPr>
          <p:cNvSpPr txBox="1"/>
          <p:nvPr/>
        </p:nvSpPr>
        <p:spPr>
          <a:xfrm>
            <a:off x="697506" y="1416893"/>
            <a:ext cx="11302709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Что именно создаем</a:t>
            </a:r>
            <a:r>
              <a:rPr lang="en-US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Система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машинного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перевода.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Архитектурные требования. 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Мобильное приложение,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Web-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приложение,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ru-RU"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Содержательные требования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Перевод с р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усского на китайский и обратно.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Требования к качеству.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Метрика </a:t>
            </a:r>
            <a:r>
              <a:rPr lang="en-US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BLEU (bilingual evaluation understudy), 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желаемые значения 50 до 60, </a:t>
            </a:r>
            <a:r>
              <a:rPr lang="ru-RU" sz="2000" i="0" u="none" strike="noStrike" cap="none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fluent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 i="0" u="none" strike="noStrike" cap="none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translation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https://cloud.google.com/translate/automl/docs/evaluate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Подготовка данных</a:t>
            </a:r>
            <a:endParaRPr lang="ru-RU" sz="2000" b="1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Формирование набора данных.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Создавать самим или использовать готовые.</a:t>
            </a:r>
            <a:endParaRPr lang="ru-RU" sz="2000" b="1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Разметка набора данных. 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Два предложения, на русском и на китайском языке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D0FF84-65A5-8405-572B-C4AA57C94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26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492625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Жизненный цикл проектов ИИ</a:t>
            </a:r>
            <a:endParaRPr lang="ru-RU"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" name="Google Shape;131;g13e6e8c9f0c_0_28">
            <a:extLst>
              <a:ext uri="{FF2B5EF4-FFF2-40B4-BE49-F238E27FC236}">
                <a16:creationId xmlns:a16="http://schemas.microsoft.com/office/drawing/2014/main" id="{196D3F7B-9FEE-D8EB-3382-3ADA1771E200}"/>
              </a:ext>
            </a:extLst>
          </p:cNvPr>
          <p:cNvSpPr txBox="1"/>
          <p:nvPr/>
        </p:nvSpPr>
        <p:spPr>
          <a:xfrm>
            <a:off x="697506" y="1416893"/>
            <a:ext cx="11302709" cy="523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Обучение модели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Выбор типа модели. 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Алгоритм машинного обучения, классический или нейронная сеть.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Обучение модели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Используется подготовленный набор данных. </a:t>
            </a:r>
            <a:endParaRPr lang="ru-RU" sz="2000" b="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Оценка качества работы обученной модели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Какое значение метрики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BLEU 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получилось. </a:t>
            </a:r>
            <a:endParaRPr lang="ru-RU"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Пример. 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Для системы автоматического перевода выбираем нейронную сеть архитектуры </a:t>
            </a: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T5</a:t>
            </a:r>
            <a:r>
              <a:rPr lang="en-US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2000" i="0" u="none" strike="noStrike" cap="none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дообучаем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ее на подготовленном наборе данных с русскими и китайскими предложениями. Рассчитываем метрику </a:t>
            </a:r>
            <a:r>
              <a:rPr lang="en-US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BLEU</a:t>
            </a:r>
            <a:endParaRPr lang="ru-RU" sz="200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ru-RU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Развертывание модели</a:t>
            </a:r>
            <a:endParaRPr lang="ru-RU" sz="2000" b="1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Создание приложения на основе модели.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Мобильное приложение для автоматического перевода.</a:t>
            </a:r>
            <a:endParaRPr lang="ru-RU" sz="2000" b="1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Оценка качества на данных от пользователей</a:t>
            </a:r>
            <a:r>
              <a:rPr lang="ru-RU" sz="2000" b="1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2000" b="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Оценка качества перевода текстов от пользователей.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E569FF-20E7-5D0E-1774-62321B7C3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6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Жизненный цикл проектов ИИ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BD238C-E22F-E53E-2180-76BD74E68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19" y="1489165"/>
            <a:ext cx="8508319" cy="4593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9CA84-C600-7D06-F0BA-2139FB5B82C7}"/>
              </a:ext>
            </a:extLst>
          </p:cNvPr>
          <p:cNvSpPr txBox="1"/>
          <p:nvPr/>
        </p:nvSpPr>
        <p:spPr>
          <a:xfrm>
            <a:off x="410966" y="6454278"/>
            <a:ext cx="9234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https://www.coursera.org/specializations/machine-learning-engineering-for-production-mlops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8489BC-2403-91D4-450E-7E4622676C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8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390418" y="414499"/>
            <a:ext cx="876385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Качество работы модели снижается со временем</a:t>
            </a:r>
          </a:p>
        </p:txBody>
      </p:sp>
      <p:sp>
        <p:nvSpPr>
          <p:cNvPr id="2" name="Google Shape;131;g13e6e8c9f0c_0_28">
            <a:extLst>
              <a:ext uri="{FF2B5EF4-FFF2-40B4-BE49-F238E27FC236}">
                <a16:creationId xmlns:a16="http://schemas.microsoft.com/office/drawing/2014/main" id="{196D3F7B-9FEE-D8EB-3382-3ADA1771E200}"/>
              </a:ext>
            </a:extLst>
          </p:cNvPr>
          <p:cNvSpPr txBox="1"/>
          <p:nvPr/>
        </p:nvSpPr>
        <p:spPr>
          <a:xfrm>
            <a:off x="697506" y="1416893"/>
            <a:ext cx="11302709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en-US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Shift</a:t>
            </a:r>
            <a:endParaRPr lang="ru-RU" sz="200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Данные от пользователей отличаются от данных, использованных при обучении.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Пример: модель автоматического перевода обучалась на литературных текстах, а ее применяют для перевода текстов из </a:t>
            </a:r>
            <a:r>
              <a:rPr lang="ru-RU" sz="2000" i="0" u="none" strike="noStrike" cap="none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соц.сетей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(или из </a:t>
            </a:r>
            <a:r>
              <a:rPr lang="en-US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TikTok</a:t>
            </a: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○"/>
            </a:pPr>
            <a:r>
              <a:rPr lang="en-US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Concept Shift</a:t>
            </a:r>
            <a:endParaRPr lang="ru-RU" sz="2000" i="0" u="none" strike="noStrike" cap="none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Поведение пользователей </a:t>
            </a:r>
            <a:r>
              <a:rPr lang="ru-RU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изменилось со времени обучения модели.</a:t>
            </a:r>
          </a:p>
          <a:p>
            <a:pPr marL="914400" marR="0" lvl="1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-"/>
            </a:pPr>
            <a:r>
              <a:rPr lang="ru-RU" sz="2000" i="0" u="none" strike="noStrike" cap="none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Пример: эпидемия коронавируса.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0E7DCB-0157-279C-5194-5C03E957F4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9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000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Cross-Industry Standard Process for Data Mining</a:t>
            </a:r>
            <a:endParaRPr sz="30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C47A6C-EBD9-2B4B-6E88-312B89C8C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181" y="1119260"/>
            <a:ext cx="5163638" cy="517372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5AD922-1F9C-DF47-B764-B6FB3B1C71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04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CRISP-DM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2E0DD-C461-47FD-A83F-389E8875E70F}"/>
              </a:ext>
            </a:extLst>
          </p:cNvPr>
          <p:cNvSpPr txBox="1">
            <a:spLocks/>
          </p:cNvSpPr>
          <p:nvPr/>
        </p:nvSpPr>
        <p:spPr>
          <a:xfrm>
            <a:off x="273978" y="1123716"/>
            <a:ext cx="5993258" cy="5734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Понимание бизнеса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Определить бизнес-цели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Оценить ситуацию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Определить цели анализа данных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Составить план проекта</a:t>
            </a:r>
          </a:p>
          <a:p>
            <a:pPr marL="0" indent="0"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Понимание данных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Собрать исходные данные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Описать данные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Исследовать данные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Проверить качество данных</a:t>
            </a:r>
          </a:p>
          <a:p>
            <a:pPr marL="0" indent="0"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Моделирование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Выбрать методику моделирования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Сделать тесты для модели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Построить модель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Оценить модель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23BC27-9596-6DD5-9FB3-9D143EA2E0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15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e6e8c9f0c_0_14"/>
          <p:cNvSpPr txBox="1"/>
          <p:nvPr/>
        </p:nvSpPr>
        <p:spPr>
          <a:xfrm>
            <a:off x="410966" y="362834"/>
            <a:ext cx="876385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CRISP-DM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2E0DD-C461-47FD-A83F-389E8875E70F}"/>
              </a:ext>
            </a:extLst>
          </p:cNvPr>
          <p:cNvSpPr txBox="1">
            <a:spLocks/>
          </p:cNvSpPr>
          <p:nvPr/>
        </p:nvSpPr>
        <p:spPr>
          <a:xfrm>
            <a:off x="273978" y="1123716"/>
            <a:ext cx="5993258" cy="57342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Понимание бизнеса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Определить бизнес-цели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Оценить ситуацию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Определить цели анализа данных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Составить план проекта</a:t>
            </a:r>
          </a:p>
          <a:p>
            <a:pPr marL="0" indent="0"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Понимание данных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Собрать исходные данные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Описать данные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Исследовать данные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Проверить качество данных</a:t>
            </a:r>
          </a:p>
          <a:p>
            <a:pPr marL="0" indent="0"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Моделирование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Выбрать методику моделирования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Сделать тесты для модели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Построить модель</a:t>
            </a:r>
          </a:p>
          <a:p>
            <a:pPr marL="541338" lvl="1" indent="-214313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Оценить модель</a:t>
            </a:r>
          </a:p>
          <a:p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9E2D00C-6057-71D5-39D4-FC28508B815C}"/>
              </a:ext>
            </a:extLst>
          </p:cNvPr>
          <p:cNvSpPr txBox="1">
            <a:spLocks/>
          </p:cNvSpPr>
          <p:nvPr/>
        </p:nvSpPr>
        <p:spPr>
          <a:xfrm>
            <a:off x="6096000" y="1063551"/>
            <a:ext cx="5822022" cy="5459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Оценка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Оценить результаты и их влияние на бизнес-цели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Сделать обзор процесса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Определить следующие шаги</a:t>
            </a:r>
          </a:p>
          <a:p>
            <a:pPr marL="0" indent="0">
              <a:buNone/>
            </a:pPr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Развертывание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Запланировать развертывание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Запланировать поддержку и мониторинг развернутого решения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Сделать обзор процесса</a:t>
            </a:r>
          </a:p>
          <a:p>
            <a:pPr marL="541338" lvl="1" indent="-214313"/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Подготовить финальный отчет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AD36EE-A21F-BA87-016D-B5D5F80C1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795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f95e48034_5_0"/>
          <p:cNvSpPr txBox="1"/>
          <p:nvPr/>
        </p:nvSpPr>
        <p:spPr>
          <a:xfrm>
            <a:off x="71918" y="3135073"/>
            <a:ext cx="12120081" cy="69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 b="0" i="0" u="none" strike="noStrike" cap="none" dirty="0">
                <a:solidFill>
                  <a:srgbClr val="79C0E2"/>
                </a:solidFill>
                <a:latin typeface="Roboto Medium"/>
                <a:ea typeface="Roboto Medium"/>
                <a:cs typeface="Roboto Medium"/>
                <a:sym typeface="Roboto Medium"/>
              </a:rPr>
              <a:t>Вопросы?</a:t>
            </a:r>
            <a:endParaRPr sz="5400" b="0" i="0" u="none" strike="noStrike" cap="none" dirty="0">
              <a:solidFill>
                <a:srgbClr val="79C0E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903F21-183B-8AC4-936A-DC309B9DB4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61" y="176199"/>
            <a:ext cx="917722" cy="434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1721</Words>
  <Application>Microsoft Office PowerPoint</Application>
  <PresentationFormat>Широкоэкранный</PresentationFormat>
  <Paragraphs>306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2" baseType="lpstr">
      <vt:lpstr>Roboto Medium</vt:lpstr>
      <vt:lpstr>Calibri</vt:lpstr>
      <vt:lpstr>Raleway</vt:lpstr>
      <vt:lpstr>Roboto Light</vt:lpstr>
      <vt:lpstr>Arial</vt:lpstr>
      <vt:lpstr>Roboto</vt:lpstr>
      <vt:lpstr>Montserrat</vt:lpstr>
      <vt:lpstr>Тема Office</vt:lpstr>
      <vt:lpstr>АНАЛИЗ ДАННЫХ И ИСКУССТВЕННЫЙ ИНТЕЛЛЕКТ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ИСКУССТВЕННЫЙ ИНТЕЛЛЕКТ И МАШИННОЕ ОБУЧЕНИЕ</dc:title>
  <dc:creator>User</dc:creator>
  <cp:lastModifiedBy>Андрей Созыкин</cp:lastModifiedBy>
  <cp:revision>62</cp:revision>
  <dcterms:created xsi:type="dcterms:W3CDTF">2022-06-09T07:43:07Z</dcterms:created>
  <dcterms:modified xsi:type="dcterms:W3CDTF">2025-11-07T09:44:18Z</dcterms:modified>
</cp:coreProperties>
</file>