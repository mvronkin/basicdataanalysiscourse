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1" r:id="rId1"/>
  </p:sldMasterIdLst>
  <p:notesMasterIdLst>
    <p:notesMasterId r:id="rId8"/>
  </p:notesMasterIdLst>
  <p:sldIdLst>
    <p:sldId id="257" r:id="rId2"/>
    <p:sldId id="393" r:id="rId3"/>
    <p:sldId id="258" r:id="rId4"/>
    <p:sldId id="396" r:id="rId5"/>
    <p:sldId id="395" r:id="rId6"/>
    <p:sldId id="394" r:id="rId7"/>
  </p:sldIdLst>
  <p:sldSz cx="9144000" cy="5143500" type="screen16x9"/>
  <p:notesSz cx="6858000" cy="9144000"/>
  <p:embeddedFontLst>
    <p:embeddedFont>
      <p:font typeface="Montserrat Medium" panose="00000600000000000000" pitchFamily="2" charset="-52"/>
      <p:regular r:id="rId9"/>
      <p:bold r:id="rId10"/>
      <p:italic r:id="rId11"/>
      <p:boldItalic r:id="rId12"/>
    </p:embeddedFon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Montserrat ExtraBold" panose="00000900000000000000" pitchFamily="2" charset="-52"/>
      <p:bold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Оля Шпилёва" initials="" lastIdx="9" clrIdx="0"/>
  <p:cmAuthor id="1" name="Андрей Созыкин" initials="АС" lastIdx="1" clrIdx="1">
    <p:extLst>
      <p:ext uri="{19B8F6BF-5375-455C-9EA6-DF929625EA0E}">
        <p15:presenceInfo xmlns:p15="http://schemas.microsoft.com/office/powerpoint/2012/main" userId="26c361895a5d0c07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198" y="10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23" Type="http://schemas.openxmlformats.org/officeDocument/2006/relationships/tableStyles" Target="tableStyles.xml"/><Relationship Id="rId10" Type="http://schemas.openxmlformats.org/officeDocument/2006/relationships/font" Target="fonts/font2.fntdata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5a0296b8ef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4" name="Google Shape;74;g25a0296b8ef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9A4E394F-F59A-895B-8DC6-29715166D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5a0296b8ef_0_231:notes">
            <a:extLst>
              <a:ext uri="{FF2B5EF4-FFF2-40B4-BE49-F238E27FC236}">
                <a16:creationId xmlns:a16="http://schemas.microsoft.com/office/drawing/2014/main" id="{DCC3A86D-CAE6-496F-0946-711881F152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5" name="Google Shape;95;g25a0296b8ef_0_231:notes">
            <a:extLst>
              <a:ext uri="{FF2B5EF4-FFF2-40B4-BE49-F238E27FC236}">
                <a16:creationId xmlns:a16="http://schemas.microsoft.com/office/drawing/2014/main" id="{D29EB56C-C7BA-D009-34FA-7E1D93A111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287359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5a0296b8ef_0_2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4" name="Google Shape;84;g25a0296b8ef_0_2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31DCB9E2-BEAA-5AC6-7F4B-4C2557B20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5a0296b8ef_0_231:notes">
            <a:extLst>
              <a:ext uri="{FF2B5EF4-FFF2-40B4-BE49-F238E27FC236}">
                <a16:creationId xmlns:a16="http://schemas.microsoft.com/office/drawing/2014/main" id="{F1EACAF7-E44A-B89E-FF57-200001D386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5" name="Google Shape;95;g25a0296b8ef_0_231:notes">
            <a:extLst>
              <a:ext uri="{FF2B5EF4-FFF2-40B4-BE49-F238E27FC236}">
                <a16:creationId xmlns:a16="http://schemas.microsoft.com/office/drawing/2014/main" id="{2276D9EF-9F1B-B1D3-0F57-0BC97831A7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7634016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D27B9971-3AB3-92B2-5CC1-DC9DA351B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5a0296b8ef_0_231:notes">
            <a:extLst>
              <a:ext uri="{FF2B5EF4-FFF2-40B4-BE49-F238E27FC236}">
                <a16:creationId xmlns:a16="http://schemas.microsoft.com/office/drawing/2014/main" id="{4262905D-6B37-36C2-B767-2D02310580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5" name="Google Shape;95;g25a0296b8ef_0_231:notes">
            <a:extLst>
              <a:ext uri="{FF2B5EF4-FFF2-40B4-BE49-F238E27FC236}">
                <a16:creationId xmlns:a16="http://schemas.microsoft.com/office/drawing/2014/main" id="{2732D118-79E8-3515-9DB2-E4D8BE22B5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783167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5F7D86C1-FA5D-9C1E-DD88-A92179102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5a0296b8ef_0_231:notes">
            <a:extLst>
              <a:ext uri="{FF2B5EF4-FFF2-40B4-BE49-F238E27FC236}">
                <a16:creationId xmlns:a16="http://schemas.microsoft.com/office/drawing/2014/main" id="{185A88C3-B665-5208-1681-3AFAFB1142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5" name="Google Shape;95;g25a0296b8ef_0_231:notes">
            <a:extLst>
              <a:ext uri="{FF2B5EF4-FFF2-40B4-BE49-F238E27FC236}">
                <a16:creationId xmlns:a16="http://schemas.microsoft.com/office/drawing/2014/main" id="{6765D7DB-665F-4C8A-D114-6B3B265682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878373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_HEADER_1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722313" y="3305176"/>
            <a:ext cx="7772400" cy="10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722313" y="2180035"/>
            <a:ext cx="7772400" cy="11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9BAC"/>
        </a:solidFill>
        <a:effectLst/>
      </p:bgPr>
    </p:bg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/>
          <p:cNvPicPr preferRelativeResize="0"/>
          <p:nvPr/>
        </p:nvPicPr>
        <p:blipFill rotWithShape="1">
          <a:blip r:embed="rId3">
            <a:alphaModFix amt="6000"/>
          </a:blip>
          <a:srcRect b="15604"/>
          <a:stretch/>
        </p:blipFill>
        <p:spPr>
          <a:xfrm>
            <a:off x="0" y="25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6"/>
          <p:cNvSpPr txBox="1"/>
          <p:nvPr/>
        </p:nvSpPr>
        <p:spPr>
          <a:xfrm>
            <a:off x="540000" y="2080538"/>
            <a:ext cx="82221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ru" sz="4000" dirty="0" smtClean="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Введение</a:t>
            </a:r>
            <a:endParaRPr sz="4000" dirty="0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AFE60B54-ECBB-923E-8211-89778B09B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>
            <a:extLst>
              <a:ext uri="{FF2B5EF4-FFF2-40B4-BE49-F238E27FC236}">
                <a16:creationId xmlns:a16="http://schemas.microsoft.com/office/drawing/2014/main" id="{3ED1E0FA-68FC-9DF4-240E-99FF47514AB1}"/>
              </a:ext>
            </a:extLst>
          </p:cNvPr>
          <p:cNvSpPr txBox="1"/>
          <p:nvPr/>
        </p:nvSpPr>
        <p:spPr>
          <a:xfrm>
            <a:off x="539999" y="2096738"/>
            <a:ext cx="8119091" cy="694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14300" lvl="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</a:pPr>
            <a:r>
              <a:rPr lang="ru-RU" sz="3200" b="1" dirty="0">
                <a:solidFill>
                  <a:schemeClr val="tx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Что такое нейронные сети?</a:t>
            </a:r>
          </a:p>
        </p:txBody>
      </p:sp>
      <p:sp>
        <p:nvSpPr>
          <p:cNvPr id="2" name="Google Shape;88;p17">
            <a:extLst>
              <a:ext uri="{FF2B5EF4-FFF2-40B4-BE49-F238E27FC236}">
                <a16:creationId xmlns:a16="http://schemas.microsoft.com/office/drawing/2014/main" id="{BC4EA372-FB5F-8CE9-C255-A8AF6E4CE4BF}"/>
              </a:ext>
            </a:extLst>
          </p:cNvPr>
          <p:cNvSpPr txBox="1"/>
          <p:nvPr/>
        </p:nvSpPr>
        <p:spPr>
          <a:xfrm>
            <a:off x="539999" y="360000"/>
            <a:ext cx="8469321" cy="36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" sz="260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Нейронные сети</a:t>
            </a:r>
            <a:endParaRPr sz="2600" b="0" i="0" u="none" strike="noStrike" cap="none" dirty="0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25615114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/>
        </p:nvSpPr>
        <p:spPr>
          <a:xfrm>
            <a:off x="539999" y="360000"/>
            <a:ext cx="8469321" cy="36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-RU" sz="260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Нейронные сети</a:t>
            </a:r>
            <a:endParaRPr sz="2600" b="0" i="0" u="none" strike="noStrike" cap="none" dirty="0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E4BF5E5B-C931-8884-4B71-88CDE1FD4C59}"/>
              </a:ext>
            </a:extLst>
          </p:cNvPr>
          <p:cNvGrpSpPr/>
          <p:nvPr/>
        </p:nvGrpSpPr>
        <p:grpSpPr>
          <a:xfrm>
            <a:off x="559677" y="874987"/>
            <a:ext cx="8177046" cy="4130564"/>
            <a:chOff x="559677" y="874987"/>
            <a:chExt cx="8177046" cy="4130564"/>
          </a:xfrm>
        </p:grpSpPr>
        <p:sp>
          <p:nvSpPr>
            <p:cNvPr id="9" name="Овал 8">
              <a:extLst>
                <a:ext uri="{FF2B5EF4-FFF2-40B4-BE49-F238E27FC236}">
                  <a16:creationId xmlns:a16="http://schemas.microsoft.com/office/drawing/2014/main" id="{3453E5AE-F295-6704-9EE4-0E3CAB863C7A}"/>
                </a:ext>
              </a:extLst>
            </p:cNvPr>
            <p:cNvSpPr/>
            <p:nvPr/>
          </p:nvSpPr>
          <p:spPr>
            <a:xfrm>
              <a:off x="559677" y="874987"/>
              <a:ext cx="8177046" cy="4130564"/>
            </a:xfrm>
            <a:prstGeom prst="ellipse">
              <a:avLst/>
            </a:prstGeom>
            <a:solidFill>
              <a:srgbClr val="92D050"/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Овал 6">
              <a:extLst>
                <a:ext uri="{FF2B5EF4-FFF2-40B4-BE49-F238E27FC236}">
                  <a16:creationId xmlns:a16="http://schemas.microsoft.com/office/drawing/2014/main" id="{25498C15-43FB-1A97-CFC3-BCEBCF991C4C}"/>
                </a:ext>
              </a:extLst>
            </p:cNvPr>
            <p:cNvSpPr/>
            <p:nvPr/>
          </p:nvSpPr>
          <p:spPr>
            <a:xfrm>
              <a:off x="3728545" y="1284889"/>
              <a:ext cx="4855778" cy="3317307"/>
            </a:xfrm>
            <a:prstGeom prst="ellipse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Овал 5">
              <a:extLst>
                <a:ext uri="{FF2B5EF4-FFF2-40B4-BE49-F238E27FC236}">
                  <a16:creationId xmlns:a16="http://schemas.microsoft.com/office/drawing/2014/main" id="{BFBBEB4F-0816-3FF9-0516-0677C787F57B}"/>
                </a:ext>
              </a:extLst>
            </p:cNvPr>
            <p:cNvSpPr/>
            <p:nvPr/>
          </p:nvSpPr>
          <p:spPr>
            <a:xfrm>
              <a:off x="5943602" y="1883310"/>
              <a:ext cx="2254468" cy="212046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000" dirty="0"/>
                <a:t>Нейронные сети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3D8BFFF-1434-CC0E-4486-99ED3C2D23AB}"/>
                </a:ext>
              </a:extLst>
            </p:cNvPr>
            <p:cNvSpPr txBox="1"/>
            <p:nvPr/>
          </p:nvSpPr>
          <p:spPr>
            <a:xfrm>
              <a:off x="3667343" y="2466487"/>
              <a:ext cx="2534528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2800" dirty="0">
                  <a:solidFill>
                    <a:schemeClr val="tx1"/>
                  </a:solidFill>
                </a:rPr>
                <a:t>Машинное обучение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9780B24-3213-4D5D-24AD-DD12CA97D680}"/>
                </a:ext>
              </a:extLst>
            </p:cNvPr>
            <p:cNvSpPr txBox="1"/>
            <p:nvPr/>
          </p:nvSpPr>
          <p:spPr>
            <a:xfrm>
              <a:off x="816413" y="2466487"/>
              <a:ext cx="2759732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2800" dirty="0">
                  <a:solidFill>
                    <a:schemeClr val="tx1"/>
                  </a:solidFill>
                </a:rPr>
                <a:t>Искусственный интеллект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DAAEE6F3-6292-0E74-4AFD-BEEA0938D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8;p17">
            <a:extLst>
              <a:ext uri="{FF2B5EF4-FFF2-40B4-BE49-F238E27FC236}">
                <a16:creationId xmlns:a16="http://schemas.microsoft.com/office/drawing/2014/main" id="{A32778B4-FFE6-CF8E-C930-4E5AC14A354E}"/>
              </a:ext>
            </a:extLst>
          </p:cNvPr>
          <p:cNvSpPr txBox="1"/>
          <p:nvPr/>
        </p:nvSpPr>
        <p:spPr>
          <a:xfrm>
            <a:off x="539999" y="360000"/>
            <a:ext cx="8469321" cy="36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" sz="260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Искусственный интеллект</a:t>
            </a:r>
            <a:endParaRPr sz="2600" b="0" i="0" u="none" strike="noStrike" cap="none" dirty="0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3" name="Google Shape;98;p18">
            <a:extLst>
              <a:ext uri="{FF2B5EF4-FFF2-40B4-BE49-F238E27FC236}">
                <a16:creationId xmlns:a16="http://schemas.microsoft.com/office/drawing/2014/main" id="{65947710-66CF-CDC1-E304-FEDC1156B3F9}"/>
              </a:ext>
            </a:extLst>
          </p:cNvPr>
          <p:cNvSpPr txBox="1"/>
          <p:nvPr/>
        </p:nvSpPr>
        <p:spPr>
          <a:xfrm>
            <a:off x="610944" y="1371524"/>
            <a:ext cx="8119091" cy="293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14300" lvl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</a:pPr>
            <a:r>
              <a:rPr lang="ru-RU" sz="1800" b="1" dirty="0">
                <a:latin typeface="Montserrat Medium"/>
                <a:ea typeface="Montserrat Medium"/>
                <a:cs typeface="Montserrat Medium"/>
                <a:sym typeface="Montserrat Medium"/>
              </a:rPr>
              <a:t>Искусственный интеллект </a:t>
            </a:r>
            <a: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— комплекс технологических решений, позволяющий имитировать когнитивные функции человека и получать при выполнении конкретных задач результаты, сопоставимые, как минимум, с результатами интеллектуальной деятельности человека</a:t>
            </a:r>
          </a:p>
          <a:p>
            <a:pPr marL="114300" lvl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</a:pPr>
            <a:endParaRPr lang="ru-RU" sz="1800" i="1" dirty="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114300" lvl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</a:pPr>
            <a:r>
              <a:rPr lang="ru-RU" sz="1800" i="1" dirty="0">
                <a:latin typeface="Montserrat Medium"/>
                <a:ea typeface="Montserrat Medium"/>
                <a:cs typeface="Montserrat Medium"/>
                <a:sym typeface="Montserrat Medium"/>
              </a:rPr>
              <a:t>Национальная стратегия развития ИИ в России на период до 2030 года</a:t>
            </a:r>
          </a:p>
        </p:txBody>
      </p:sp>
    </p:spTree>
    <p:extLst>
      <p:ext uri="{BB962C8B-B14F-4D97-AF65-F5344CB8AC3E}">
        <p14:creationId xmlns:p14="http://schemas.microsoft.com/office/powerpoint/2010/main" val="761939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9D59852C-3908-6C7A-1647-95833EAB7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>
            <a:extLst>
              <a:ext uri="{FF2B5EF4-FFF2-40B4-BE49-F238E27FC236}">
                <a16:creationId xmlns:a16="http://schemas.microsoft.com/office/drawing/2014/main" id="{F4C09FD4-86F5-EC92-F982-2BAC73B658C2}"/>
              </a:ext>
            </a:extLst>
          </p:cNvPr>
          <p:cNvSpPr txBox="1"/>
          <p:nvPr/>
        </p:nvSpPr>
        <p:spPr>
          <a:xfrm>
            <a:off x="539999" y="2096738"/>
            <a:ext cx="8119091" cy="12608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14300" lvl="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</a:pPr>
            <a:r>
              <a:rPr lang="ru-RU" sz="3200" b="1" dirty="0">
                <a:solidFill>
                  <a:schemeClr val="tx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Для чего применяются нейронные сети?</a:t>
            </a:r>
          </a:p>
        </p:txBody>
      </p:sp>
      <p:sp>
        <p:nvSpPr>
          <p:cNvPr id="2" name="Google Shape;88;p17">
            <a:extLst>
              <a:ext uri="{FF2B5EF4-FFF2-40B4-BE49-F238E27FC236}">
                <a16:creationId xmlns:a16="http://schemas.microsoft.com/office/drawing/2014/main" id="{663188B5-970A-92D7-92C8-0C459E915196}"/>
              </a:ext>
            </a:extLst>
          </p:cNvPr>
          <p:cNvSpPr txBox="1"/>
          <p:nvPr/>
        </p:nvSpPr>
        <p:spPr>
          <a:xfrm>
            <a:off x="539999" y="360000"/>
            <a:ext cx="8469321" cy="36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" sz="260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Нейронные сети</a:t>
            </a:r>
            <a:endParaRPr sz="2600" b="0" i="0" u="none" strike="noStrike" cap="none" dirty="0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100823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0D8FAD5E-FFD2-EFBA-9895-BD3317794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>
            <a:extLst>
              <a:ext uri="{FF2B5EF4-FFF2-40B4-BE49-F238E27FC236}">
                <a16:creationId xmlns:a16="http://schemas.microsoft.com/office/drawing/2014/main" id="{006DF1B1-52B9-2772-CA24-7A00A2536370}"/>
              </a:ext>
            </a:extLst>
          </p:cNvPr>
          <p:cNvSpPr txBox="1"/>
          <p:nvPr/>
        </p:nvSpPr>
        <p:spPr>
          <a:xfrm>
            <a:off x="539999" y="2096738"/>
            <a:ext cx="8119091" cy="694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14300" lvl="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</a:pPr>
            <a:r>
              <a:rPr lang="ru-RU" sz="3200" b="1" dirty="0">
                <a:solidFill>
                  <a:schemeClr val="tx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Когда придумали нейронные сети?</a:t>
            </a:r>
          </a:p>
        </p:txBody>
      </p:sp>
      <p:sp>
        <p:nvSpPr>
          <p:cNvPr id="2" name="Google Shape;88;p17">
            <a:extLst>
              <a:ext uri="{FF2B5EF4-FFF2-40B4-BE49-F238E27FC236}">
                <a16:creationId xmlns:a16="http://schemas.microsoft.com/office/drawing/2014/main" id="{3F6F366D-254D-ACB9-35BC-682C51C73FAD}"/>
              </a:ext>
            </a:extLst>
          </p:cNvPr>
          <p:cNvSpPr txBox="1"/>
          <p:nvPr/>
        </p:nvSpPr>
        <p:spPr>
          <a:xfrm>
            <a:off x="539999" y="360000"/>
            <a:ext cx="8469321" cy="36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" sz="260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Нейронные сети</a:t>
            </a:r>
            <a:endParaRPr sz="2600" b="0" i="0" u="none" strike="noStrike" cap="none" dirty="0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4268197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806</TotalTime>
  <Words>74</Words>
  <Application>Microsoft Office PowerPoint</Application>
  <PresentationFormat>Экран (16:9)</PresentationFormat>
  <Paragraphs>15</Paragraphs>
  <Slides>6</Slides>
  <Notes>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1" baseType="lpstr">
      <vt:lpstr>Montserrat Medium</vt:lpstr>
      <vt:lpstr>Calibri</vt:lpstr>
      <vt:lpstr>Montserrat ExtraBold</vt:lpstr>
      <vt:lpstr>Arial</vt:lpstr>
      <vt:lpstr>Simple Light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Ronkin</dc:creator>
  <cp:lastModifiedBy>Ронкин Михаил Владимирович</cp:lastModifiedBy>
  <cp:revision>111</cp:revision>
  <dcterms:modified xsi:type="dcterms:W3CDTF">2026-10-12T12:37:46Z</dcterms:modified>
</cp:coreProperties>
</file>