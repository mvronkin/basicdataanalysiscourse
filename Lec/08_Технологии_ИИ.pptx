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66"/>
  </p:notes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3" r:id="rId35"/>
    <p:sldId id="314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322" r:id="rId44"/>
    <p:sldId id="323" r:id="rId45"/>
    <p:sldId id="324" r:id="rId46"/>
    <p:sldId id="325" r:id="rId47"/>
    <p:sldId id="326" r:id="rId48"/>
    <p:sldId id="261" r:id="rId49"/>
    <p:sldId id="262" r:id="rId50"/>
    <p:sldId id="263" r:id="rId51"/>
    <p:sldId id="264" r:id="rId52"/>
    <p:sldId id="265" r:id="rId53"/>
    <p:sldId id="266" r:id="rId54"/>
    <p:sldId id="267" r:id="rId55"/>
    <p:sldId id="268" r:id="rId56"/>
    <p:sldId id="269" r:id="rId57"/>
    <p:sldId id="270" r:id="rId58"/>
    <p:sldId id="271" r:id="rId59"/>
    <p:sldId id="272" r:id="rId60"/>
    <p:sldId id="273" r:id="rId61"/>
    <p:sldId id="274" r:id="rId62"/>
    <p:sldId id="275" r:id="rId63"/>
    <p:sldId id="276" r:id="rId64"/>
    <p:sldId id="277" r:id="rId65"/>
  </p:sldIdLst>
  <p:sldSz cx="9144000" cy="5143500" type="screen16x9"/>
  <p:notesSz cx="6858000" cy="9144000"/>
  <p:embeddedFontLst>
    <p:embeddedFont>
      <p:font typeface="Montserrat" panose="00000500000000000000" pitchFamily="2" charset="-52"/>
      <p:regular r:id="rId67"/>
      <p:bold r:id="rId68"/>
      <p:italic r:id="rId69"/>
      <p:boldItalic r:id="rId70"/>
    </p:embeddedFont>
    <p:embeddedFont>
      <p:font typeface="Montserrat ExtraBold" panose="00000900000000000000" pitchFamily="2" charset="-52"/>
      <p:bold r:id="rId71"/>
      <p:boldItalic r:id="rId72"/>
    </p:embeddedFont>
    <p:embeddedFont>
      <p:font typeface="Montserrat Light" panose="00000400000000000000" pitchFamily="2" charset="-52"/>
      <p:regular r:id="rId73"/>
      <p:bold r:id="rId74"/>
      <p:italic r:id="rId75"/>
      <p:boldItalic r:id="rId76"/>
    </p:embeddedFont>
    <p:embeddedFont>
      <p:font typeface="Montserrat Medium" panose="00000600000000000000" pitchFamily="2" charset="-52"/>
      <p:regular r:id="rId77"/>
      <p:bold r:id="rId78"/>
      <p:italic r:id="rId79"/>
      <p:boldItalic r:id="rId8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F23B7A-A9A1-4F82-98D5-5D2DF755D6C3}">
  <a:tblStyle styleId="{21F23B7A-A9A1-4F82-98D5-5D2DF755D6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2.fntdata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8.fntdata"/><Relationship Id="rId79" Type="http://schemas.openxmlformats.org/officeDocument/2006/relationships/font" Target="fonts/font13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3.fntdata"/><Relationship Id="rId77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6.fntdata"/><Relationship Id="rId80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4.fntdata"/><Relationship Id="rId75" Type="http://schemas.openxmlformats.org/officeDocument/2006/relationships/font" Target="fonts/font9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7.fntdata"/><Relationship Id="rId78" Type="http://schemas.openxmlformats.org/officeDocument/2006/relationships/font" Target="fonts/font12.fntdata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0.fntdata"/><Relationship Id="rId7" Type="http://schemas.openxmlformats.org/officeDocument/2006/relationships/slide" Target="slides/slide6.xml"/><Relationship Id="rId71" Type="http://schemas.openxmlformats.org/officeDocument/2006/relationships/font" Target="fonts/font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55ee1a653a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9" name="Google Shape;299;g255ee1a653a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a0296b8e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9" name="Google Shape;309;g25a0296b8e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5a0296b8e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25a0296b8e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56c8439d5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" name="Google Shape;325;g256c8439d5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570889d3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g2570889d3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570889d3a8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5" name="Google Shape;345;g2570889d3a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570889d3a8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g2570889d3a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570889d3a8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3" name="Google Shape;363;g2570889d3a8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570889d3a8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2" name="Google Shape;372;g2570889d3a8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570889d3a8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1" name="Google Shape;381;g2570889d3a8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570889d3a8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0" name="Google Shape;390;g2570889d3a8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70889d3a8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9" name="Google Shape;399;g2570889d3a8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570889d3a8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8" name="Google Shape;408;g2570889d3a8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570889d3a8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7" name="Google Shape;417;g2570889d3a8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570889d3a8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6" name="Google Shape;426;g2570889d3a8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570889d3a8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5" name="Google Shape;435;g2570889d3a8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570889d3a8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4" name="Google Shape;444;g2570889d3a8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5a0296b8ef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3" name="Google Shape;463;g25a0296b8e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5a0296b8e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1" name="Google Shape;471;g25a0296b8e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5a0296b8e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9" name="Google Shape;479;g25a0296b8e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5a0296b8e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8" name="Google Shape;488;g25a0296b8e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5a0296b8e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7" name="Google Shape;497;g25a0296b8e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5a0296b8e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6" name="Google Shape;506;g25a0296b8e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5a0296b8ef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6" name="Google Shape;516;g25a0296b8ef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5a0296b8ef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5" name="Google Shape;525;g25a0296b8ef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5a0296b8ef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3" name="Google Shape;553;g25a0296b8ef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25a0296b8ef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3" name="Google Shape;563;g25a0296b8ef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5a0296b8ef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4" name="Google Shape;574;g25a0296b8ef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5a0296b8ef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3" name="Google Shape;583;g25a0296b8ef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25a0296b8ef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1" name="Google Shape;591;g25a0296b8ef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5a0296b8ef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9" name="Google Shape;599;g25a0296b8ef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25a0296b8e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7" name="Google Shape;607;g25a0296b8e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5a0296b8ef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5" name="Google Shape;615;g25a0296b8ef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5a425eb95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3" name="Google Shape;633;g25a425eb95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5a425eb95a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1" name="Google Shape;641;g25a425eb95a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5a425eb95a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4" name="Google Shape;654;g25a425eb95a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25a425eb95a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3" name="Google Shape;663;g25a425eb95a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5a425eb95a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1" name="Google Shape;671;g25a425eb95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25a425eb95a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0" name="Google Shape;680;g25a425eb95a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5a425eb95a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9" name="Google Shape;689;g25a425eb95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5a425eb95a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7" name="Google Shape;697;g25a425eb95a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5a425eb95a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7" name="Google Shape;707;g25a425eb95a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25a425eb95a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5" name="Google Shape;715;g25a425eb95a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25a425eb95a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3" name="Google Shape;723;g25a425eb95a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5a425eb95a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1" name="Google Shape;731;g25a425eb95a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5a425eb95a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1" name="Google Shape;741;g25a425eb95a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5a425eb95a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9" name="Google Shape;749;g25a425eb95a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a0296b8ef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g25a0296b8ef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001714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5a0296b8ef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g25a0296b8ef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90877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a425eb95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25a425eb95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443274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5a0296b8ef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25a0296b8ef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005857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5a425eb95a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g25a425eb95a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32001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5a425eb95a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g25a425eb95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464243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5a425eb95a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g25a425eb95a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256900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5a425eb95a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g25a425eb95a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0555359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5a425eb95a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g25a425eb95a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921179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5a425eb95a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g25a425eb95a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2887546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5a425eb95a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g25a425eb95a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7089020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5a425eb95a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g25a425eb95a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236596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5a425eb95a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g25a425eb95a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2108548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5a425eb95a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g25a425eb95a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9515886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5a425eb95a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g25a425eb95a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0373421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5a425eb95a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g25a425eb95a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012001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5a425eb95a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g25a425eb95a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77438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9BAC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7"/>
          <p:cNvPicPr preferRelativeResize="0"/>
          <p:nvPr/>
        </p:nvPicPr>
        <p:blipFill rotWithShape="1">
          <a:blip r:embed="rId3">
            <a:alphaModFix amt="6000"/>
          </a:blip>
          <a:srcRect b="15604"/>
          <a:stretch/>
        </p:blipFill>
        <p:spPr>
          <a:xfrm>
            <a:off x="0" y="25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7"/>
          <p:cNvSpPr txBox="1"/>
          <p:nvPr/>
        </p:nvSpPr>
        <p:spPr>
          <a:xfrm>
            <a:off x="540000" y="3941150"/>
            <a:ext cx="4643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"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Андрей Владимирович Созыкин</a:t>
            </a:r>
            <a:endParaRPr sz="20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05" name="Google Shape;305;p37"/>
          <p:cNvSpPr txBox="1"/>
          <p:nvPr/>
        </p:nvSpPr>
        <p:spPr>
          <a:xfrm>
            <a:off x="540000" y="1341650"/>
            <a:ext cx="6032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Анализ данных и искусственный интеллект</a:t>
            </a:r>
            <a:endParaRPr sz="1800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6" name="Google Shape;306;p37"/>
          <p:cNvSpPr txBox="1"/>
          <p:nvPr/>
        </p:nvSpPr>
        <p:spPr>
          <a:xfrm>
            <a:off x="540000" y="2211486"/>
            <a:ext cx="8289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" sz="40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Технологии искусственного интеллекта</a:t>
            </a:r>
            <a:endParaRPr sz="4000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 txBox="1"/>
          <p:nvPr/>
        </p:nvSpPr>
        <p:spPr>
          <a:xfrm>
            <a:off x="540000" y="1140699"/>
            <a:ext cx="8083738" cy="235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b="1" dirty="0">
                <a:latin typeface="Montserrat"/>
                <a:ea typeface="Montserrat"/>
                <a:cs typeface="Montserrat"/>
                <a:sym typeface="Montserrat"/>
              </a:rPr>
              <a:t>Искусственный интеллект</a:t>
            </a: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комплекс технологических решений, позволяющий имитировать когнитивные функции человека и получать при выполнении конкретных задач результаты, сопоставимые, как минимум, с результатами интеллектуальной деятельности человека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6300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800" i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Национальная стратегия развития ИИ на период до 2030 года</a:t>
            </a:r>
            <a:endParaRPr sz="1800" i="1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4" name="Google Shape;314;p38"/>
          <p:cNvSpPr txBox="1"/>
          <p:nvPr/>
        </p:nvSpPr>
        <p:spPr>
          <a:xfrm>
            <a:off x="540000" y="360000"/>
            <a:ext cx="7421586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ИСКУССТВЕННЫЙ ИНТЕЛЛЕКТ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 txBox="1"/>
          <p:nvPr/>
        </p:nvSpPr>
        <p:spPr>
          <a:xfrm>
            <a:off x="540000" y="814600"/>
            <a:ext cx="7713248" cy="363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b="1">
                <a:latin typeface="Montserrat"/>
                <a:ea typeface="Montserrat"/>
                <a:cs typeface="Montserrat"/>
                <a:sym typeface="Montserrat"/>
              </a:rPr>
              <a:t>Технологии ИИ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технологии, основанные на использовании ИИ, включая: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Компьютерное зрение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Обработка естественного языка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Распознавание и синтез речи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Интеллектуальная поддержка принятия решений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Перспективные методы ИИ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6300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800" i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Национальная стратегия развития ИИ на период до 2030 года</a:t>
            </a:r>
            <a:endParaRPr sz="1800" i="1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2" name="Google Shape;322;p39"/>
          <p:cNvSpPr txBox="1"/>
          <p:nvPr/>
        </p:nvSpPr>
        <p:spPr>
          <a:xfrm>
            <a:off x="540000" y="360000"/>
            <a:ext cx="7991864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ТЕХНОЛОГИИ ИИ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0"/>
          <p:cNvSpPr txBox="1"/>
          <p:nvPr/>
        </p:nvSpPr>
        <p:spPr>
          <a:xfrm>
            <a:off x="540000" y="1378150"/>
            <a:ext cx="8083738" cy="293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b="1">
                <a:latin typeface="Montserrat"/>
                <a:ea typeface="Montserrat"/>
                <a:cs typeface="Montserrat"/>
                <a:sym typeface="Montserrat"/>
              </a:rPr>
              <a:t>Компьютерное зрение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это область искусственного интеллекта, связанная </a:t>
            </a:r>
            <a:b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 анализом изображений и видео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Компоненты системы компьютерного зрения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Фото или видеокамера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Программное обеспечение </a:t>
            </a:r>
            <a:b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для анализа изображений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63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0" name="Google Shape;330;p40"/>
          <p:cNvSpPr txBox="1"/>
          <p:nvPr/>
        </p:nvSpPr>
        <p:spPr>
          <a:xfrm>
            <a:off x="540000" y="360000"/>
            <a:ext cx="8083738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ЧТО ТАКОЕ</a:t>
            </a:r>
            <a:r>
              <a:rPr lang="en-US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КОМПЬЮТЕРНОЕ ЗРЕНИЕ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4050" y="1441400"/>
            <a:ext cx="2181550" cy="232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6687" y="1441400"/>
            <a:ext cx="3103563" cy="232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1"/>
          <p:cNvSpPr txBox="1"/>
          <p:nvPr/>
        </p:nvSpPr>
        <p:spPr>
          <a:xfrm>
            <a:off x="1958900" y="4665900"/>
            <a:ext cx="4866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https://www.kaggle.com/c/dogs-vs-cats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0" name="Google Shape;340;p41"/>
          <p:cNvSpPr txBox="1"/>
          <p:nvPr/>
        </p:nvSpPr>
        <p:spPr>
          <a:xfrm>
            <a:off x="2239900" y="3762900"/>
            <a:ext cx="203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Кот</a:t>
            </a:r>
            <a:endParaRPr sz="1800"/>
          </a:p>
        </p:txBody>
      </p:sp>
      <p:sp>
        <p:nvSpPr>
          <p:cNvPr id="341" name="Google Shape;341;p41"/>
          <p:cNvSpPr txBox="1"/>
          <p:nvPr/>
        </p:nvSpPr>
        <p:spPr>
          <a:xfrm>
            <a:off x="5276888" y="3762900"/>
            <a:ext cx="142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Собака</a:t>
            </a:r>
            <a:endParaRPr sz="1800"/>
          </a:p>
        </p:txBody>
      </p:sp>
      <p:sp>
        <p:nvSpPr>
          <p:cNvPr id="342" name="Google Shape;342;p41"/>
          <p:cNvSpPr txBox="1"/>
          <p:nvPr/>
        </p:nvSpPr>
        <p:spPr>
          <a:xfrm>
            <a:off x="539999" y="360000"/>
            <a:ext cx="7468883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КЛАССИФИКАЦИЯ ИЗОБРАЖЕНИЙ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4893" y="1339050"/>
            <a:ext cx="5364797" cy="3017707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2"/>
          <p:cNvSpPr txBox="1"/>
          <p:nvPr/>
        </p:nvSpPr>
        <p:spPr>
          <a:xfrm>
            <a:off x="1449643" y="4850575"/>
            <a:ext cx="5748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wikipedia.org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1" name="Google Shape;351;p42"/>
          <p:cNvSpPr txBox="1"/>
          <p:nvPr/>
        </p:nvSpPr>
        <p:spPr>
          <a:xfrm>
            <a:off x="540000" y="360000"/>
            <a:ext cx="79182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ОБНАРУЖЕНИЕ ОБЪЕКТОВ НА ИЗОБРАЖЕНИЯХ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3"/>
          <p:cNvSpPr txBox="1"/>
          <p:nvPr/>
        </p:nvSpPr>
        <p:spPr>
          <a:xfrm>
            <a:off x="1698843" y="4889775"/>
            <a:ext cx="5748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wikipedia.org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59" name="Google Shape;35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0205" y="1127500"/>
            <a:ext cx="4865878" cy="366162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3"/>
          <p:cNvSpPr txBox="1"/>
          <p:nvPr/>
        </p:nvSpPr>
        <p:spPr>
          <a:xfrm>
            <a:off x="539999" y="360000"/>
            <a:ext cx="83202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СЕГМЕНТАЦИЯ ИЗОБРАЖЕНИЙ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5338" y="1271921"/>
            <a:ext cx="2429950" cy="29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259096"/>
            <a:ext cx="2429950" cy="2966802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4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РАСПОЗНАВАНИЕ ЛИЦ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5"/>
          <p:cNvSpPr txBox="1"/>
          <p:nvPr/>
        </p:nvSpPr>
        <p:spPr>
          <a:xfrm>
            <a:off x="1481170" y="4641649"/>
            <a:ext cx="574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Создано при помощи нейросети Kandinsky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77" name="Google Shape;37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1358" y="896349"/>
            <a:ext cx="3588222" cy="359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5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ГЕНЕРАЦИЯ ИЗОБРАЖЕНИЙ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6"/>
          <p:cNvSpPr txBox="1"/>
          <p:nvPr/>
        </p:nvSpPr>
        <p:spPr>
          <a:xfrm>
            <a:off x="1583128" y="4506300"/>
            <a:ext cx="560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Создано при помощи сервиса Visper.tech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86" name="Google Shape;38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128" y="1070500"/>
            <a:ext cx="5600000" cy="316726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6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ГЕНЕРАЦИЯ ВИДЕО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7"/>
          <p:cNvSpPr txBox="1"/>
          <p:nvPr/>
        </p:nvSpPr>
        <p:spPr>
          <a:xfrm>
            <a:off x="1694664" y="4454544"/>
            <a:ext cx="5748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https://taxi.yandex.ru/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95" name="Google Shape;39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1964" y="1048594"/>
            <a:ext cx="4965850" cy="330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7"/>
          <p:cNvSpPr txBox="1"/>
          <p:nvPr/>
        </p:nvSpPr>
        <p:spPr>
          <a:xfrm>
            <a:off x="540000" y="360000"/>
            <a:ext cx="8107386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АВТОМОБИЛИ</a:t>
            </a:r>
            <a:r>
              <a:rPr lang="en-US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БЕЗ ВОДИТЕЛЯ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8"/>
          <p:cNvSpPr txBox="1"/>
          <p:nvPr/>
        </p:nvSpPr>
        <p:spPr>
          <a:xfrm>
            <a:off x="1426645" y="4724819"/>
            <a:ext cx="5748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Источник: https://www.nuscenes.org/nuimages</a:t>
            </a:r>
            <a:endParaRPr sz="9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4" name="Google Shape;40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5245" y="1211569"/>
            <a:ext cx="5600000" cy="31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8"/>
          <p:cNvSpPr txBox="1"/>
          <p:nvPr/>
        </p:nvSpPr>
        <p:spPr>
          <a:xfrm>
            <a:off x="539999" y="280081"/>
            <a:ext cx="811526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АВТОМОБИЛИ</a:t>
            </a:r>
            <a:r>
              <a:rPr lang="en-US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БЕЗ ВОДИТЕЛЯ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3365" y="1151000"/>
            <a:ext cx="4129622" cy="357462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49"/>
          <p:cNvSpPr txBox="1"/>
          <p:nvPr/>
        </p:nvSpPr>
        <p:spPr>
          <a:xfrm>
            <a:off x="1433877" y="4789125"/>
            <a:ext cx="5748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wikipedia.org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14" name="Google Shape;414;p49"/>
          <p:cNvSpPr txBox="1"/>
          <p:nvPr/>
        </p:nvSpPr>
        <p:spPr>
          <a:xfrm>
            <a:off x="539999" y="360103"/>
            <a:ext cx="7784193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МЕДИЦИНСКИЕ ИЗОБРАЖЕНИЯ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0"/>
          <p:cNvSpPr txBox="1"/>
          <p:nvPr/>
        </p:nvSpPr>
        <p:spPr>
          <a:xfrm>
            <a:off x="1887918" y="4777850"/>
            <a:ext cx="5386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https://zanauku.mipt.ru/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22" name="Google Shape;42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7955" y="979050"/>
            <a:ext cx="5386721" cy="3592901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0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РОБОТОТЕХНИКА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1"/>
          <p:cNvSpPr txBox="1"/>
          <p:nvPr/>
        </p:nvSpPr>
        <p:spPr>
          <a:xfrm>
            <a:off x="1716991" y="4738800"/>
            <a:ext cx="5748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https://habr.com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31" name="Google Shape;43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2091" y="1348725"/>
            <a:ext cx="5600000" cy="319812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1"/>
          <p:cNvSpPr txBox="1"/>
          <p:nvPr/>
        </p:nvSpPr>
        <p:spPr>
          <a:xfrm>
            <a:off x="539999" y="360000"/>
            <a:ext cx="717722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ПРОМЫШЛЕННАЯ БЕЗОПАСНОСТЬ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2"/>
          <p:cNvSpPr txBox="1"/>
          <p:nvPr/>
        </p:nvSpPr>
        <p:spPr>
          <a:xfrm>
            <a:off x="1528472" y="4219625"/>
            <a:ext cx="5748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https://www.kdnuggets.com/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40" name="Google Shape;44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072" y="1375750"/>
            <a:ext cx="5600000" cy="23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52"/>
          <p:cNvSpPr txBox="1"/>
          <p:nvPr/>
        </p:nvSpPr>
        <p:spPr>
          <a:xfrm>
            <a:off x="539999" y="360000"/>
            <a:ext cx="8422697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ОБНАРУЖЕНИЕ БОЛЕЗНЕЙ РАСТЕНИЙ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3"/>
          <p:cNvSpPr txBox="1"/>
          <p:nvPr/>
        </p:nvSpPr>
        <p:spPr>
          <a:xfrm>
            <a:off x="1636986" y="4732059"/>
            <a:ext cx="5600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https://developer.nvidia.com/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49" name="Google Shape;44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6986" y="1214659"/>
            <a:ext cx="5600002" cy="3148149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53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ОПРЕДЕЛЕНИЕ ПОЗЫ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5"/>
          <p:cNvSpPr txBox="1"/>
          <p:nvPr/>
        </p:nvSpPr>
        <p:spPr>
          <a:xfrm>
            <a:off x="540000" y="1235025"/>
            <a:ext cx="7831490" cy="2614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b="1">
                <a:latin typeface="Montserrat"/>
                <a:ea typeface="Montserrat"/>
                <a:cs typeface="Montserrat"/>
                <a:sym typeface="Montserrat"/>
              </a:rPr>
              <a:t>Обработка естественного языка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это область искусственного интеллекта, связанная с анализом </a:t>
            </a:r>
            <a:b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 синтезом текстов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Типы языков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Естественный язык</a:t>
            </a: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— общение людей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Формальный язык</a:t>
            </a: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— взаимодействие с компьютерными системами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68" name="Google Shape;468;p55"/>
          <p:cNvSpPr txBox="1"/>
          <p:nvPr/>
        </p:nvSpPr>
        <p:spPr>
          <a:xfrm>
            <a:off x="539999" y="360000"/>
            <a:ext cx="8114377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ОБРАБОТКА ЕСТЕСТВЕННОГО ЯЗЫКА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6"/>
          <p:cNvSpPr txBox="1"/>
          <p:nvPr/>
        </p:nvSpPr>
        <p:spPr>
          <a:xfrm>
            <a:off x="539999" y="1336815"/>
            <a:ext cx="7760545" cy="1402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Анализ текстов</a:t>
            </a: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Понимание смысла текста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Синтез текстов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Генерация текста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6" name="Google Shape;476;p56"/>
          <p:cNvSpPr txBox="1"/>
          <p:nvPr/>
        </p:nvSpPr>
        <p:spPr>
          <a:xfrm>
            <a:off x="540000" y="360103"/>
            <a:ext cx="804087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ОБРАБОТКА ЕСТЕСТВЕННОГО ЯЗЫКА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7"/>
          <p:cNvSpPr txBox="1"/>
          <p:nvPr/>
        </p:nvSpPr>
        <p:spPr>
          <a:xfrm>
            <a:off x="540000" y="360000"/>
            <a:ext cx="7539828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АВТОМАТИЧЕСКИЙ ПЕРЕВОД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84" name="Google Shape;48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401" y="1275872"/>
            <a:ext cx="5779198" cy="2591756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57"/>
          <p:cNvSpPr txBox="1"/>
          <p:nvPr/>
        </p:nvSpPr>
        <p:spPr>
          <a:xfrm>
            <a:off x="1731876" y="4765797"/>
            <a:ext cx="5600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https://translate.yandex.ru/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8"/>
          <p:cNvSpPr txBox="1"/>
          <p:nvPr/>
        </p:nvSpPr>
        <p:spPr>
          <a:xfrm>
            <a:off x="540000" y="360000"/>
            <a:ext cx="7650186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АВТОМАТИЧЕСКИЙ ПЕРЕВОД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93" name="Google Shape;493;p58"/>
          <p:cNvSpPr txBox="1"/>
          <p:nvPr/>
        </p:nvSpPr>
        <p:spPr>
          <a:xfrm>
            <a:off x="1641673" y="5004900"/>
            <a:ext cx="5600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https://www.youtube.com/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94" name="Google Shape;49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873" y="1037975"/>
            <a:ext cx="5771481" cy="354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9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ДИАЛОГОВЫЕ АССИСТЕНТЫ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502" name="Google Shape;50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8299" y="817520"/>
            <a:ext cx="2317473" cy="411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0572" y="817520"/>
            <a:ext cx="2317473" cy="411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0"/>
          <p:cNvSpPr txBox="1"/>
          <p:nvPr/>
        </p:nvSpPr>
        <p:spPr>
          <a:xfrm>
            <a:off x="540000" y="360000"/>
            <a:ext cx="7768428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АВТОМАТИЧЕСКАЯ ГЕНЕРАЦИЯ ТЕКСТА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11" name="Google Shape;511;p60"/>
          <p:cNvSpPr txBox="1"/>
          <p:nvPr/>
        </p:nvSpPr>
        <p:spPr>
          <a:xfrm>
            <a:off x="1683050" y="4720622"/>
            <a:ext cx="5600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https://ya.ru/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12" name="Google Shape;51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475" y="898997"/>
            <a:ext cx="3001825" cy="3778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420335"/>
            <a:ext cx="2749225" cy="3246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1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ИСПРАВЛЕНИЕ ОШИБОК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21" name="Google Shape;521;p61"/>
          <p:cNvSpPr txBox="1"/>
          <p:nvPr/>
        </p:nvSpPr>
        <p:spPr>
          <a:xfrm>
            <a:off x="1839404" y="4869942"/>
            <a:ext cx="5600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https://disk.yandex.ru/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22" name="Google Shape;52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4100" y="894665"/>
            <a:ext cx="5600101" cy="3588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2"/>
          <p:cNvSpPr txBox="1"/>
          <p:nvPr/>
        </p:nvSpPr>
        <p:spPr>
          <a:xfrm>
            <a:off x="540000" y="360000"/>
            <a:ext cx="8414814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ВЫДЕЛЕНИЕ ИМЕНОВАННЫХ СУЩНОСТЕЙ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30" name="Google Shape;530;p62"/>
          <p:cNvSpPr txBox="1"/>
          <p:nvPr/>
        </p:nvSpPr>
        <p:spPr>
          <a:xfrm>
            <a:off x="1690640" y="4490167"/>
            <a:ext cx="5600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https://disk.yandex.ru/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BF3BFC4A-9D31-5E7B-6B5C-7FB59265297D}"/>
              </a:ext>
            </a:extLst>
          </p:cNvPr>
          <p:cNvGrpSpPr/>
          <p:nvPr/>
        </p:nvGrpSpPr>
        <p:grpSpPr>
          <a:xfrm>
            <a:off x="1390086" y="1095355"/>
            <a:ext cx="5669868" cy="3248825"/>
            <a:chOff x="286500" y="1394900"/>
            <a:chExt cx="5669868" cy="3248825"/>
          </a:xfrm>
        </p:grpSpPr>
        <p:pic>
          <p:nvPicPr>
            <p:cNvPr id="531" name="Google Shape;531;p6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6500" y="1411825"/>
              <a:ext cx="5669868" cy="3212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2" name="Google Shape;532;p62"/>
            <p:cNvSpPr/>
            <p:nvPr/>
          </p:nvSpPr>
          <p:spPr>
            <a:xfrm>
              <a:off x="286500" y="1394900"/>
              <a:ext cx="27132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ED1C2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62"/>
            <p:cNvSpPr/>
            <p:nvPr/>
          </p:nvSpPr>
          <p:spPr>
            <a:xfrm>
              <a:off x="338250" y="2791975"/>
              <a:ext cx="13251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ED1C2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62"/>
            <p:cNvSpPr/>
            <p:nvPr/>
          </p:nvSpPr>
          <p:spPr>
            <a:xfrm>
              <a:off x="4695600" y="2791975"/>
              <a:ext cx="9216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ED1C2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62"/>
            <p:cNvSpPr/>
            <p:nvPr/>
          </p:nvSpPr>
          <p:spPr>
            <a:xfrm>
              <a:off x="4465850" y="1394900"/>
              <a:ext cx="6753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62"/>
            <p:cNvSpPr/>
            <p:nvPr/>
          </p:nvSpPr>
          <p:spPr>
            <a:xfrm>
              <a:off x="5141150" y="1394900"/>
              <a:ext cx="6753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62"/>
            <p:cNvSpPr/>
            <p:nvPr/>
          </p:nvSpPr>
          <p:spPr>
            <a:xfrm>
              <a:off x="2198900" y="1660400"/>
              <a:ext cx="6753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62"/>
            <p:cNvSpPr/>
            <p:nvPr/>
          </p:nvSpPr>
          <p:spPr>
            <a:xfrm>
              <a:off x="2883000" y="1660400"/>
              <a:ext cx="6201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62"/>
            <p:cNvSpPr/>
            <p:nvPr/>
          </p:nvSpPr>
          <p:spPr>
            <a:xfrm>
              <a:off x="3511900" y="1660400"/>
              <a:ext cx="13251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62"/>
            <p:cNvSpPr/>
            <p:nvPr/>
          </p:nvSpPr>
          <p:spPr>
            <a:xfrm>
              <a:off x="2722200" y="3057475"/>
              <a:ext cx="9216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62"/>
            <p:cNvSpPr/>
            <p:nvPr/>
          </p:nvSpPr>
          <p:spPr>
            <a:xfrm>
              <a:off x="3387104" y="2184850"/>
              <a:ext cx="8847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62"/>
            <p:cNvSpPr/>
            <p:nvPr/>
          </p:nvSpPr>
          <p:spPr>
            <a:xfrm>
              <a:off x="3839699" y="3057475"/>
              <a:ext cx="20793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62"/>
            <p:cNvSpPr/>
            <p:nvPr/>
          </p:nvSpPr>
          <p:spPr>
            <a:xfrm>
              <a:off x="338249" y="3322975"/>
              <a:ext cx="18606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62"/>
            <p:cNvSpPr/>
            <p:nvPr/>
          </p:nvSpPr>
          <p:spPr>
            <a:xfrm>
              <a:off x="338250" y="3057475"/>
              <a:ext cx="9681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ED1C2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62"/>
            <p:cNvSpPr/>
            <p:nvPr/>
          </p:nvSpPr>
          <p:spPr>
            <a:xfrm>
              <a:off x="338250" y="3585100"/>
              <a:ext cx="8664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62"/>
            <p:cNvSpPr/>
            <p:nvPr/>
          </p:nvSpPr>
          <p:spPr>
            <a:xfrm>
              <a:off x="4318661" y="4112750"/>
              <a:ext cx="10767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62"/>
            <p:cNvSpPr/>
            <p:nvPr/>
          </p:nvSpPr>
          <p:spPr>
            <a:xfrm>
              <a:off x="338237" y="4378225"/>
              <a:ext cx="23841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62"/>
            <p:cNvSpPr/>
            <p:nvPr/>
          </p:nvSpPr>
          <p:spPr>
            <a:xfrm>
              <a:off x="4800399" y="3585125"/>
              <a:ext cx="9681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62"/>
            <p:cNvSpPr/>
            <p:nvPr/>
          </p:nvSpPr>
          <p:spPr>
            <a:xfrm>
              <a:off x="338250" y="3850600"/>
              <a:ext cx="38604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62"/>
            <p:cNvSpPr/>
            <p:nvPr/>
          </p:nvSpPr>
          <p:spPr>
            <a:xfrm>
              <a:off x="1204525" y="3585096"/>
              <a:ext cx="1611900" cy="2655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ED1C2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3"/>
          <p:cNvSpPr txBox="1"/>
          <p:nvPr/>
        </p:nvSpPr>
        <p:spPr>
          <a:xfrm>
            <a:off x="539999" y="360000"/>
            <a:ext cx="7413703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ОПРЕДЕЛЕНИЕ ТОНАЛЬНОСТИ ТЕКСТА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8" name="Google Shape;558;p63"/>
          <p:cNvSpPr txBox="1"/>
          <p:nvPr/>
        </p:nvSpPr>
        <p:spPr>
          <a:xfrm>
            <a:off x="1464201" y="4644900"/>
            <a:ext cx="5600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https://www.kinopoisk.ru/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59" name="Google Shape;55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876" y="919900"/>
            <a:ext cx="3085483" cy="354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759" y="919900"/>
            <a:ext cx="2541316" cy="2489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4"/>
          <p:cNvSpPr txBox="1"/>
          <p:nvPr/>
        </p:nvSpPr>
        <p:spPr>
          <a:xfrm>
            <a:off x="539999" y="360000"/>
            <a:ext cx="8052207" cy="7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КЛАССИФИКАЦИЯ ТЕКСТА: ОПРЕДЕЛЕНИЕ ТОКСИЧНОСТИ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68" name="Google Shape;568;p64"/>
          <p:cNvSpPr/>
          <p:nvPr/>
        </p:nvSpPr>
        <p:spPr>
          <a:xfrm>
            <a:off x="1423670" y="1836180"/>
            <a:ext cx="2705700" cy="1930200"/>
          </a:xfrm>
          <a:prstGeom prst="roundRect">
            <a:avLst>
              <a:gd name="adj" fmla="val 16667"/>
            </a:avLst>
          </a:prstGeom>
          <a:solidFill>
            <a:srgbClr val="329B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64"/>
          <p:cNvSpPr/>
          <p:nvPr/>
        </p:nvSpPr>
        <p:spPr>
          <a:xfrm>
            <a:off x="4240945" y="1836180"/>
            <a:ext cx="2705700" cy="1930200"/>
          </a:xfrm>
          <a:prstGeom prst="roundRect">
            <a:avLst>
              <a:gd name="adj" fmla="val 16667"/>
            </a:avLst>
          </a:prstGeom>
          <a:solidFill>
            <a:srgbClr val="ED1C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64"/>
          <p:cNvSpPr txBox="1"/>
          <p:nvPr/>
        </p:nvSpPr>
        <p:spPr>
          <a:xfrm>
            <a:off x="1419220" y="2025480"/>
            <a:ext cx="2653500" cy="15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Вижу по твоим старым постам, </a:t>
            </a:r>
            <a:br>
              <a:rPr lang="ru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что ты на этом деле собаку съел) А сам прошёл полностью?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1" name="Google Shape;571;p64"/>
          <p:cNvSpPr txBox="1"/>
          <p:nvPr/>
        </p:nvSpPr>
        <p:spPr>
          <a:xfrm>
            <a:off x="4244270" y="2025480"/>
            <a:ext cx="2705700" cy="15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Это совсем </a:t>
            </a:r>
            <a:br>
              <a:rPr lang="ru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 смешно. Но уроды могут поржать. И им даже не объяснишь, что они уроды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5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КЛАССИФИКАЦИЯ ТЕКСТА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79" name="Google Shape;579;p65"/>
          <p:cNvSpPr txBox="1"/>
          <p:nvPr/>
        </p:nvSpPr>
        <p:spPr>
          <a:xfrm>
            <a:off x="1682399" y="4859905"/>
            <a:ext cx="5600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https://www.sciencedirect.com/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80" name="Google Shape;58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399" y="925618"/>
            <a:ext cx="5779202" cy="3658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6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ПЕРЕНОС СТИЛЯ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aphicFrame>
        <p:nvGraphicFramePr>
          <p:cNvPr id="588" name="Google Shape;588;p66"/>
          <p:cNvGraphicFramePr/>
          <p:nvPr>
            <p:extLst>
              <p:ext uri="{D42A27DB-BD31-4B8C-83A1-F6EECF244321}">
                <p14:modId xmlns:p14="http://schemas.microsoft.com/office/powerpoint/2010/main" val="960591905"/>
              </p:ext>
            </p:extLst>
          </p:nvPr>
        </p:nvGraphicFramePr>
        <p:xfrm>
          <a:off x="960442" y="1089808"/>
          <a:ext cx="7079972" cy="3334754"/>
        </p:xfrm>
        <a:graphic>
          <a:graphicData uri="http://schemas.openxmlformats.org/drawingml/2006/table">
            <a:tbl>
              <a:tblPr>
                <a:noFill/>
                <a:tableStyleId>{21F23B7A-A9A1-4F82-98D5-5D2DF755D6C3}</a:tableStyleId>
              </a:tblPr>
              <a:tblGrid>
                <a:gridCol w="3539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9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Токсичный текст</a:t>
                      </a:r>
                      <a:endParaRPr sz="18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29B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Нетоксичный текст</a:t>
                      </a:r>
                      <a:endParaRPr sz="18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b">
                    <a:lnL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29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Не пытайся меня понять. Не напрягай свои зачатки интеллекта</a:t>
                      </a:r>
                      <a:endParaRPr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Не пытайся меня понять, все равно </a:t>
                      </a:r>
                      <a:br>
                        <a:rPr lang="ru" sz="18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</a:br>
                      <a:r>
                        <a:rPr lang="ru" sz="18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не поймете</a:t>
                      </a:r>
                      <a:endParaRPr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Давно пора и надо установить доску позора куда вывешивать фото этих уродов которым плох когда другим хорошо</a:t>
                      </a:r>
                      <a:endParaRPr sz="16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Давно пора и надо установить доску позора куда вывешивать фото этих людей которым плохо когда другим хорошо</a:t>
                      </a:r>
                      <a:endParaRPr sz="16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7"/>
          <p:cNvSpPr txBox="1"/>
          <p:nvPr/>
        </p:nvSpPr>
        <p:spPr>
          <a:xfrm>
            <a:off x="540000" y="1378150"/>
            <a:ext cx="7768428" cy="2167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Неструктурированная информация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Неоднозначность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 отличие от формальных языков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Особенности русского языка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Флективность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Свободный порядок слов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96" name="Google Shape;596;p67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СЛОЖНОСТИ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8"/>
          <p:cNvSpPr txBox="1"/>
          <p:nvPr/>
        </p:nvSpPr>
        <p:spPr>
          <a:xfrm>
            <a:off x="540000" y="839175"/>
            <a:ext cx="7894552" cy="3251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Ключ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Металлический стержень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для открывания и закрывания замков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Инструмент для отвинчивания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 завинчивания гаек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Родник, источник воды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Некоторые типы стали есть в нашем цехе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Речь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Я икры съем еще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</a:rPr>
              <a:t>Я и крыс ем еще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04" name="Google Shape;604;p68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НЕОДНОЗНАЧНОСТЬ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9"/>
          <p:cNvSpPr txBox="1"/>
          <p:nvPr/>
        </p:nvSpPr>
        <p:spPr>
          <a:xfrm>
            <a:off x="540000" y="1156650"/>
            <a:ext cx="5232300" cy="25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Машинное обучение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Области знаний о языке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Фонетика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Морфология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Синтаксис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Семантика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2" name="Google Shape;612;p69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ОБЛАСТИ ЗНАНИЙ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0"/>
          <p:cNvSpPr txBox="1"/>
          <p:nvPr/>
        </p:nvSpPr>
        <p:spPr>
          <a:xfrm>
            <a:off x="540000" y="1337219"/>
            <a:ext cx="8004910" cy="2999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Обучаются на большом объеме текстов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Учатся выделять структуру языка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Примеры больших языковых моделей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GPT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-5</a:t>
            </a: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(основа ChatGPT)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DeepSeek-R1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YandexGPT от Яндекс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ruGPT (основа GigaChat от Сбера)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20" name="Google Shape;620;p70"/>
          <p:cNvSpPr txBox="1"/>
          <p:nvPr/>
        </p:nvSpPr>
        <p:spPr>
          <a:xfrm>
            <a:off x="540000" y="360000"/>
            <a:ext cx="7894552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БОЛЬШИЕ ЯЗЫКОВЫЕ МОДЕЛИ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2"/>
          <p:cNvSpPr txBox="1"/>
          <p:nvPr/>
        </p:nvSpPr>
        <p:spPr>
          <a:xfrm>
            <a:off x="540000" y="1378150"/>
            <a:ext cx="7839372" cy="1720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b="1" dirty="0">
                <a:latin typeface="Montserrat"/>
                <a:ea typeface="Montserrat"/>
                <a:cs typeface="Montserrat"/>
                <a:sym typeface="Montserrat"/>
              </a:rPr>
              <a:t>Распознавание речи</a:t>
            </a: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автоматический процесс преобразования речевого сигнала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 цифровую информацию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"/>
              <a:buChar char="●"/>
            </a:pPr>
            <a:r>
              <a:rPr lang="ru" sz="1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Синтез речи </a:t>
            </a: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— формирование речевого сигнала по печатному тексту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8" name="Google Shape;638;p72"/>
          <p:cNvSpPr txBox="1"/>
          <p:nvPr/>
        </p:nvSpPr>
        <p:spPr>
          <a:xfrm>
            <a:off x="540000" y="360000"/>
            <a:ext cx="8123152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РАСПОЗНАВАНИЕ И СИНТЕЗ РЕЧИ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3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УМНЫЕ УСТРОЙСТВА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46" name="Google Shape;646;p73"/>
          <p:cNvPicPr preferRelativeResize="0"/>
          <p:nvPr/>
        </p:nvPicPr>
        <p:blipFill rotWithShape="1">
          <a:blip r:embed="rId3">
            <a:alphaModFix/>
          </a:blip>
          <a:srcRect l="20811" t="13470" r="21475" b="5433"/>
          <a:stretch/>
        </p:blipFill>
        <p:spPr>
          <a:xfrm>
            <a:off x="1997260" y="1102662"/>
            <a:ext cx="1747108" cy="245479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73"/>
          <p:cNvSpPr txBox="1"/>
          <p:nvPr/>
        </p:nvSpPr>
        <p:spPr>
          <a:xfrm>
            <a:off x="1557860" y="3811962"/>
            <a:ext cx="2625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https://.yandex.ru/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p73"/>
          <p:cNvSpPr txBox="1"/>
          <p:nvPr/>
        </p:nvSpPr>
        <p:spPr>
          <a:xfrm>
            <a:off x="1704710" y="3991487"/>
            <a:ext cx="233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Умная колонка</a:t>
            </a:r>
            <a:endParaRPr sz="1800"/>
          </a:p>
        </p:txBody>
      </p:sp>
      <p:sp>
        <p:nvSpPr>
          <p:cNvPr id="649" name="Google Shape;649;p73"/>
          <p:cNvSpPr txBox="1"/>
          <p:nvPr/>
        </p:nvSpPr>
        <p:spPr>
          <a:xfrm>
            <a:off x="3962163" y="3991487"/>
            <a:ext cx="340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Умный дисплей</a:t>
            </a:r>
            <a:endParaRPr sz="1800"/>
          </a:p>
        </p:txBody>
      </p:sp>
      <p:sp>
        <p:nvSpPr>
          <p:cNvPr id="650" name="Google Shape;650;p73"/>
          <p:cNvSpPr txBox="1"/>
          <p:nvPr/>
        </p:nvSpPr>
        <p:spPr>
          <a:xfrm>
            <a:off x="3921235" y="3811962"/>
            <a:ext cx="3403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https://developers.sber.ru/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51" name="Google Shape;651;p73"/>
          <p:cNvPicPr preferRelativeResize="0"/>
          <p:nvPr/>
        </p:nvPicPr>
        <p:blipFill rotWithShape="1">
          <a:blip r:embed="rId4">
            <a:alphaModFix/>
          </a:blip>
          <a:srcRect l="19174" t="24476" r="24941" b="11715"/>
          <a:stretch/>
        </p:blipFill>
        <p:spPr>
          <a:xfrm>
            <a:off x="3962160" y="1102674"/>
            <a:ext cx="3403274" cy="258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74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ДИАЛОГОВЫЕ АССИСТЕНТЫ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59" name="Google Shape;65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4806" y="872700"/>
            <a:ext cx="2317473" cy="411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8658" y="872700"/>
            <a:ext cx="2320226" cy="411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75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КОНТАКТ ЦЕНТРЫ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68" name="Google Shape;66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3884" y="932951"/>
            <a:ext cx="3739950" cy="373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76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ЦИФРОВЫЕ АВАТАРЫ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76" name="Google Shape;676;p76"/>
          <p:cNvSpPr txBox="1"/>
          <p:nvPr/>
        </p:nvSpPr>
        <p:spPr>
          <a:xfrm>
            <a:off x="2315721" y="4439573"/>
            <a:ext cx="3403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dirty="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https://visper.tech/</a:t>
            </a:r>
            <a:endParaRPr sz="900" dirty="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77" name="Google Shape;67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845" y="1266133"/>
            <a:ext cx="5779200" cy="306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7"/>
          <p:cNvSpPr txBox="1"/>
          <p:nvPr/>
        </p:nvSpPr>
        <p:spPr>
          <a:xfrm>
            <a:off x="540000" y="360000"/>
            <a:ext cx="7374290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АВТОМАТИЧЕСКИЙ ПЕРЕВОД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85" name="Google Shape;685;p77"/>
          <p:cNvSpPr txBox="1"/>
          <p:nvPr/>
        </p:nvSpPr>
        <p:spPr>
          <a:xfrm>
            <a:off x="1602259" y="4825930"/>
            <a:ext cx="5600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https://www.youtube.com/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86" name="Google Shape;68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6459" y="912680"/>
            <a:ext cx="5771481" cy="354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8"/>
          <p:cNvSpPr txBox="1"/>
          <p:nvPr/>
        </p:nvSpPr>
        <p:spPr>
          <a:xfrm>
            <a:off x="540000" y="1235025"/>
            <a:ext cx="7626538" cy="2871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Распознавание фиксированного набора слов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Перечень команд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Распознавание по заданному сценарию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Контакт центры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Поиск ключевых слов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Купить билеты на самолет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Распознавание произвольной речи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94" name="Google Shape;694;p78"/>
          <p:cNvSpPr txBox="1"/>
          <p:nvPr/>
        </p:nvSpPr>
        <p:spPr>
          <a:xfrm>
            <a:off x="540000" y="360000"/>
            <a:ext cx="7902022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ЗАДАЧИ РАСПОЗНАВАНИЯ РЕЧИ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9"/>
          <p:cNvSpPr txBox="1"/>
          <p:nvPr/>
        </p:nvSpPr>
        <p:spPr>
          <a:xfrm>
            <a:off x="539999" y="834925"/>
            <a:ext cx="5046975" cy="3193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Лингвистика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Предложения, слова, звуки (фонемы)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Физика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Звуковая волна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Органы артикуляции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Математика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Случайный</a:t>
            </a:r>
            <a:r>
              <a:rPr lang="en-US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процесс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2" name="Google Shape;702;p79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ЧТО ТАКОЕ РЕЧЬ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703" name="Google Shape;70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0025" y="1450095"/>
            <a:ext cx="2444700" cy="30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79"/>
          <p:cNvSpPr txBox="1"/>
          <p:nvPr/>
        </p:nvSpPr>
        <p:spPr>
          <a:xfrm>
            <a:off x="5853075" y="4517795"/>
            <a:ext cx="2178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dirty="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wikipedia.org</a:t>
            </a:r>
            <a:endParaRPr sz="900" dirty="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80"/>
          <p:cNvSpPr txBox="1"/>
          <p:nvPr/>
        </p:nvSpPr>
        <p:spPr>
          <a:xfrm>
            <a:off x="539999" y="1235025"/>
            <a:ext cx="6822497" cy="2424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Речь делится на короткие промежутки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Для каждого промежутка определяются характеристики произносимого звука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 характеристикам звука определяется фонема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Фонемы объединяются в слова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Слова объединяются в предложения и тексты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12" name="Google Shape;712;p80"/>
          <p:cNvSpPr txBox="1"/>
          <p:nvPr/>
        </p:nvSpPr>
        <p:spPr>
          <a:xfrm>
            <a:off x="539999" y="360000"/>
            <a:ext cx="7336031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ЭТАПЫ РАСПОЗНАВАНИЯ РЕЧИ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81"/>
          <p:cNvSpPr txBox="1"/>
          <p:nvPr/>
        </p:nvSpPr>
        <p:spPr>
          <a:xfrm>
            <a:off x="540000" y="1449700"/>
            <a:ext cx="7689600" cy="2614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Акустическая модель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Распознает отдельные звуки речи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Лексикон (словарь)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Перечень возможных слов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Языковая модель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Закономерности использования слов в языке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20" name="Google Shape;720;p81"/>
          <p:cNvSpPr txBox="1"/>
          <p:nvPr/>
        </p:nvSpPr>
        <p:spPr>
          <a:xfrm>
            <a:off x="540000" y="360000"/>
            <a:ext cx="7967362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МОДЕЛИ</a:t>
            </a:r>
            <a:r>
              <a:rPr lang="en-US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ДЛЯ РАСПОЗНАВАНИЯ РЕЧИ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82"/>
          <p:cNvSpPr txBox="1"/>
          <p:nvPr/>
        </p:nvSpPr>
        <p:spPr>
          <a:xfrm>
            <a:off x="539999" y="1038250"/>
            <a:ext cx="7736897" cy="22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Текст не содержит всю информацию для генерации речи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Букв в языке меньше, чем звуков в речи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Нет информации об интонации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Нет информации об эмоциях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Можно сгенерировать голос любого тембра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Можно генерировать речь на разных языках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28" name="Google Shape;728;p82"/>
          <p:cNvSpPr txBox="1"/>
          <p:nvPr/>
        </p:nvSpPr>
        <p:spPr>
          <a:xfrm>
            <a:off x="540000" y="360000"/>
            <a:ext cx="8260766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ГЕНЕРАЦИЯ РЕЧИ ПО ТЕКСТУ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83"/>
          <p:cNvSpPr txBox="1"/>
          <p:nvPr/>
        </p:nvSpPr>
        <p:spPr>
          <a:xfrm>
            <a:off x="540000" y="993525"/>
            <a:ext cx="5232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Подготовка текста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36" name="Google Shape;736;p83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ЭТАПЫ ГЕНЕРАЦИЯ РЕЧИ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737" name="Google Shape;73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796" y="1396183"/>
            <a:ext cx="5563550" cy="3105475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83"/>
          <p:cNvSpPr txBox="1"/>
          <p:nvPr/>
        </p:nvSpPr>
        <p:spPr>
          <a:xfrm>
            <a:off x="2972571" y="4619233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https://cloud.yandex.ru/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84"/>
          <p:cNvSpPr txBox="1"/>
          <p:nvPr/>
        </p:nvSpPr>
        <p:spPr>
          <a:xfrm>
            <a:off x="540000" y="1118750"/>
            <a:ext cx="7382172" cy="248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Выбор голоса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Мужской/женский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Разные персонажи</a:t>
            </a:r>
            <a:r>
              <a:rPr lang="en-US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(Сбер, Джой, Афина)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Выбор интонации (нейтральная, радостная, бодрая, деловая)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Генерация речи на основе подготовленного текста с выбранным голосом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6" name="Google Shape;746;p84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ЭТАПЫ ГЕНЕРАЦИЯ РЕЧИ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85"/>
          <p:cNvSpPr txBox="1"/>
          <p:nvPr/>
        </p:nvSpPr>
        <p:spPr>
          <a:xfrm>
            <a:off x="539999" y="886175"/>
            <a:ext cx="7571359" cy="293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Распознавание речи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Высокое качество на ограниченных задачах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Среднее качество для распознавания произвольной речи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Генерация речи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Сгенерированный голос отличается от голоса человека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○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Сгенерированную речь сложно слушать долго</a:t>
            </a:r>
            <a:endParaRPr sz="18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54" name="Google Shape;754;p85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ТЕКУЩЕЕ СОСТОЯНИЕ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/>
        </p:nvSpPr>
        <p:spPr>
          <a:xfrm>
            <a:off x="539999" y="1378150"/>
            <a:ext cx="7949731" cy="235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Россия обладает </a:t>
            </a:r>
            <a:r>
              <a:rPr lang="ru" sz="1800" b="1">
                <a:latin typeface="Montserrat"/>
                <a:ea typeface="Montserrat"/>
                <a:cs typeface="Montserrat"/>
                <a:sym typeface="Montserrat"/>
              </a:rPr>
              <a:t>существенным потенциалом 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для того, чтобы стать одним из </a:t>
            </a:r>
            <a:r>
              <a:rPr lang="ru" sz="1800" b="1">
                <a:latin typeface="Montserrat"/>
                <a:ea typeface="Montserrat"/>
                <a:cs typeface="Montserrat"/>
                <a:sym typeface="Montserrat"/>
              </a:rPr>
              <a:t>международных лидеров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b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в развитии и использования ИИ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b="1">
                <a:latin typeface="Montserrat"/>
                <a:ea typeface="Montserrat"/>
                <a:cs typeface="Montserrat"/>
                <a:sym typeface="Montserrat"/>
              </a:rPr>
              <a:t>Технологические решения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, разработанные в России на основе ИИ, обладают </a:t>
            </a:r>
            <a:r>
              <a:rPr lang="ru" sz="1800" b="1">
                <a:latin typeface="Montserrat"/>
                <a:ea typeface="Montserrat"/>
                <a:cs typeface="Montserrat"/>
                <a:sym typeface="Montserrat"/>
              </a:rPr>
              <a:t>значительной коммерческой привлекательностью</a:t>
            </a:r>
            <a:r>
              <a:rPr lang="ru" sz="1800">
                <a:latin typeface="Montserrat Medium"/>
                <a:ea typeface="Montserrat Medium"/>
                <a:cs typeface="Montserrat Medium"/>
                <a:sym typeface="Montserrat Medium"/>
              </a:rPr>
              <a:t> и высоким экспортным потенциалом  </a:t>
            </a:r>
            <a:endParaRPr sz="18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63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i="1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539999" y="360000"/>
            <a:ext cx="8236889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НАЦИОНАЛЬНАЯ СТРАТЕГИЯ РАЗВИТИЯ ИИ В РОССИИ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0011279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/>
        </p:nvSpPr>
        <p:spPr>
          <a:xfrm>
            <a:off x="539999" y="839606"/>
            <a:ext cx="8091621" cy="955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9BAC"/>
              </a:buClr>
              <a:buSzPts val="1800"/>
              <a:buFont typeface="Montserrat Medium"/>
              <a:buChar char="●"/>
            </a:pPr>
            <a:r>
              <a:rPr lang="ru" sz="1800" dirty="0">
                <a:latin typeface="Montserrat Medium"/>
                <a:ea typeface="Montserrat Medium"/>
                <a:cs typeface="Montserrat Medium"/>
                <a:sym typeface="Montserrat Medium"/>
              </a:rPr>
              <a:t>Центр развития ИИ в России,  обес­печивает технологическое лидерство нашей страны и компаний­ участников Альянса на глобальном технологическом рынке</a:t>
            </a:r>
            <a:endParaRPr sz="1800" i="1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АЛЬЯНС В СФЕРЕ ИИ</a:t>
            </a:r>
            <a:endParaRPr sz="2600" b="0" i="0" u="none" strike="noStrike" cap="none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 rotWithShape="1">
          <a:blip r:embed="rId3">
            <a:alphaModFix/>
          </a:blip>
          <a:srcRect l="9578" t="17722" r="13177" b="22260"/>
          <a:stretch/>
        </p:blipFill>
        <p:spPr>
          <a:xfrm>
            <a:off x="1901297" y="2267627"/>
            <a:ext cx="1288325" cy="41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1547" y="2292952"/>
            <a:ext cx="1288346" cy="36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1460" y="2254454"/>
            <a:ext cx="1732275" cy="398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66351" y="3044590"/>
            <a:ext cx="1763157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98585" y="2887602"/>
            <a:ext cx="1638350" cy="573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06022" y="2913640"/>
            <a:ext cx="1763149" cy="475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28757" y="3609433"/>
            <a:ext cx="1638349" cy="521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8807" y="3766000"/>
            <a:ext cx="1957939" cy="36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00947" y="3784227"/>
            <a:ext cx="16002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471185" y="2254452"/>
            <a:ext cx="398799" cy="3987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65033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ЯНДЕКС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136" y="652666"/>
            <a:ext cx="2241442" cy="360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2386775" y="4307491"/>
            <a:ext cx="1727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Генерация текста</a:t>
            </a:r>
            <a:endParaRPr sz="1800" dirty="0"/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4562" y="654004"/>
            <a:ext cx="2033475" cy="360941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4686650" y="4307502"/>
            <a:ext cx="2665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Генерация изображений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1777579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ru" sz="2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ЯНДЕКС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8457" y="1198529"/>
            <a:ext cx="3259802" cy="217237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 txBox="1"/>
          <p:nvPr/>
        </p:nvSpPr>
        <p:spPr>
          <a:xfrm>
            <a:off x="1710057" y="3437279"/>
            <a:ext cx="2625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https://taxi.yandex.ru/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1775107" y="3629229"/>
            <a:ext cx="26655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Автомобили </a:t>
            </a:r>
            <a:b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без водителей</a:t>
            </a:r>
            <a:endParaRPr sz="1800"/>
          </a:p>
        </p:txBody>
      </p:sp>
      <p:pic>
        <p:nvPicPr>
          <p:cNvPr id="152" name="Google Shape;152;p23"/>
          <p:cNvPicPr preferRelativeResize="0"/>
          <p:nvPr/>
        </p:nvPicPr>
        <p:blipFill rotWithShape="1">
          <a:blip r:embed="rId4">
            <a:alphaModFix/>
          </a:blip>
          <a:srcRect l="21585" t="14456" r="22159" b="4282"/>
          <a:stretch/>
        </p:blipFill>
        <p:spPr>
          <a:xfrm>
            <a:off x="5389295" y="1198529"/>
            <a:ext cx="1503836" cy="217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 txBox="1"/>
          <p:nvPr/>
        </p:nvSpPr>
        <p:spPr>
          <a:xfrm>
            <a:off x="4828257" y="3390629"/>
            <a:ext cx="2625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https://.yandex.ru/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4975107" y="3629229"/>
            <a:ext cx="23322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Голосовой 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помощник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8740949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ru" sz="2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ЯНДЕКС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1947037" y="4902177"/>
            <a:ext cx="54693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https://cloud.yandex.ru/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2032762" y="3827677"/>
            <a:ext cx="526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Синтез и распознавание речи</a:t>
            </a:r>
            <a:endParaRPr sz="1800" dirty="0"/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1575" y="885457"/>
            <a:ext cx="5800224" cy="2942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39001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ru" sz="2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СБЕР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1890632" y="4044589"/>
            <a:ext cx="2282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Генерация текста</a:t>
            </a:r>
            <a:endParaRPr sz="1800"/>
          </a:p>
        </p:txBody>
      </p:sp>
      <p:sp>
        <p:nvSpPr>
          <p:cNvPr id="173" name="Google Shape;173;p25"/>
          <p:cNvSpPr txBox="1"/>
          <p:nvPr/>
        </p:nvSpPr>
        <p:spPr>
          <a:xfrm>
            <a:off x="4603497" y="4044600"/>
            <a:ext cx="2665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Генерация изображений</a:t>
            </a:r>
            <a:endParaRPr sz="1800"/>
          </a:p>
        </p:txBody>
      </p:sp>
      <p:pic>
        <p:nvPicPr>
          <p:cNvPr id="174" name="Google Shape;1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7135" y="1046840"/>
            <a:ext cx="2688329" cy="268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5"/>
          <p:cNvSpPr txBox="1"/>
          <p:nvPr/>
        </p:nvSpPr>
        <p:spPr>
          <a:xfrm>
            <a:off x="1499084" y="3818039"/>
            <a:ext cx="2938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https://developers.sber.ru/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76" name="Google Shape;17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9084" y="1046839"/>
            <a:ext cx="2938800" cy="268325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/>
          <p:cNvSpPr txBox="1"/>
          <p:nvPr/>
        </p:nvSpPr>
        <p:spPr>
          <a:xfrm>
            <a:off x="4466859" y="3818027"/>
            <a:ext cx="2938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https://fusionbrain.ai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543896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ru" sz="2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СБЕР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2870399" y="3947742"/>
            <a:ext cx="340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Умные устройства с ИИ</a:t>
            </a:r>
            <a:endParaRPr sz="1800"/>
          </a:p>
        </p:txBody>
      </p:sp>
      <p:sp>
        <p:nvSpPr>
          <p:cNvPr id="186" name="Google Shape;186;p26"/>
          <p:cNvSpPr txBox="1"/>
          <p:nvPr/>
        </p:nvSpPr>
        <p:spPr>
          <a:xfrm>
            <a:off x="2870396" y="4872142"/>
            <a:ext cx="3403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https://developers.sber.ru/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87" name="Google Shape;187;p26"/>
          <p:cNvPicPr preferRelativeResize="0"/>
          <p:nvPr/>
        </p:nvPicPr>
        <p:blipFill rotWithShape="1">
          <a:blip r:embed="rId3">
            <a:alphaModFix/>
          </a:blip>
          <a:srcRect l="19174" t="24476" r="24941" b="11715"/>
          <a:stretch/>
        </p:blipFill>
        <p:spPr>
          <a:xfrm>
            <a:off x="2584103" y="922065"/>
            <a:ext cx="3975793" cy="30256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95136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ru" sz="2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СБЕР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1583517" y="3085473"/>
            <a:ext cx="2849400" cy="1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Предсказание пожеланий клиента до его обращения </a:t>
            </a:r>
            <a:b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 поддержку</a:t>
            </a:r>
            <a:endParaRPr sz="1800"/>
          </a:p>
        </p:txBody>
      </p:sp>
      <p:pic>
        <p:nvPicPr>
          <p:cNvPr id="196" name="Google Shape;19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7504" y="1013141"/>
            <a:ext cx="2741450" cy="174290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7"/>
          <p:cNvSpPr txBox="1"/>
          <p:nvPr/>
        </p:nvSpPr>
        <p:spPr>
          <a:xfrm>
            <a:off x="1806704" y="2762373"/>
            <a:ext cx="2403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https://ai-russia.ru/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98" name="Google Shape;19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8167" y="1013148"/>
            <a:ext cx="2741474" cy="174290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7"/>
          <p:cNvSpPr txBox="1"/>
          <p:nvPr/>
        </p:nvSpPr>
        <p:spPr>
          <a:xfrm>
            <a:off x="4468904" y="3085473"/>
            <a:ext cx="3060000" cy="1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Индивидуальная коммуникационная политика для каждого клиента</a:t>
            </a:r>
            <a:endParaRPr sz="1800"/>
          </a:p>
        </p:txBody>
      </p:sp>
      <p:sp>
        <p:nvSpPr>
          <p:cNvPr id="200" name="Google Shape;200;p27"/>
          <p:cNvSpPr txBox="1"/>
          <p:nvPr/>
        </p:nvSpPr>
        <p:spPr>
          <a:xfrm>
            <a:off x="4797379" y="2762373"/>
            <a:ext cx="2403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https://ai-russia.ru/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808410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ru" sz="2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СБЕР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2683372" y="3900684"/>
            <a:ext cx="393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ИИ для здравоохранения</a:t>
            </a:r>
            <a:endParaRPr sz="1800"/>
          </a:p>
        </p:txBody>
      </p:sp>
      <p:sp>
        <p:nvSpPr>
          <p:cNvPr id="209" name="Google Shape;209;p28"/>
          <p:cNvSpPr txBox="1"/>
          <p:nvPr/>
        </p:nvSpPr>
        <p:spPr>
          <a:xfrm>
            <a:off x="2683366" y="4762434"/>
            <a:ext cx="393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https://sbermed.ai/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10" name="Google Shape;21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6555" y="965328"/>
            <a:ext cx="4409325" cy="29353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06291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VK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2452477" y="4893487"/>
            <a:ext cx="4077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https://vk.com/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2307140" y="4431787"/>
            <a:ext cx="431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Рекомендательные системы</a:t>
            </a:r>
            <a:endParaRPr sz="1800"/>
          </a:p>
        </p:txBody>
      </p:sp>
      <p:pic>
        <p:nvPicPr>
          <p:cNvPr id="220" name="Google Shape;22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7140" y="711712"/>
            <a:ext cx="4368278" cy="3720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0623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VK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28" name="Google Shape;228;p30"/>
          <p:cNvSpPr txBox="1"/>
          <p:nvPr/>
        </p:nvSpPr>
        <p:spPr>
          <a:xfrm>
            <a:off x="1597033" y="2953539"/>
            <a:ext cx="2649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https://marusia.vk.com/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9" name="Google Shape;229;p30"/>
          <p:cNvSpPr txBox="1"/>
          <p:nvPr/>
        </p:nvSpPr>
        <p:spPr>
          <a:xfrm>
            <a:off x="1559533" y="3145339"/>
            <a:ext cx="287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Голосовой помощник</a:t>
            </a:r>
            <a:endParaRPr sz="1800"/>
          </a:p>
        </p:txBody>
      </p:sp>
      <p:pic>
        <p:nvPicPr>
          <p:cNvPr id="230" name="Google Shape;230;p30"/>
          <p:cNvPicPr preferRelativeResize="0"/>
          <p:nvPr/>
        </p:nvPicPr>
        <p:blipFill rotWithShape="1">
          <a:blip r:embed="rId3">
            <a:alphaModFix/>
          </a:blip>
          <a:srcRect t="24927" b="26222"/>
          <a:stretch/>
        </p:blipFill>
        <p:spPr>
          <a:xfrm>
            <a:off x="1728233" y="1787702"/>
            <a:ext cx="2386600" cy="116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0"/>
          <p:cNvPicPr preferRelativeResize="0"/>
          <p:nvPr/>
        </p:nvPicPr>
        <p:blipFill rotWithShape="1">
          <a:blip r:embed="rId4">
            <a:alphaModFix/>
          </a:blip>
          <a:srcRect l="46603" t="8199" r="15426" b="8299"/>
          <a:stretch/>
        </p:blipFill>
        <p:spPr>
          <a:xfrm>
            <a:off x="4435233" y="792562"/>
            <a:ext cx="2876539" cy="355837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0"/>
          <p:cNvSpPr txBox="1"/>
          <p:nvPr/>
        </p:nvSpPr>
        <p:spPr>
          <a:xfrm>
            <a:off x="4549008" y="4350939"/>
            <a:ext cx="2649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https://ads.vk.com/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3" name="Google Shape;233;p30"/>
          <p:cNvSpPr txBox="1"/>
          <p:nvPr/>
        </p:nvSpPr>
        <p:spPr>
          <a:xfrm>
            <a:off x="4607483" y="4489539"/>
            <a:ext cx="2649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Генерация текста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7615626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ГАЗПРОМНЕФТЬ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41" name="Google Shape;24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9788" y="1410900"/>
            <a:ext cx="2648924" cy="168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1"/>
          <p:cNvSpPr txBox="1"/>
          <p:nvPr/>
        </p:nvSpPr>
        <p:spPr>
          <a:xfrm>
            <a:off x="1762750" y="3170175"/>
            <a:ext cx="246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https://ai-russia.ru/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3" name="Google Shape;243;p31"/>
          <p:cNvSpPr txBox="1"/>
          <p:nvPr/>
        </p:nvSpPr>
        <p:spPr>
          <a:xfrm>
            <a:off x="1548250" y="3308775"/>
            <a:ext cx="2892000" cy="10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Ускорение разведки месторождений нефти</a:t>
            </a:r>
            <a:endParaRPr sz="1800"/>
          </a:p>
        </p:txBody>
      </p:sp>
      <p:sp>
        <p:nvSpPr>
          <p:cNvPr id="244" name="Google Shape;244;p31"/>
          <p:cNvSpPr txBox="1"/>
          <p:nvPr/>
        </p:nvSpPr>
        <p:spPr>
          <a:xfrm>
            <a:off x="4561800" y="3170175"/>
            <a:ext cx="2649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https://ai-russia.ru/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5" name="Google Shape;245;p31"/>
          <p:cNvSpPr txBox="1"/>
          <p:nvPr/>
        </p:nvSpPr>
        <p:spPr>
          <a:xfrm>
            <a:off x="4565738" y="3349650"/>
            <a:ext cx="2848800" cy="10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Ускорение обработки сейсмических данных</a:t>
            </a:r>
            <a:endParaRPr sz="1800"/>
          </a:p>
        </p:txBody>
      </p:sp>
      <p:pic>
        <p:nvPicPr>
          <p:cNvPr id="246" name="Google Shape;24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6850" y="1410900"/>
            <a:ext cx="2648900" cy="16803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51192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СЕВЕРСТАЛЬ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4" name="Google Shape;254;p32"/>
          <p:cNvSpPr txBox="1"/>
          <p:nvPr/>
        </p:nvSpPr>
        <p:spPr>
          <a:xfrm>
            <a:off x="2268440" y="4855084"/>
            <a:ext cx="4248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https://dzen.ru/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5" name="Google Shape;255;p32"/>
          <p:cNvSpPr txBox="1"/>
          <p:nvPr/>
        </p:nvSpPr>
        <p:spPr>
          <a:xfrm>
            <a:off x="2334615" y="4125884"/>
            <a:ext cx="424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Тележка-робот</a:t>
            </a:r>
            <a:endParaRPr sz="1800"/>
          </a:p>
        </p:txBody>
      </p:sp>
      <p:pic>
        <p:nvPicPr>
          <p:cNvPr id="256" name="Google Shape;25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9465" y="1231334"/>
            <a:ext cx="5779200" cy="28945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33404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УРАЛХИМ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64" name="Google Shape;264;p33"/>
          <p:cNvSpPr txBox="1"/>
          <p:nvPr/>
        </p:nvSpPr>
        <p:spPr>
          <a:xfrm>
            <a:off x="2251983" y="4906098"/>
            <a:ext cx="4248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https://www.uralchem.ru/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5" name="Google Shape;265;p33"/>
          <p:cNvSpPr txBox="1"/>
          <p:nvPr/>
        </p:nvSpPr>
        <p:spPr>
          <a:xfrm>
            <a:off x="2251983" y="3807198"/>
            <a:ext cx="4248900" cy="10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Система видеоаналитики </a:t>
            </a:r>
            <a:b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для контроля внимания операторов</a:t>
            </a:r>
            <a:endParaRPr sz="1800"/>
          </a:p>
        </p:txBody>
      </p:sp>
      <p:pic>
        <p:nvPicPr>
          <p:cNvPr id="266" name="Google Shape;26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9483" y="960048"/>
            <a:ext cx="5068650" cy="2847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27420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СИБУР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4" name="Google Shape;274;p34"/>
          <p:cNvSpPr txBox="1"/>
          <p:nvPr/>
        </p:nvSpPr>
        <p:spPr>
          <a:xfrm>
            <a:off x="2311983" y="4932279"/>
            <a:ext cx="4248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https://sibur.digital/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5" name="Google Shape;275;p34"/>
          <p:cNvSpPr txBox="1"/>
          <p:nvPr/>
        </p:nvSpPr>
        <p:spPr>
          <a:xfrm>
            <a:off x="2311983" y="3866491"/>
            <a:ext cx="42489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Стабилизация технологических режимов на опасных производственных объектах</a:t>
            </a:r>
            <a:endParaRPr sz="1800"/>
          </a:p>
        </p:txBody>
      </p:sp>
      <p:pic>
        <p:nvPicPr>
          <p:cNvPr id="276" name="Google Shape;2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9239" y="834467"/>
            <a:ext cx="4634393" cy="30320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27545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РУСАГРО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84" name="Google Shape;284;p35"/>
          <p:cNvSpPr txBox="1"/>
          <p:nvPr/>
        </p:nvSpPr>
        <p:spPr>
          <a:xfrm>
            <a:off x="2367162" y="4908992"/>
            <a:ext cx="4248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https://osp.ru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5" name="Google Shape;285;p35"/>
          <p:cNvSpPr txBox="1"/>
          <p:nvPr/>
        </p:nvSpPr>
        <p:spPr>
          <a:xfrm>
            <a:off x="2367162" y="4085142"/>
            <a:ext cx="424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Планирование уборки урожая</a:t>
            </a:r>
            <a:endParaRPr sz="1800"/>
          </a:p>
        </p:txBody>
      </p:sp>
      <p:pic>
        <p:nvPicPr>
          <p:cNvPr id="286" name="Google Shape;28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112" y="793817"/>
            <a:ext cx="4936988" cy="3291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65614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"/>
          <p:cNvSpPr txBox="1"/>
          <p:nvPr/>
        </p:nvSpPr>
        <p:spPr>
          <a:xfrm>
            <a:off x="540000" y="360000"/>
            <a:ext cx="5421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ru" sz="2600">
                <a:latin typeface="Montserrat ExtraBold"/>
                <a:ea typeface="Montserrat ExtraBold"/>
                <a:cs typeface="Montserrat ExtraBold"/>
                <a:sym typeface="Montserrat ExtraBold"/>
              </a:rPr>
              <a:t>БИБЛИОТЕКА AI-RUSSIA</a:t>
            </a:r>
            <a:endParaRPr sz="2600" b="0" i="0" u="none" strike="noStrike" cap="non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94" name="Google Shape;294;p36"/>
          <p:cNvSpPr txBox="1"/>
          <p:nvPr/>
        </p:nvSpPr>
        <p:spPr>
          <a:xfrm>
            <a:off x="2564232" y="4818860"/>
            <a:ext cx="4248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99999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Источник: https://ai-russia.ru/</a:t>
            </a:r>
            <a:endParaRPr sz="900">
              <a:solidFill>
                <a:srgbClr val="99999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5" name="Google Shape;295;p36"/>
          <p:cNvSpPr txBox="1"/>
          <p:nvPr/>
        </p:nvSpPr>
        <p:spPr>
          <a:xfrm>
            <a:off x="2564232" y="3962072"/>
            <a:ext cx="4248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Примеры проектов на основе ИИ в различных отраслях</a:t>
            </a:r>
            <a:endParaRPr sz="1800"/>
          </a:p>
        </p:txBody>
      </p:sp>
      <p:pic>
        <p:nvPicPr>
          <p:cNvPr id="296" name="Google Shape;29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9082" y="1181422"/>
            <a:ext cx="5779198" cy="27806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759323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1215</Words>
  <Application>Microsoft Office PowerPoint</Application>
  <PresentationFormat>Экран (16:9)</PresentationFormat>
  <Paragraphs>240</Paragraphs>
  <Slides>64</Slides>
  <Notes>64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64</vt:i4>
      </vt:variant>
    </vt:vector>
  </HeadingPairs>
  <TitlesOfParts>
    <vt:vector size="71" baseType="lpstr">
      <vt:lpstr>Montserrat</vt:lpstr>
      <vt:lpstr>Montserrat Medium</vt:lpstr>
      <vt:lpstr>Arial</vt:lpstr>
      <vt:lpstr>Calibri</vt:lpstr>
      <vt:lpstr>Montserrat Light</vt:lpstr>
      <vt:lpstr>Montserrat ExtraBold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Андрей Созыкин</cp:lastModifiedBy>
  <cp:revision>54</cp:revision>
  <dcterms:modified xsi:type="dcterms:W3CDTF">2026-03-25T14:00:36Z</dcterms:modified>
</cp:coreProperties>
</file>