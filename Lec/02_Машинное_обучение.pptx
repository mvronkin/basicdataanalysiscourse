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1"/>
  </p:notesMasterIdLst>
  <p:sldIdLst>
    <p:sldId id="257" r:id="rId2"/>
    <p:sldId id="395" r:id="rId3"/>
    <p:sldId id="258" r:id="rId4"/>
    <p:sldId id="393" r:id="rId5"/>
    <p:sldId id="394" r:id="rId6"/>
    <p:sldId id="338" r:id="rId7"/>
    <p:sldId id="339" r:id="rId8"/>
    <p:sldId id="341" r:id="rId9"/>
    <p:sldId id="340" r:id="rId10"/>
    <p:sldId id="259" r:id="rId11"/>
    <p:sldId id="342" r:id="rId12"/>
    <p:sldId id="344" r:id="rId13"/>
    <p:sldId id="349" r:id="rId14"/>
    <p:sldId id="350" r:id="rId15"/>
    <p:sldId id="345" r:id="rId16"/>
    <p:sldId id="346" r:id="rId17"/>
    <p:sldId id="347" r:id="rId18"/>
    <p:sldId id="351" r:id="rId19"/>
    <p:sldId id="348" r:id="rId20"/>
    <p:sldId id="352" r:id="rId21"/>
    <p:sldId id="353" r:id="rId22"/>
    <p:sldId id="354" r:id="rId23"/>
    <p:sldId id="356" r:id="rId24"/>
    <p:sldId id="39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7" r:id="rId35"/>
    <p:sldId id="366" r:id="rId36"/>
    <p:sldId id="368" r:id="rId37"/>
    <p:sldId id="369" r:id="rId38"/>
    <p:sldId id="370" r:id="rId39"/>
    <p:sldId id="372" r:id="rId40"/>
    <p:sldId id="374" r:id="rId41"/>
    <p:sldId id="375" r:id="rId42"/>
    <p:sldId id="376" r:id="rId43"/>
    <p:sldId id="377" r:id="rId44"/>
    <p:sldId id="399" r:id="rId45"/>
    <p:sldId id="398" r:id="rId46"/>
    <p:sldId id="378" r:id="rId47"/>
    <p:sldId id="379" r:id="rId48"/>
    <p:sldId id="380" r:id="rId49"/>
    <p:sldId id="382" r:id="rId50"/>
    <p:sldId id="383" r:id="rId51"/>
    <p:sldId id="385" r:id="rId52"/>
    <p:sldId id="386" r:id="rId53"/>
    <p:sldId id="390" r:id="rId54"/>
    <p:sldId id="391" r:id="rId55"/>
    <p:sldId id="392" r:id="rId56"/>
    <p:sldId id="388" r:id="rId57"/>
    <p:sldId id="387" r:id="rId58"/>
    <p:sldId id="389" r:id="rId59"/>
    <p:sldId id="355" r:id="rId6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62"/>
      <p:bold r:id="rId63"/>
      <p:italic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Montserrat Medium" panose="00000600000000000000" pitchFamily="2" charset="-52"/>
      <p:regular r:id="rId70"/>
      <p:bold r:id="rId71"/>
      <p:italic r:id="rId72"/>
      <p:boldItalic r:id="rId73"/>
    </p:embeddedFont>
    <p:embeddedFont>
      <p:font typeface="Roboto Medium" panose="02000000000000000000" pitchFamily="2" charset="0"/>
      <p:regular r:id="rId74"/>
      <p:italic r:id="rId75"/>
    </p:embeddedFont>
    <p:embeddedFont>
      <p:font typeface="Cambria Math" panose="02040503050406030204" pitchFamily="18" charset="0"/>
      <p:regular r:id="rId76"/>
    </p:embeddedFont>
    <p:embeddedFont>
      <p:font typeface="Montserrat ExtraBold" panose="00000900000000000000" pitchFamily="2" charset="-52"/>
      <p:bold r:id="rId77"/>
      <p:boldItalic r:id="rId78"/>
    </p:embeddedFont>
    <p:embeddedFont>
      <p:font typeface="Roboto Light" panose="02000000000000000000" pitchFamily="2" charset="0"/>
      <p:regular r:id="rId79"/>
      <p: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Оля Шпилёва" initials="" lastIdx="9" clrIdx="0"/>
  <p:cmAuthor id="1" name="Андрей Созыкин" initials="АС" lastIdx="1" clrIdx="1">
    <p:extLst>
      <p:ext uri="{19B8F6BF-5375-455C-9EA6-DF929625EA0E}">
        <p15:presenceInfo xmlns:p15="http://schemas.microsoft.com/office/powerpoint/2012/main" userId="26c361895a5d0c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98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Relationship Id="rId61" Type="http://schemas.openxmlformats.org/officeDocument/2006/relationships/notesMaster" Target="notesMasters/notesMaster1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5a0296b8e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g25a0296b8e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A6C7406-B8B6-A385-1C2D-BBCA9BE6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59BDDAAD-40FA-9264-014E-591E5F4FE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99FAA683-0818-4912-1EA4-B97E117FE1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85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C92439D-0C12-7497-ED67-3A0EBDFF5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>
            <a:extLst>
              <a:ext uri="{FF2B5EF4-FFF2-40B4-BE49-F238E27FC236}">
                <a16:creationId xmlns:a16="http://schemas.microsoft.com/office/drawing/2014/main" id="{A216EEA1-EB4F-63EC-98D8-11617DB89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>
            <a:extLst>
              <a:ext uri="{FF2B5EF4-FFF2-40B4-BE49-F238E27FC236}">
                <a16:creationId xmlns:a16="http://schemas.microsoft.com/office/drawing/2014/main" id="{6B0BA382-7A08-241D-AE85-2B01FD6BF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7280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FE29C25-89E5-0FF8-4921-62984F62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AA8F589-2A2F-5E46-5F3B-4A414D1EA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A64DFDF-74FD-329C-C19E-7E7099B9A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0984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B2239F5-BE49-4E49-E43A-41CEE54A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>
            <a:extLst>
              <a:ext uri="{FF2B5EF4-FFF2-40B4-BE49-F238E27FC236}">
                <a16:creationId xmlns:a16="http://schemas.microsoft.com/office/drawing/2014/main" id="{56DF3EC6-3E51-3449-11D8-923A7E45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>
            <a:extLst>
              <a:ext uri="{FF2B5EF4-FFF2-40B4-BE49-F238E27FC236}">
                <a16:creationId xmlns:a16="http://schemas.microsoft.com/office/drawing/2014/main" id="{3942796E-C604-E70A-E44B-37D404A45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2564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087E2E2-197D-81E9-F02A-7FBD38B1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C760502C-AA23-2D10-62F3-430B2127D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0536B86B-8313-769D-EF1B-35000662F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7985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024506C-A314-115C-7E35-41379ACB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2F909A67-D49C-6AA8-56A0-ECA25C601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3967546E-4FC0-896B-90D5-F7C2B1C39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2941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6D1850D-CD87-00E8-AC4F-ADB981E6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6F213BDE-3713-B076-3A5C-C5BF06682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857D1C9-0AB1-0CF6-7C1F-685D50BE0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1703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12C5C15-AFDE-6BF9-E93E-5BEE5B6E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B0F18A-F8BF-1ACC-2781-6CE6F15B3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B4547CE-B5FC-99DC-97FB-9111570AF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3546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1A7E697-DA86-7B84-32FC-A73E9331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7330648-7FBD-3811-1FC5-AB8E25718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442E305-5788-D058-AF4C-D5CAFE9199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4195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2B2DB1F-F8C6-4C6B-5DA1-2C3AE523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72226F90-5251-D475-C3DD-2EF52CE7D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B591261-0129-8BC6-344B-ED715B078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394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B49165E-36D2-1B9F-DDBA-370048C4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9E83A82-BDA3-3C5D-29D5-ADB842D04F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76C0D29-A5E9-CAF0-8E10-19EEE146A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829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33D4597-9E9F-EF66-3161-3DC33432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63E061D-E1CB-F92A-AC4A-D192147A3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C7F9DD74-FCCC-BDA1-9477-37E3D0B826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543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3F6BB48-1D12-7634-F7D1-5478FBF4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5a0296b8ef_0_224:notes">
            <a:extLst>
              <a:ext uri="{FF2B5EF4-FFF2-40B4-BE49-F238E27FC236}">
                <a16:creationId xmlns:a16="http://schemas.microsoft.com/office/drawing/2014/main" id="{726D1B18-FE42-FDFF-7452-B4D29BB62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25a0296b8ef_0_224:notes">
            <a:extLst>
              <a:ext uri="{FF2B5EF4-FFF2-40B4-BE49-F238E27FC236}">
                <a16:creationId xmlns:a16="http://schemas.microsoft.com/office/drawing/2014/main" id="{61A6AE33-96F4-D60C-CEEE-A6F08C127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4579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5B09607-3360-6D62-232F-1FE6BA05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527BDEB8-CFEB-1B8A-6F44-6A15583E5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8A1BE4A-EFAB-6940-420F-E0BF5C75D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1637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C5374CE-88F5-4338-AD5F-C51711DC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C3387340-4ABB-E649-3695-44D811B73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F8B979B-A00D-6B8A-DC62-B6245173A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3169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18009C0-3392-DA05-15FC-5D45012F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39B22C77-D1BF-1826-1607-6C9901117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1605F49-E158-9106-1027-3843CD065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4000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7B59171-3C9A-9984-A7DE-4378BA7D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0B71FED-F643-25CE-7A13-11A216176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00596373-D8E6-3AA6-4A0E-1F7E0739E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27321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FAC4DBF-6817-305B-FB28-04CE4126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0DC3C536-7DC5-7188-6A7B-9D6927827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7197699-7A9D-C2FF-0BFE-F42B5686A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38962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6D3849A-FC0D-1590-E6BF-F009D621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6A92493-F8AE-CC9E-7956-18F7D8DBC4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E06D321-7C04-6566-D5CA-0B53CF3D10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4881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1350EF6-D9ED-F912-A860-7C9F2798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3EAA357-DA19-BE5D-6093-182117B53B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E4DAD41B-FB04-C1D3-12B9-F36808C12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991326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865D162-6F19-F868-EFDA-17D58F7E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1073C51-D637-6C8C-3478-4186A7040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0832E21A-9E2A-8603-11B2-FD2885FAB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5568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1CCEAE0-B8FF-CB15-5D36-1040AB7E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D48A297-F85F-5F31-E0C8-CD0557F42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CCC7DD8E-C0B6-D721-33B5-8720889314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5236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A5C5EDF-4AC7-36B6-587C-0DAC2C5F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78614B9C-9D20-AA51-4BF2-7D168343E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F5CDE9E5-106A-8361-0F98-1C159C79A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8344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EDBDD1F-6EBA-61F3-8DC2-6B5CC9AB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8DE3D620-106C-90A9-BF4C-90C4AA125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BEC0422-C8FA-CD48-24E2-79466A7ED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34001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B0A6BC4-B4FF-E68E-706E-336C5AD3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67428FF-6F0E-CE3D-6EC2-CCBA87D41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929610D-75DF-16C3-ACFD-78AE87538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848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494F9B2-8A1C-E3EC-D3B2-A81709E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25FE3312-B2B2-B6C8-CC5F-725C56D42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B965E21-C989-0768-D5CB-7540556B4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12347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09F5BB3-6073-9329-D47E-86BFBCF5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2C6680B-0F22-ABA2-140E-AC259D4C2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3C39EA6-1A24-01DD-0BE3-B5C0706BE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63398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4D35C63-2567-19A3-F9CE-15B58496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0CEA8CA5-14BC-46DE-F362-7414284DC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C672605B-EFFC-225F-E29F-494259598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195036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72DA2AF-BD49-19FA-E7AF-CF979C14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5AA5BB9-8293-B1F4-4FAC-014EB57AF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7392FA1-FBCE-C15C-100A-1DF2DDA60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9271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4CD0855-7372-E491-D5D3-2D5F91C3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5F32BCD-8DC2-5539-E2DA-EDA1948E3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35428C6B-6602-DA40-9EFE-AD1A76671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22190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15D1320-A6D9-7507-F40C-837E5D34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B7CFFDF-ED68-6EEE-EC0F-246366E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CDC2289-6861-09BF-DE10-637B90304A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4667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A42AD13-E500-3ADD-B2E5-D9C67DD8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ADBAA3C-4C99-C63A-759B-29EE0E0A9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CC439958-3CA9-40BB-1B74-1F01E086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86242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66FD0AE-1D98-A674-8CA9-3ADD7A75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0FD85D7-8017-CFBA-6285-8C36E8AC9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B54BDDC-D321-4C9B-E511-57E347EA7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28548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9A4E523F-646B-9F4D-2722-1149BF7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CFC426C9-C487-48E8-01C8-D13B922BE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A203F70-6AA6-2F17-CC60-CA74C7A83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1457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F3AFD94-685D-BEB3-D8ED-067B33D2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F6FC7CD-5DEA-A776-8A75-CC7FD2896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6DF9C21-D919-B91F-30D7-A7EB93535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11869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F8883C0-C7BC-8FB2-92AE-B9BC8A0D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098872FD-B7AA-49BB-2554-E41CC6085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D21D8891-6EB0-06AB-3EE4-C940660DD9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83853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960B04E-9B82-7E48-963C-9DE647EF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A408EAD-D9F3-36AE-56F1-1823D9465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19A21A9E-50EB-B822-7852-6D6C0B720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25191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43FE2D5-3AFB-B3C0-68AA-2E6E08F61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8D66CCB-38A0-8924-4E86-8891FD773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4974ADB-0D62-B8B2-8A71-D7DEF2C45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6686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FAC5D02-555E-C717-3F5E-0518C68A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F766C63-3B43-5AAD-4BA1-794346A95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94510D20-EBA4-E24E-0CA5-698C6A9F51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24118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1BA1FB6-88E0-51BD-6E76-2AB688FC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92A1CF3F-9ED0-6309-5DFD-FD4475F53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8412BFB5-12AB-B265-0A88-AFD75C1BE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07584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FC2C1EE-400D-549C-110A-B1E400AC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AF2128C-8185-C3DC-DF42-826CDF664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EE329681-B739-A147-3960-1A98908E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91839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8CE61A5-1BBC-BCBA-E4BC-D18C58BE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232984F-9F98-607B-737F-F3979233B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BF0C12DE-CE2A-8676-49CA-66502D5C1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38717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72E8585-1B17-2594-197D-B1A7B036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5F14BC3-1152-30F6-85D5-9BE9E9EBE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F45DACCF-397F-1F4D-8D97-5280820F7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50181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C57C426-5C9B-DA4D-0933-8FEBC6AC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895E54A6-B8BF-77B3-70B1-B78229F03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2E12C66D-93B9-5262-494E-A80929690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15373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6DB2685-E561-7C7C-07D5-69862727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8AD8A2E6-707D-7062-D720-3666D2B61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E0B90E7D-BE6B-B270-0680-6F84FCB3ED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84252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B0BBD3F-612B-A2D8-7810-61721EA5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1F05BEE9-CF8E-61D1-5144-8153672EC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29600FEB-A122-D546-C0DA-9BDB74E1E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03527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DC3E096-937D-CC27-9313-5283ADB7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C47C6F3-7D63-9D9D-8139-F071369CF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775679A7-061E-EF73-59B0-8969DEE6D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16461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50ACDA4-B560-09C0-4720-55837793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42896499-7031-BDD9-742E-404DD24CB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8018FDC-2198-2A33-4586-429A17F1C1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57777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3353807-8C84-B940-96BA-650CCFDF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3A1A6A3-4082-CF7E-4FD9-04678D354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9F99C96A-D108-74B0-F311-BBBCD9AEB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71325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530FA68-F15D-E491-F14E-2C6F1DB5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6D0674C3-4986-194E-E158-0EB7FAD006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4B880F7B-30C5-3C3E-835B-106E640EF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68930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3DABD2F-18A8-E3C2-D469-0004245D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F313CF10-F518-418C-5DA2-702234913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BC92A46E-890B-0D9F-D310-135D619B5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0253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D30E94B-4038-35F4-4069-C846EFEC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DCA22188-ACEF-D13E-FE29-0178DCC92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99A1F3F4-B513-5372-9439-F7DA2D861D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76732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E1299E2-BB9F-852C-EE44-93F822B7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14FD52B-E52E-5C45-83E7-8FB0C5880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0E088F5-E641-0E89-6A20-2A8530FC5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45391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0C74664-F80B-DE6D-94B1-0D3AC66F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8D3BAA58-2B64-1723-F425-5CEE17D95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F44E4051-1DA9-DC0E-01D3-369979271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8292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8BE643D-6F9E-F0C1-515D-441B5121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ABF3A217-D114-4FD0-AD9A-4CD08CC7F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6404BABA-B5C8-A9FC-A10F-62F197BFC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59863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EA70515-95E6-1CE8-A1F9-C5CA92C2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a0296b8ef_0_231:notes">
            <a:extLst>
              <a:ext uri="{FF2B5EF4-FFF2-40B4-BE49-F238E27FC236}">
                <a16:creationId xmlns:a16="http://schemas.microsoft.com/office/drawing/2014/main" id="{B3F4B033-FAAF-CDAD-9654-7C764C118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5a0296b8ef_0_231:notes">
            <a:extLst>
              <a:ext uri="{FF2B5EF4-FFF2-40B4-BE49-F238E27FC236}">
                <a16:creationId xmlns:a16="http://schemas.microsoft.com/office/drawing/2014/main" id="{A3CFA6E8-994E-54E4-4C74-42E01D4C4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321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rxiv.org/abs/1602.04938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540000" y="1341650"/>
            <a:ext cx="6032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</a:t>
            </a:r>
            <a:endParaRPr sz="1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0000" y="2080538"/>
            <a:ext cx="8222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40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1E2515D-4FE2-0D6E-12A8-93D570D9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68E9CBB7-8380-060F-082A-6A471467C801}"/>
              </a:ext>
            </a:extLst>
          </p:cNvPr>
          <p:cNvSpPr txBox="1"/>
          <p:nvPr/>
        </p:nvSpPr>
        <p:spPr>
          <a:xfrm>
            <a:off x="539999" y="1150807"/>
            <a:ext cx="7539829" cy="223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Символьные вычисления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Логический подход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Агентно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-ориентированный подход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Представление и использование знаний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F957FAE-19CE-ECA1-6446-D3B7D74EDB2D}"/>
              </a:ext>
            </a:extLst>
          </p:cNvPr>
          <p:cNvSpPr txBox="1"/>
          <p:nvPr/>
        </p:nvSpPr>
        <p:spPr>
          <a:xfrm>
            <a:off x="539999" y="360000"/>
            <a:ext cx="8469321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Методы реализации искусственного интеллекта</a:t>
            </a:r>
          </a:p>
        </p:txBody>
      </p:sp>
    </p:spTree>
    <p:extLst>
      <p:ext uri="{BB962C8B-B14F-4D97-AF65-F5344CB8AC3E}">
        <p14:creationId xmlns:p14="http://schemas.microsoft.com/office/powerpoint/2010/main" val="336182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" name="Google Shape;397;g1407097a378_0_560">
            <a:extLst>
              <a:ext uri="{FF2B5EF4-FFF2-40B4-BE49-F238E27FC236}">
                <a16:creationId xmlns:a16="http://schemas.microsoft.com/office/drawing/2014/main" id="{A83718D1-F5E8-1806-CD29-03330431990B}"/>
              </a:ext>
            </a:extLst>
          </p:cNvPr>
          <p:cNvSpPr txBox="1">
            <a:spLocks/>
          </p:cNvSpPr>
          <p:nvPr/>
        </p:nvSpPr>
        <p:spPr>
          <a:xfrm>
            <a:off x="655923" y="3897873"/>
            <a:ext cx="2057400" cy="76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buSzPts val="2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Montserrat Medium"/>
                <a:sym typeface="Roboto"/>
              </a:rPr>
              <a:t>Артур Сэмюэл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buSzPts val="2800"/>
              <a:buFont typeface="Arial"/>
              <a:buNone/>
            </a:pPr>
            <a:r>
              <a:rPr lang="ru-RU" dirty="0">
                <a:solidFill>
                  <a:srgbClr val="000000"/>
                </a:solidFill>
                <a:latin typeface="Montserrat Medium"/>
                <a:sym typeface="Roboto Light"/>
              </a:rPr>
              <a:t>(1901 - 1990)</a:t>
            </a:r>
          </a:p>
        </p:txBody>
      </p:sp>
      <p:sp>
        <p:nvSpPr>
          <p:cNvPr id="3" name="Google Shape;398;g1407097a378_0_560">
            <a:extLst>
              <a:ext uri="{FF2B5EF4-FFF2-40B4-BE49-F238E27FC236}">
                <a16:creationId xmlns:a16="http://schemas.microsoft.com/office/drawing/2014/main" id="{950ECDEE-4F16-454C-E2E1-E18FBB9AA7D6}"/>
              </a:ext>
            </a:extLst>
          </p:cNvPr>
          <p:cNvSpPr txBox="1"/>
          <p:nvPr/>
        </p:nvSpPr>
        <p:spPr>
          <a:xfrm>
            <a:off x="2841942" y="1216584"/>
            <a:ext cx="5145204" cy="231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dirty="0">
                <a:latin typeface="Montserrat Medium"/>
                <a:sym typeface="Roboto Medium"/>
              </a:rPr>
              <a:t>«</a:t>
            </a:r>
            <a:r>
              <a:rPr lang="ru-RU" sz="1800" dirty="0">
                <a:latin typeface="Montserrat Medium"/>
                <a:sym typeface="Roboto Light"/>
              </a:rPr>
              <a:t>Машинное обучение – область знаний, которая дает возможность компьютерам обучаться без необходимости</a:t>
            </a:r>
            <a:r>
              <a:rPr lang="en-US" sz="1800" dirty="0">
                <a:latin typeface="Montserrat Medium"/>
                <a:sym typeface="Roboto Light"/>
              </a:rPr>
              <a:t> </a:t>
            </a:r>
            <a:r>
              <a:rPr lang="ru-RU" sz="1800" dirty="0">
                <a:latin typeface="Montserrat Medium"/>
                <a:sym typeface="Roboto Light"/>
              </a:rPr>
              <a:t>непосредственного программирования</a:t>
            </a:r>
            <a:r>
              <a:rPr lang="ru-RU" sz="1800" dirty="0">
                <a:latin typeface="Montserrat Medium"/>
                <a:sym typeface="Roboto Medium"/>
              </a:rPr>
              <a:t>»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1" dirty="0">
                <a:latin typeface="Montserrat Medium"/>
                <a:sym typeface="Roboto Medium"/>
              </a:rPr>
              <a:t>1959</a:t>
            </a:r>
            <a:endParaRPr sz="1800" b="1" dirty="0">
              <a:latin typeface="Montserrat Medium"/>
              <a:sym typeface="Roboto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399;g1407097a378_0_560">
            <a:extLst>
              <a:ext uri="{FF2B5EF4-FFF2-40B4-BE49-F238E27FC236}">
                <a16:creationId xmlns:a16="http://schemas.microsoft.com/office/drawing/2014/main" id="{54B26025-8847-A3CB-02F4-7D5E44EE58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23" y="975718"/>
            <a:ext cx="20574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00;g1407097a378_0_560">
            <a:extLst>
              <a:ext uri="{FF2B5EF4-FFF2-40B4-BE49-F238E27FC236}">
                <a16:creationId xmlns:a16="http://schemas.microsoft.com/office/drawing/2014/main" id="{9DA0FFEA-8790-C4C9-3D24-40075003B4F3}"/>
              </a:ext>
            </a:extLst>
          </p:cNvPr>
          <p:cNvSpPr txBox="1"/>
          <p:nvPr/>
        </p:nvSpPr>
        <p:spPr>
          <a:xfrm>
            <a:off x="655923" y="3512973"/>
            <a:ext cx="2057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 dirty="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-RU" sz="1300" dirty="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wikipedia.org</a:t>
            </a:r>
            <a:endParaRPr sz="1300" b="0" i="0" u="none" strike="noStrike" cap="none" dirty="0">
              <a:solidFill>
                <a:srgbClr val="EFEF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F939A3-9B82-FCFC-BB74-018B1368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5ECF7D2C-B708-B005-3A30-030B3B614B4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 и программирование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926FFFF-C374-8170-445A-8FF858C2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890" y="820284"/>
            <a:ext cx="5784420" cy="396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5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C45B9BE-549C-6B0B-54C8-819177AA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0010F27D-8C3B-CB43-0B6F-72E0C0621993}"/>
              </a:ext>
            </a:extLst>
          </p:cNvPr>
          <p:cNvSpPr txBox="1"/>
          <p:nvPr/>
        </p:nvSpPr>
        <p:spPr>
          <a:xfrm>
            <a:off x="539999" y="1150807"/>
            <a:ext cx="7539829" cy="344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Автомобили без водителя 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Программирование: описание всех правил действий водителя в различных ситуациях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обучение: обучение на видеозаписях вождений автомобиля человеком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Игра в шахматы или Go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Программирование: описание всех правил игры и действий в различных ситуациях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обучение: два компьютера играют друг с другом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DE6F20C-B1D7-808C-1B51-6CAC5F3CAA4B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77618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4B8ACBB-8D46-13A2-7BA5-C889A66C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959422BC-0B33-8E70-F7D7-2C9D51095D2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Google Shape;409;g1407097a378_0_512">
            <a:extLst>
              <a:ext uri="{FF2B5EF4-FFF2-40B4-BE49-F238E27FC236}">
                <a16:creationId xmlns:a16="http://schemas.microsoft.com/office/drawing/2014/main" id="{6194EA9D-827B-E764-E4FF-DC96EFF534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993" y="2419820"/>
            <a:ext cx="1371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10;g1407097a378_0_512">
            <a:extLst>
              <a:ext uri="{FF2B5EF4-FFF2-40B4-BE49-F238E27FC236}">
                <a16:creationId xmlns:a16="http://schemas.microsoft.com/office/drawing/2014/main" id="{90DFB99C-DCBA-01B7-3BB9-1765037B9EE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531" y="2485508"/>
            <a:ext cx="1242025" cy="12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11;g1407097a378_0_512">
            <a:extLst>
              <a:ext uri="{FF2B5EF4-FFF2-40B4-BE49-F238E27FC236}">
                <a16:creationId xmlns:a16="http://schemas.microsoft.com/office/drawing/2014/main" id="{E14B9117-C9C9-7316-CBCE-6A49A695E132}"/>
              </a:ext>
            </a:extLst>
          </p:cNvPr>
          <p:cNvSpPr txBox="1"/>
          <p:nvPr/>
        </p:nvSpPr>
        <p:spPr>
          <a:xfrm>
            <a:off x="5101993" y="3741582"/>
            <a:ext cx="1487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9" name="Google Shape;412;g1407097a378_0_512">
            <a:extLst>
              <a:ext uri="{FF2B5EF4-FFF2-40B4-BE49-F238E27FC236}">
                <a16:creationId xmlns:a16="http://schemas.microsoft.com/office/drawing/2014/main" id="{215831F9-4DCD-607C-7AE0-2D04C0782D48}"/>
              </a:ext>
            </a:extLst>
          </p:cNvPr>
          <p:cNvSpPr txBox="1"/>
          <p:nvPr/>
        </p:nvSpPr>
        <p:spPr>
          <a:xfrm>
            <a:off x="1427493" y="3810482"/>
            <a:ext cx="26706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Ожидаемые выходные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10" name="Google Shape;413;g1407097a378_0_512">
            <a:extLst>
              <a:ext uri="{FF2B5EF4-FFF2-40B4-BE49-F238E27FC236}">
                <a16:creationId xmlns:a16="http://schemas.microsoft.com/office/drawing/2014/main" id="{24FD5BFF-3159-2496-A1D1-1C64F710694E}"/>
              </a:ext>
            </a:extLst>
          </p:cNvPr>
          <p:cNvSpPr txBox="1"/>
          <p:nvPr/>
        </p:nvSpPr>
        <p:spPr>
          <a:xfrm>
            <a:off x="1848943" y="1077682"/>
            <a:ext cx="4805100" cy="11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у = </a:t>
            </a:r>
            <a:r>
              <a:rPr lang="ru-RU" sz="5300" i="1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f</a:t>
            </a: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(x)</a:t>
            </a:r>
            <a:endParaRPr sz="4200" dirty="0"/>
          </a:p>
        </p:txBody>
      </p:sp>
      <p:cxnSp>
        <p:nvCxnSpPr>
          <p:cNvPr id="11" name="Google Shape;414;g1407097a378_0_512">
            <a:extLst>
              <a:ext uri="{FF2B5EF4-FFF2-40B4-BE49-F238E27FC236}">
                <a16:creationId xmlns:a16="http://schemas.microsoft.com/office/drawing/2014/main" id="{8FB173F1-1B85-16B5-B707-9EBCAEF30E71}"/>
              </a:ext>
            </a:extLst>
          </p:cNvPr>
          <p:cNvCxnSpPr/>
          <p:nvPr/>
        </p:nvCxnSpPr>
        <p:spPr>
          <a:xfrm rot="10800000" flipH="1">
            <a:off x="3090568" y="2094815"/>
            <a:ext cx="182700" cy="354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415;g1407097a378_0_512">
            <a:extLst>
              <a:ext uri="{FF2B5EF4-FFF2-40B4-BE49-F238E27FC236}">
                <a16:creationId xmlns:a16="http://schemas.microsoft.com/office/drawing/2014/main" id="{29126B28-2B6C-D009-8148-7997E84E3C95}"/>
              </a:ext>
            </a:extLst>
          </p:cNvPr>
          <p:cNvCxnSpPr/>
          <p:nvPr/>
        </p:nvCxnSpPr>
        <p:spPr>
          <a:xfrm rot="10800000">
            <a:off x="4880293" y="2003183"/>
            <a:ext cx="739500" cy="58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7962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6046010-5492-C074-6389-EF2C02B6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691B5D78-00C5-AA0C-EB2D-4904A5A03C09}"/>
              </a:ext>
            </a:extLst>
          </p:cNvPr>
          <p:cNvSpPr txBox="1"/>
          <p:nvPr/>
        </p:nvSpPr>
        <p:spPr>
          <a:xfrm>
            <a:off x="539999" y="1150807"/>
            <a:ext cx="8119091" cy="268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Объект</a:t>
            </a:r>
            <a:endParaRPr lang="en-US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x = {x</a:t>
            </a:r>
            <a:r>
              <a:rPr lang="en-US" sz="18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8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…, </a:t>
            </a:r>
            <a:r>
              <a:rPr lang="en-US" sz="18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8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},</a:t>
            </a:r>
            <a:endParaRPr lang="ru-RU" sz="18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где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8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i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признак объекта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(feature)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target)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 lvl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endParaRPr lang="ru-RU" sz="18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4C9439AD-BDC8-225F-35B5-C70904FC4C8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0824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8BF5961-CA2D-384A-5972-8B20CF7A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74DBB4A4-2C52-EB69-89FE-8B073A67CAB1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3574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Объект</a:t>
                </a:r>
                <a:endParaRPr lang="en-US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114300" lvl="0" algn="ctr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</a:pP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 = {x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1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2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…, </a:t>
                </a:r>
                <a:r>
                  <a:rPr lang="en-US" sz="1800" i="1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</a:t>
                </a:r>
                <a:r>
                  <a:rPr lang="en-US" sz="1800" i="1" baseline="-25000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n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},</a:t>
                </a:r>
                <a:endParaRPr lang="ru-RU" sz="1800" i="1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114300" lvl="0" algn="ctr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</a:pPr>
                <a:r>
                  <a:rPr lang="ru-RU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где 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 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признак объекта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(feature)</a:t>
                </a: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Целевая переменная (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target)</a:t>
                </a: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114300" lvl="0" algn="ctr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</a:pP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y</a:t>
                </a:r>
                <a:endParaRPr lang="ru-RU" sz="1800" i="1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Набор данных</a:t>
                </a:r>
              </a:p>
              <a:p>
                <a:pPr marL="114300" lvl="0" algn="ctr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𝕏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 множество объектов</a:t>
                </a:r>
              </a:p>
              <a:p>
                <a:pPr marL="114300" lvl="0" algn="ctr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 множество значений целевой переменной</a:t>
                </a: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74DBB4A4-2C52-EB69-89FE-8B073A67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3574312"/>
              </a:xfrm>
              <a:prstGeom prst="rect">
                <a:avLst/>
              </a:prstGeom>
              <a:blipFill>
                <a:blip r:embed="rId3"/>
                <a:stretch>
                  <a:fillRect l="-225" b="-25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15A6603-16F8-FA30-A4C4-9B90125CDF5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35674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7C0087C-A432-6ED4-445E-279BC517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21465FE-6914-9BCD-09D6-82BDDAF2429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6A2C45-C6DB-34A3-F1B7-4C5BB993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1490"/>
            <a:ext cx="9144000" cy="35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1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539999" y="1150807"/>
            <a:ext cx="8119091" cy="325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с учителем (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Supervised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Learning)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Размеченный набор данных: данные и правильные ответы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без учителя (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Unsupervised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Learning)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Неразмеченный набор данных: данные без правильных ответов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с подкреплением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Reinforcement Learning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Агент действует в среде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environment)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от которой получает сигналы (положительное или отрицательное подкрепление)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06163F9E-062F-C0EB-B9E0-9C705F2CCC0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Машинное обучение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422B245-F933-73A0-97A3-ED71FD26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0F50D00B-5581-52AB-905F-BEC02893D39C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24863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ℝ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ontserrat Medium"/>
                            <a:sym typeface="Montserrat Medium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регрессия</a:t>
                </a: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предсказание стоимости автомобиля, продолжительности поездки на каршеринге, количество посетителей ресторана, погода  </a:t>
                </a:r>
              </a:p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=1, …,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𝐾</m:t>
                    </m:r>
                  </m:oMath>
                </a14:m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классификация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распознавание объектов на изображениях, определение тематики текста</a:t>
                </a: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0F50D00B-5581-52AB-905F-BEC02893D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2486322"/>
              </a:xfrm>
              <a:prstGeom prst="rect">
                <a:avLst/>
              </a:prstGeom>
              <a:blipFill>
                <a:blip r:embed="rId3"/>
                <a:stretch>
                  <a:fillRect l="-225" r="-2329"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48DF4057-7180-6A33-7333-EB163092BF7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 машинного обучения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6266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1D72499-73F4-FE22-08B9-7B4C67BB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B5B2CD3B-F133-2A9C-F005-8DC53E763D44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3570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ℝ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 </m:t>
                    </m:r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ontserrat Medium"/>
                            <a:sym typeface="Montserrat Medium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регрессия</a:t>
                </a: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предсказание стоимости автомобиля, продолжительности поездки на каршеринге, количество посетителей ресторана, погода  </a:t>
                </a:r>
              </a:p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=1, …,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𝐾</m:t>
                    </m:r>
                  </m:oMath>
                </a14:m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классификация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распознавание объектов на изображениях, определение тематики текста</a:t>
                </a:r>
              </a:p>
              <a:p>
                <a:pPr marL="457200" indent="-342900">
                  <a:lnSpc>
                    <a:spcPct val="115000"/>
                  </a:lnSpc>
                  <a:spcBef>
                    <a:spcPts val="1000"/>
                  </a:spcBef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=0, 1</m:t>
                    </m:r>
                  </m:oMath>
                </a14:m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бинарная классификация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кликнет пользователь по объявлению или нет, определение тональности текста</a:t>
                </a: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B5B2CD3B-F133-2A9C-F005-8DC53E763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3570208"/>
              </a:xfrm>
              <a:prstGeom prst="rect">
                <a:avLst/>
              </a:prstGeom>
              <a:blipFill>
                <a:blip r:embed="rId3"/>
                <a:stretch>
                  <a:fillRect l="-225" r="-2329" b="-25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EBFAA6E2-D401-FBD4-D42A-2E638EE3B167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 машинного обучения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6761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EE01EDA-C7E2-7F06-E5AA-84C5519D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9C6A58F3-7F91-DD2D-E146-1CC93488B819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 регрессии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03B2A3-A676-2104-3FB6-E98306B5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98"/>
          <a:stretch/>
        </p:blipFill>
        <p:spPr>
          <a:xfrm>
            <a:off x="2787261" y="1294228"/>
            <a:ext cx="3569477" cy="2874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621F2-CD90-2BE1-550A-67B7D5CAC90F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1801740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A2E4C5E-4A7F-8A3C-402D-F0923B7D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52DAD73-3B98-5EA8-2CBA-8C2578D6110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 классификации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E9C610-8676-1BCA-369B-BC221E92CF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4" r="12455"/>
          <a:stretch/>
        </p:blipFill>
        <p:spPr>
          <a:xfrm>
            <a:off x="857693" y="859008"/>
            <a:ext cx="7428614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FACBD4-8C6B-9AE5-251A-F965ACD11313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243362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DA26B0B-73C7-59DE-FD57-7D6B08D1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1E8793E4-5597-F871-91CA-59C32D94FAB1}"/>
              </a:ext>
            </a:extLst>
          </p:cNvPr>
          <p:cNvSpPr txBox="1"/>
          <p:nvPr/>
        </p:nvSpPr>
        <p:spPr>
          <a:xfrm>
            <a:off x="539999" y="1150807"/>
            <a:ext cx="8119091" cy="3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Кластеризация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Разделение клиентов на несколько групп  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Рекомендации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Поиск подходящих товаров/фильмов/музыки  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Ранжирование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Упорядочивание списка ссылок на страницы при поиске, списка рекомендованных товаров/фильмов/музыки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Обнаружение аномалий 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Мошеннические транзакции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B604450-5A00-8F60-56EC-83C8231AA88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Постановка задачи машинного обучения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52177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AD058FE-4899-FD89-6FEB-842629FE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3792FA46-2640-1786-CC11-C5F88E02F65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Как подобрать функцию </a:t>
            </a:r>
            <a:r>
              <a:rPr lang="en-US" sz="2600" i="1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f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?</a:t>
            </a:r>
            <a:endParaRPr sz="2600" b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Google Shape;409;g1407097a378_0_512">
            <a:extLst>
              <a:ext uri="{FF2B5EF4-FFF2-40B4-BE49-F238E27FC236}">
                <a16:creationId xmlns:a16="http://schemas.microsoft.com/office/drawing/2014/main" id="{BD0FC8CD-E1C5-5B49-E372-8ADF51B00D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6993" y="2419820"/>
            <a:ext cx="13716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10;g1407097a378_0_512">
            <a:extLst>
              <a:ext uri="{FF2B5EF4-FFF2-40B4-BE49-F238E27FC236}">
                <a16:creationId xmlns:a16="http://schemas.microsoft.com/office/drawing/2014/main" id="{64B5B844-8F3C-CA0E-2EFA-5F3F56F457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531" y="2485508"/>
            <a:ext cx="1242025" cy="12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11;g1407097a378_0_512">
            <a:extLst>
              <a:ext uri="{FF2B5EF4-FFF2-40B4-BE49-F238E27FC236}">
                <a16:creationId xmlns:a16="http://schemas.microsoft.com/office/drawing/2014/main" id="{B337CED6-5E35-607C-9559-83123B26AFCA}"/>
              </a:ext>
            </a:extLst>
          </p:cNvPr>
          <p:cNvSpPr txBox="1"/>
          <p:nvPr/>
        </p:nvSpPr>
        <p:spPr>
          <a:xfrm>
            <a:off x="5101993" y="3741582"/>
            <a:ext cx="14871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9" name="Google Shape;412;g1407097a378_0_512">
            <a:extLst>
              <a:ext uri="{FF2B5EF4-FFF2-40B4-BE49-F238E27FC236}">
                <a16:creationId xmlns:a16="http://schemas.microsoft.com/office/drawing/2014/main" id="{4EC556A3-C3A5-5F79-784D-BEE845549E61}"/>
              </a:ext>
            </a:extLst>
          </p:cNvPr>
          <p:cNvSpPr txBox="1"/>
          <p:nvPr/>
        </p:nvSpPr>
        <p:spPr>
          <a:xfrm>
            <a:off x="1427493" y="3810482"/>
            <a:ext cx="26706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Ожидаемые выходные </a:t>
            </a:r>
            <a:endParaRPr sz="1700">
              <a:solidFill>
                <a:srgbClr val="252626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rgbClr val="252626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данные</a:t>
            </a:r>
            <a:endParaRPr sz="600"/>
          </a:p>
        </p:txBody>
      </p:sp>
      <p:sp>
        <p:nvSpPr>
          <p:cNvPr id="10" name="Google Shape;413;g1407097a378_0_512">
            <a:extLst>
              <a:ext uri="{FF2B5EF4-FFF2-40B4-BE49-F238E27FC236}">
                <a16:creationId xmlns:a16="http://schemas.microsoft.com/office/drawing/2014/main" id="{AD4EEA81-23BA-F7DF-E4DA-61FF13622342}"/>
              </a:ext>
            </a:extLst>
          </p:cNvPr>
          <p:cNvSpPr txBox="1"/>
          <p:nvPr/>
        </p:nvSpPr>
        <p:spPr>
          <a:xfrm>
            <a:off x="1848943" y="1077682"/>
            <a:ext cx="4805100" cy="11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у = </a:t>
            </a:r>
            <a:r>
              <a:rPr lang="ru-RU" sz="5300" i="1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f</a:t>
            </a:r>
            <a:r>
              <a:rPr lang="ru-RU" sz="5300" dirty="0">
                <a:solidFill>
                  <a:srgbClr val="252626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(x)</a:t>
            </a:r>
            <a:endParaRPr sz="4200" dirty="0"/>
          </a:p>
        </p:txBody>
      </p:sp>
      <p:cxnSp>
        <p:nvCxnSpPr>
          <p:cNvPr id="11" name="Google Shape;414;g1407097a378_0_512">
            <a:extLst>
              <a:ext uri="{FF2B5EF4-FFF2-40B4-BE49-F238E27FC236}">
                <a16:creationId xmlns:a16="http://schemas.microsoft.com/office/drawing/2014/main" id="{49C2539C-4E7D-0371-FB09-F62F50D00624}"/>
              </a:ext>
            </a:extLst>
          </p:cNvPr>
          <p:cNvCxnSpPr/>
          <p:nvPr/>
        </p:nvCxnSpPr>
        <p:spPr>
          <a:xfrm rot="10800000" flipH="1">
            <a:off x="3090568" y="2094815"/>
            <a:ext cx="182700" cy="354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415;g1407097a378_0_512">
            <a:extLst>
              <a:ext uri="{FF2B5EF4-FFF2-40B4-BE49-F238E27FC236}">
                <a16:creationId xmlns:a16="http://schemas.microsoft.com/office/drawing/2014/main" id="{6F248ACC-761A-40AA-56F5-EBACA09BA3AA}"/>
              </a:ext>
            </a:extLst>
          </p:cNvPr>
          <p:cNvCxnSpPr/>
          <p:nvPr/>
        </p:nvCxnSpPr>
        <p:spPr>
          <a:xfrm rot="10800000">
            <a:off x="4880293" y="2003183"/>
            <a:ext cx="739500" cy="58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88285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BD3EAF7-710D-CE6D-99C7-14A53653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0E1A655-A74E-8739-B007-EA93957EB20A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Параметрическое семейство функций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19E9-875E-BF05-7080-BEC2CD80E3E7}"/>
                  </a:ext>
                </a:extLst>
              </p:cNvPr>
              <p:cNvSpPr txBox="1"/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D19E9-875E-BF05-7080-BEC2CD80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DE60FCA-444B-8978-F914-2AE7B4A3438B}"/>
              </a:ext>
            </a:extLst>
          </p:cNvPr>
          <p:cNvSpPr txBox="1"/>
          <p:nvPr/>
        </p:nvSpPr>
        <p:spPr>
          <a:xfrm>
            <a:off x="1537853" y="3368183"/>
            <a:ext cx="5957455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параметры, которые определяются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2757320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CD7ED78-6232-A773-13A2-2BEA3792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174A001E-4014-8CF5-28F6-9833A61925A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Линейные модели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C4E47C-F798-2CEE-BA74-EBF6E4836479}"/>
                  </a:ext>
                </a:extLst>
              </p:cNvPr>
              <p:cNvSpPr txBox="1"/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C4E47C-F798-2CEE-BA74-EBF6E483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F4E002-866D-234E-7E4D-1FB7DCB17F3A}"/>
              </a:ext>
            </a:extLst>
          </p:cNvPr>
          <p:cNvSpPr txBox="1"/>
          <p:nvPr/>
        </p:nvSpPr>
        <p:spPr>
          <a:xfrm>
            <a:off x="693791" y="3220473"/>
            <a:ext cx="7738838" cy="1178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признаков (объект из набора данных)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параметров модели (веса)</a:t>
            </a:r>
            <a:endParaRPr lang="ru-RU" sz="16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891346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7C17370-623C-BA87-A240-18CE3009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881D9CA2-BF4E-7909-6D9E-4FDBE94095C9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модели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1F7EEA-41F8-4CFD-D4B3-5F90B6F36421}"/>
                  </a:ext>
                </a:extLst>
              </p:cNvPr>
              <p:cNvSpPr txBox="1"/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1F7EEA-41F8-4CFD-D4B3-5F90B6F36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74" y="2107048"/>
                <a:ext cx="316576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C7A2220-A3E7-848D-A3A8-0ACB11614817}"/>
              </a:ext>
            </a:extLst>
          </p:cNvPr>
          <p:cNvSpPr txBox="1"/>
          <p:nvPr/>
        </p:nvSpPr>
        <p:spPr>
          <a:xfrm>
            <a:off x="1537853" y="3368183"/>
            <a:ext cx="5957455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параметры, которые определяются по данным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модели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– определение параметров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 основе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526435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80F711E-CF61-D5B1-5054-073117E7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4E28F8B-4EFC-E1C4-452A-86FB56131CD9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линейной модели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5F2ECF-F8DC-1D58-BD16-6B96040A1E9C}"/>
                  </a:ext>
                </a:extLst>
              </p:cNvPr>
              <p:cNvSpPr txBox="1"/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5F2ECF-F8DC-1D58-BD16-6B96040A1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2107048"/>
                <a:ext cx="773883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92F6971-4F4E-A237-CA3E-84761EE4A7D1}"/>
              </a:ext>
            </a:extLst>
          </p:cNvPr>
          <p:cNvSpPr txBox="1"/>
          <p:nvPr/>
        </p:nvSpPr>
        <p:spPr>
          <a:xfrm>
            <a:off x="693791" y="3220473"/>
            <a:ext cx="7738838" cy="70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линейной модели – определение вектора параметров модели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8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8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8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8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lang="ru-RU" sz="18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2158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4FCCC53-F553-AC90-9CE7-F1ED6E6C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C5FDE83-BC9D-CCF4-90ED-5B84CEFFF2E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Метрические методы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AA7F3C-9686-2480-7F17-672BA293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000"/>
          <a:stretch/>
        </p:blipFill>
        <p:spPr>
          <a:xfrm>
            <a:off x="426720" y="1181862"/>
            <a:ext cx="8412480" cy="27797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6C43A8-2A99-8B9D-D4BE-70E2E7636C2E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https://education.yandex.ru/handbook/ml/article/metricheskiye-metody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6667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1E95606-B16C-2183-3F4D-E0AFE2E5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65068ED8-49A6-6CDD-9E17-A3C376CE653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Обучение на основе модели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BBAE31-5B0E-6C70-CC35-061C1024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4" r="12455"/>
          <a:stretch/>
        </p:blipFill>
        <p:spPr>
          <a:xfrm>
            <a:off x="857693" y="859008"/>
            <a:ext cx="7428614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5EE7F1-857E-393D-1439-BCBD62B2D685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4242751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2C218D9-F1EF-BADB-F051-D0A73B36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544BD759-C3DD-E9A2-CAF6-DF819589DBF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Какая модель лучше?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1BAFD-4BAD-C2D5-E39F-DDA455493172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C43AFC-3EC6-7C4C-190A-F2579D08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0757"/>
            <a:ext cx="9144000" cy="23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4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1682D6D-BA75-9870-9D86-59613F46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EB2E1F22-2A2C-B937-6351-9F20957B93C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Метрика качества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5DF36-91AE-7979-BE6B-E8F70C02C0C7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https://loginom.ru/blog/quality-metrics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655C8E-55E9-3C24-E4AE-3C35310D8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57" y="823046"/>
            <a:ext cx="5485985" cy="38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01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42D2BF9-905C-CE91-C224-03D41FA2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0C69F14B-501A-AB99-D628-1F84B7297D9A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Метрика качества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04C613-EA1F-D9A8-6DDA-89AF665AFB39}"/>
                  </a:ext>
                </a:extLst>
              </p:cNvPr>
              <p:cNvSpPr txBox="1"/>
              <p:nvPr/>
            </p:nvSpPr>
            <p:spPr>
              <a:xfrm>
                <a:off x="539998" y="2052644"/>
                <a:ext cx="8322647" cy="13847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0" i="0" smtClean="0">
                          <a:latin typeface="Cambria Math" panose="02040503050406030204" pitchFamily="18" charset="0"/>
                        </a:rPr>
                        <m:t>М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SE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04C613-EA1F-D9A8-6DDA-89AF665AF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8" y="2052644"/>
                <a:ext cx="8322647" cy="1384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9031071-4E3F-6D37-0E52-17F3C2BCF272}"/>
              </a:ext>
            </a:extLst>
          </p:cNvPr>
          <p:cNvSpPr txBox="1"/>
          <p:nvPr/>
        </p:nvSpPr>
        <p:spPr>
          <a:xfrm>
            <a:off x="539998" y="1317808"/>
            <a:ext cx="7738838" cy="3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Средняя квадратичная ошибка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mean squared error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lang="ru-RU" sz="1800" i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5258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EC4EDF0-B78B-67B2-3686-EEA5BFAC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728144DD-CCF3-7D39-62EC-BBBEF28D1219}"/>
              </a:ext>
            </a:extLst>
          </p:cNvPr>
          <p:cNvSpPr txBox="1"/>
          <p:nvPr/>
        </p:nvSpPr>
        <p:spPr>
          <a:xfrm>
            <a:off x="539999" y="1150807"/>
            <a:ext cx="8119091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Бизнес-метрики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Доход от сервиса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Онлайн метрики – характеристики работающей системы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Средняя длина сессии в онлайн игре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Офлайн метрики – измеряются до введения модели в эксплуатацию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Оцениваются при обучении модели по историческим данным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Средняя квадратичная ошибка при регрессии, доля правильных ответов при классификации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5C1B71B8-3153-CB02-F1FF-E8A3F1F0CAE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Метрики качества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3D1F-776B-6AD5-4936-826E919B2DF0}"/>
              </a:ext>
            </a:extLst>
          </p:cNvPr>
          <p:cNvSpPr txBox="1"/>
          <p:nvPr/>
        </p:nvSpPr>
        <p:spPr>
          <a:xfrm>
            <a:off x="0" y="4835723"/>
            <a:ext cx="6318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156366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FA01924-39BD-8667-9B44-D6A50D2A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5020FB09-5E36-C4DE-891C-325712E3DD1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Какая модель лучше?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66F21-0506-1085-8185-988014D7B7E8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7898DE-B511-DCA8-7691-4BC2C66D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0757"/>
            <a:ext cx="9144000" cy="23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636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D9BBBF4-7A1F-C9E2-3430-DAF178A4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F5AB3408-6FA8-2FE4-CAD4-9BA4154D3CD2}"/>
              </a:ext>
            </a:extLst>
          </p:cNvPr>
          <p:cNvSpPr txBox="1"/>
          <p:nvPr/>
        </p:nvSpPr>
        <p:spPr>
          <a:xfrm>
            <a:off x="539999" y="1150807"/>
            <a:ext cx="8119091" cy="1849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Обобщающая способность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generalization) –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способность выучить модели общие закономерности, присущие не только обучающему набору данных, и давать адекватные предсказания на новых данных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Переобучение – избыточная адаптация под набор данных 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534F670-FCCE-8F15-9CEE-B352A154DC0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Переобучение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B6F7-1023-02FB-7B64-FC309A47296D}"/>
              </a:ext>
            </a:extLst>
          </p:cNvPr>
          <p:cNvSpPr txBox="1"/>
          <p:nvPr/>
        </p:nvSpPr>
        <p:spPr>
          <a:xfrm>
            <a:off x="0" y="4835723"/>
            <a:ext cx="6318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3503395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634EBCC-9D62-303B-7137-98A9EE6D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3830B62-3160-D7E4-BB4B-A7CAAE3AB91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 переобучения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80417-FB8B-ECBF-8757-7B4EF3C71365}"/>
              </a:ext>
            </a:extLst>
          </p:cNvPr>
          <p:cNvSpPr txBox="1"/>
          <p:nvPr/>
        </p:nvSpPr>
        <p:spPr>
          <a:xfrm>
            <a:off x="0" y="4835723"/>
            <a:ext cx="9009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https://carpentries-incubator.github.io/data-science-ai-senior-researchers/05-Problems-with-AI/index.html</a:t>
            </a:r>
            <a:endParaRPr lang="ru-RU" dirty="0"/>
          </a:p>
        </p:txBody>
      </p:sp>
      <p:pic>
        <p:nvPicPr>
          <p:cNvPr id="1026" name="Picture 2" descr="drawing">
            <a:extLst>
              <a:ext uri="{FF2B5EF4-FFF2-40B4-BE49-F238E27FC236}">
                <a16:creationId xmlns:a16="http://schemas.microsoft.com/office/drawing/2014/main" id="{183CF82E-7EE4-421D-DF45-2EFA301E2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3"/>
          <a:stretch/>
        </p:blipFill>
        <p:spPr bwMode="auto">
          <a:xfrm>
            <a:off x="1201880" y="1076560"/>
            <a:ext cx="6437640" cy="363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887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F022ECA-2F00-E91D-A9F4-0217140A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6A79E68-4166-49E4-3D58-A482885C14F2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 переобучения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0BA07-3BEF-E7F6-1413-DA8B4A55451B}"/>
              </a:ext>
            </a:extLst>
          </p:cNvPr>
          <p:cNvSpPr txBox="1"/>
          <p:nvPr/>
        </p:nvSpPr>
        <p:spPr>
          <a:xfrm>
            <a:off x="0" y="4835723"/>
            <a:ext cx="9009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https://carpentries-incubator.github.io/data-science-ai-senior-researchers/05-Problems-with-AI/index.html</a:t>
            </a:r>
            <a:endParaRPr lang="ru-RU" dirty="0"/>
          </a:p>
        </p:txBody>
      </p:sp>
      <p:pic>
        <p:nvPicPr>
          <p:cNvPr id="2050" name="Picture 2" descr="drawing">
            <a:extLst>
              <a:ext uri="{FF2B5EF4-FFF2-40B4-BE49-F238E27FC236}">
                <a16:creationId xmlns:a16="http://schemas.microsoft.com/office/drawing/2014/main" id="{C2500754-1D81-C150-7813-9894C9A96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59" y="1498159"/>
            <a:ext cx="5345402" cy="255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9207E-FAF9-4375-4116-23A6F9B385EA}"/>
              </a:ext>
            </a:extLst>
          </p:cNvPr>
          <p:cNvSpPr txBox="1"/>
          <p:nvPr/>
        </p:nvSpPr>
        <p:spPr>
          <a:xfrm>
            <a:off x="0" y="4260280"/>
            <a:ext cx="8821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"Why Should I Trust You?": Explaining the Predictions of Any Classifier</a:t>
            </a:r>
            <a:r>
              <a:rPr lang="ru-RU" dirty="0"/>
              <a:t>. </a:t>
            </a:r>
            <a:r>
              <a:rPr lang="pt-BR" dirty="0"/>
              <a:t>Marco Tulio Ribeiro, Sameer Singh, Carlos Guestrin</a:t>
            </a:r>
            <a:r>
              <a:rPr lang="ru-RU" dirty="0"/>
              <a:t>. </a:t>
            </a:r>
            <a:r>
              <a:rPr lang="en-US" dirty="0">
                <a:hlinkClick r:id="rId4"/>
              </a:rPr>
              <a:t>https://arxiv.org/abs/1602.04938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1281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98F17CE-A454-ED34-C0D1-2A9ED25A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A498C8E-92A0-394F-2822-7179FEBA8B0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Где есть переобучение?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BA1AE-7741-CC0E-E971-3AFA2E00ABB0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9734FD-604D-E243-03A2-FF884B1C8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0757"/>
            <a:ext cx="9144000" cy="23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07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3564232-B0DE-86D9-9B85-309DAE89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8AA3DE99-FA60-E323-6FFF-2FB16F24402E}"/>
              </a:ext>
            </a:extLst>
          </p:cNvPr>
          <p:cNvSpPr txBox="1"/>
          <p:nvPr/>
        </p:nvSpPr>
        <p:spPr>
          <a:xfrm>
            <a:off x="539999" y="1150807"/>
            <a:ext cx="8119091" cy="216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Обучающий набор данных (обучающая выборка)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модели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Тестовый набор данных (тестовая выборка)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Не используется в процессе обучения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Оценка качества работы модели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Оценка обобщающей способности модели</a:t>
            </a: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DCB682EA-C66F-E8D5-9E44-669E3C50A7F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Обнаружение переобучения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7B91E-EF08-5232-BD34-4F37F1721775}"/>
              </a:ext>
            </a:extLst>
          </p:cNvPr>
          <p:cNvSpPr txBox="1"/>
          <p:nvPr/>
        </p:nvSpPr>
        <p:spPr>
          <a:xfrm>
            <a:off x="0" y="4835723"/>
            <a:ext cx="63180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</p:spTree>
    <p:extLst>
      <p:ext uri="{BB962C8B-B14F-4D97-AF65-F5344CB8AC3E}">
        <p14:creationId xmlns:p14="http://schemas.microsoft.com/office/powerpoint/2010/main" val="3051782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1594F18-7EAE-68DB-BC4F-77CD3D2F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9A4135F0-44F4-E389-4345-96EF1F0BEA3F}"/>
              </a:ext>
            </a:extLst>
          </p:cNvPr>
          <p:cNvSpPr txBox="1"/>
          <p:nvPr/>
        </p:nvSpPr>
        <p:spPr>
          <a:xfrm>
            <a:off x="539999" y="360000"/>
            <a:ext cx="8469321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Как определить, «хорошая» модель, или «плохая»?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9A5EE-8605-1069-2467-2664345DAD2F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F26F94-C8FE-C0DE-D1D6-F64382420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0757"/>
            <a:ext cx="9144000" cy="23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96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ABC6F0F-3B33-1B3D-9544-5DBBBDE2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35FB483-02D7-8392-EC0F-0BF26B72A15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/>
              <p:nvPr/>
            </p:nvSpPr>
            <p:spPr>
              <a:xfrm>
                <a:off x="409370" y="2129570"/>
                <a:ext cx="8549948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9A71D8-886F-91BC-B6E1-EE975FBBC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0" y="2129570"/>
                <a:ext cx="8549948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847CBF-1CB5-8803-3197-F2D9BD659C7A}"/>
              </a:ext>
            </a:extLst>
          </p:cNvPr>
          <p:cNvSpPr txBox="1"/>
          <p:nvPr/>
        </p:nvSpPr>
        <p:spPr>
          <a:xfrm>
            <a:off x="693791" y="3220473"/>
            <a:ext cx="7738838" cy="158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целевая переменная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x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x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 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признаков (объект из набора данных)</a:t>
            </a: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(w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, 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, … </a:t>
            </a:r>
            <a:r>
              <a:rPr lang="en-US" sz="1600" i="1" dirty="0" err="1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вектор параметров модели (веса)</a:t>
            </a:r>
            <a:endParaRPr lang="en-US"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600" i="1" baseline="-25000" dirty="0">
                <a:latin typeface="Montserrat Medium"/>
                <a:ea typeface="Montserrat Medium"/>
                <a:cs typeface="Montserrat Medium"/>
                <a:sym typeface="Montserrat Medium"/>
              </a:rPr>
              <a:t>0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–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сдвиг</a:t>
            </a:r>
            <a:r>
              <a:rPr lang="en-US" sz="16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(bias)</a:t>
            </a:r>
            <a:endParaRPr lang="ru-RU" sz="16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44245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8C2AB7C-0302-4091-E546-6B2404C1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C80C515A-5A49-A629-6A5A-9E51C866A49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50F-46C6-16FB-1CB9-77C3FE4D2683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C70FAE-08DB-3051-5EC3-2222C153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287" y="846744"/>
            <a:ext cx="4409425" cy="37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45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9C58576-B89B-7432-9FCF-04EE6FED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609736C7-0DE2-1041-8D1B-DD581F12A058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D8124-4426-788F-9163-4797E4525D9F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4E5248-08C2-4D1C-4B02-6F36BDE7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245" y="815213"/>
            <a:ext cx="4409425" cy="37692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5D2819-BFF0-0454-39DF-7DAC6B095E05}"/>
              </a:ext>
            </a:extLst>
          </p:cNvPr>
          <p:cNvSpPr txBox="1"/>
          <p:nvPr/>
        </p:nvSpPr>
        <p:spPr>
          <a:xfrm>
            <a:off x="216321" y="1373655"/>
            <a:ext cx="2855703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Как обучить модель </a:t>
            </a:r>
            <a:b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6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линейной регрессии?</a:t>
            </a:r>
          </a:p>
        </p:txBody>
      </p:sp>
    </p:spTree>
    <p:extLst>
      <p:ext uri="{BB962C8B-B14F-4D97-AF65-F5344CB8AC3E}">
        <p14:creationId xmlns:p14="http://schemas.microsoft.com/office/powerpoint/2010/main" val="1033854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8CD9FD9-6084-AB20-DA4C-715CAC7A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ED03AE32-1133-D1DF-0E0C-7325A1AA60C5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8BB4D4-B8AC-CC46-92B6-3ADBE8DEA115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26D3FC-F9B2-6244-6A2D-ACD6AD994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D5B6FFBF-8F4E-3874-8445-55B971D99C29}"/>
              </a:ext>
            </a:extLst>
          </p:cNvPr>
          <p:cNvSpPr txBox="1"/>
          <p:nvPr/>
        </p:nvSpPr>
        <p:spPr>
          <a:xfrm>
            <a:off x="180663" y="1039680"/>
            <a:ext cx="4961414" cy="248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Функция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 = ax + b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 нашем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наборе данных должна как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лучше приближать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зависимость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Что означает «как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лучше приближать»?</a:t>
            </a:r>
          </a:p>
        </p:txBody>
      </p:sp>
    </p:spTree>
    <p:extLst>
      <p:ext uri="{BB962C8B-B14F-4D97-AF65-F5344CB8AC3E}">
        <p14:creationId xmlns:p14="http://schemas.microsoft.com/office/powerpoint/2010/main" val="1957850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AAA37D8-DA7D-1261-CE08-E17A5A98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AF5B4285-6FFD-B9E5-0795-AB10808C39A9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8D6D6-EEF3-C490-AF78-34E7474F79C5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CD7A41-E952-9E72-752A-AEBC7A6E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A478BA0C-6BCF-1474-73A8-8D2DB11E5D01}"/>
              </a:ext>
            </a:extLst>
          </p:cNvPr>
          <p:cNvSpPr txBox="1"/>
          <p:nvPr/>
        </p:nvSpPr>
        <p:spPr>
          <a:xfrm>
            <a:off x="180663" y="1039680"/>
            <a:ext cx="4961414" cy="312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Функция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y = ax + b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 нашем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наборе данных должна как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лучше приближать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зависимость 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Что означает «как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лучше приближать»?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Функция потерь, функционал качества,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loss function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13067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02B14C7-EACB-0248-78EB-4C03716F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9C86A30-980A-7F2C-96DF-12A688099AAC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404D6-9297-E243-0074-C2B57322BB5E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E58FD3-3629-BFC7-4063-DF0EFA990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83E21DD6-0C7E-C490-4C73-5221C4F67478}"/>
              </a:ext>
            </a:extLst>
          </p:cNvPr>
          <p:cNvSpPr txBox="1"/>
          <p:nvPr/>
        </p:nvSpPr>
        <p:spPr>
          <a:xfrm>
            <a:off x="180663" y="1039680"/>
            <a:ext cx="4961414" cy="108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Характеристики функции потерь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Гладкая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Положительная и непрерывная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19BB92-8E81-FB9C-D590-B4F69F31B704}"/>
                  </a:ext>
                </a:extLst>
              </p:cNvPr>
              <p:cNvSpPr txBox="1"/>
              <p:nvPr/>
            </p:nvSpPr>
            <p:spPr>
              <a:xfrm>
                <a:off x="0" y="2594448"/>
                <a:ext cx="5225519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М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19BB92-8E81-FB9C-D590-B4F69F31B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94448"/>
                <a:ext cx="5225519" cy="10384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316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7ADB0E8-F00D-0971-8EED-699D5615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4749DF2-DFB1-B09D-4183-EADD9BB65CB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E370E-BCBE-2FB3-095D-3B26B9AE161D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1C3900-8581-3D83-DEDF-FEB116303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5641BE4A-CC01-ECA5-A61D-F361941935C6}"/>
              </a:ext>
            </a:extLst>
          </p:cNvPr>
          <p:cNvSpPr txBox="1"/>
          <p:nvPr/>
        </p:nvSpPr>
        <p:spPr>
          <a:xfrm>
            <a:off x="180663" y="1039680"/>
            <a:ext cx="4961414" cy="76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C621B9-31BC-C610-AF0F-3513D4E4CE37}"/>
                  </a:ext>
                </a:extLst>
              </p:cNvPr>
              <p:cNvSpPr txBox="1"/>
              <p:nvPr/>
            </p:nvSpPr>
            <p:spPr>
              <a:xfrm>
                <a:off x="48610" y="2346704"/>
                <a:ext cx="5225519" cy="1070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</m:eqAr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C621B9-31BC-C610-AF0F-3513D4E4C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0" y="2346704"/>
                <a:ext cx="5225519" cy="1070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595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DB3EFE6-8676-32BB-E69F-D195D555E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18CBB22-D5AD-590D-8A8E-60C8E29229A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F027A-E2C3-3D8C-BDDF-EF10011DD284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F21756-1190-134E-33C2-1ED14CB2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05870EFA-EAF1-65BD-D3EA-F7EC3037769E}"/>
              </a:ext>
            </a:extLst>
          </p:cNvPr>
          <p:cNvSpPr txBox="1"/>
          <p:nvPr/>
        </p:nvSpPr>
        <p:spPr>
          <a:xfrm>
            <a:off x="180663" y="1039680"/>
            <a:ext cx="4961414" cy="76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27A5E7-4737-6BC1-4478-434970E66B76}"/>
                  </a:ext>
                </a:extLst>
              </p:cNvPr>
              <p:cNvSpPr txBox="1"/>
              <p:nvPr/>
            </p:nvSpPr>
            <p:spPr>
              <a:xfrm>
                <a:off x="48610" y="2346704"/>
                <a:ext cx="5225519" cy="1070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</m:eqAr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27A5E7-4737-6BC1-4478-434970E66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0" y="2346704"/>
                <a:ext cx="5225519" cy="1070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B8D412-B504-8C42-D159-3CFDA6CF19EB}"/>
              </a:ext>
            </a:extLst>
          </p:cNvPr>
          <p:cNvSpPr txBox="1"/>
          <p:nvPr/>
        </p:nvSpPr>
        <p:spPr>
          <a:xfrm>
            <a:off x="202659" y="38646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1" dirty="0">
                <a:latin typeface="Montserrat Medium"/>
              </a:rPr>
              <a:t>Как решать такую задачу?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899615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C4DBBA5C-6328-494B-9BF3-3CB41B69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7A08C3C9-4922-4D9A-9B00-7CF23D89B93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10C33-2A2F-DFA2-0B58-CFC22A684836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AE1EA6-A18D-9B97-957C-00C1E03B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7BE6B722-D40F-3520-8F44-F26B88CFD093}"/>
              </a:ext>
            </a:extLst>
          </p:cNvPr>
          <p:cNvSpPr txBox="1"/>
          <p:nvPr/>
        </p:nvSpPr>
        <p:spPr>
          <a:xfrm>
            <a:off x="180663" y="1039680"/>
            <a:ext cx="4961414" cy="108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Метод наименьших квадратов, аналитическое решение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FAE940-EEBB-09EC-2A29-AE3D49D90BC5}"/>
                  </a:ext>
                </a:extLst>
              </p:cNvPr>
              <p:cNvSpPr txBox="1"/>
              <p:nvPr/>
            </p:nvSpPr>
            <p:spPr>
              <a:xfrm>
                <a:off x="318876" y="2356306"/>
                <a:ext cx="440627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FAE940-EEBB-09EC-2A29-AE3D49D90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76" y="2356306"/>
                <a:ext cx="440627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194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FB1D9D0-5155-3F77-5B6D-1DEDFD2B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052012BC-89BB-BA62-6EC7-BA8C19F2FC6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06F5-EE5D-C75A-C22D-903E945F62EE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9992A9-3D9D-2704-8335-BDA6D6B62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50D7D998-C707-7909-C086-94F475C8B962}"/>
              </a:ext>
            </a:extLst>
          </p:cNvPr>
          <p:cNvSpPr txBox="1"/>
          <p:nvPr/>
        </p:nvSpPr>
        <p:spPr>
          <a:xfrm>
            <a:off x="180663" y="1039680"/>
            <a:ext cx="4961414" cy="108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Метод наименьших квадратов, аналитическое решение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B75A13-79A1-6ADE-DED1-2A239B31731C}"/>
                  </a:ext>
                </a:extLst>
              </p:cNvPr>
              <p:cNvSpPr txBox="1"/>
              <p:nvPr/>
            </p:nvSpPr>
            <p:spPr>
              <a:xfrm>
                <a:off x="318876" y="2356306"/>
                <a:ext cx="440627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B75A13-79A1-6ADE-DED1-2A239B317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76" y="2356306"/>
                <a:ext cx="440627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98;p18">
            <a:extLst>
              <a:ext uri="{FF2B5EF4-FFF2-40B4-BE49-F238E27FC236}">
                <a16:creationId xmlns:a16="http://schemas.microsoft.com/office/drawing/2014/main" id="{CE8F514A-B149-A978-2A7C-DED352F047F6}"/>
              </a:ext>
            </a:extLst>
          </p:cNvPr>
          <p:cNvSpPr txBox="1"/>
          <p:nvPr/>
        </p:nvSpPr>
        <p:spPr>
          <a:xfrm>
            <a:off x="180662" y="2953314"/>
            <a:ext cx="8927303" cy="1720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Проблемы аналитического решения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Обращение матрицы – 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трудоемкая операция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Обратную матрицу не всегда можно </a:t>
            </a:r>
            <a:b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найти (если есть линейная зависимость между столбцами)</a:t>
            </a:r>
          </a:p>
        </p:txBody>
      </p:sp>
    </p:spTree>
    <p:extLst>
      <p:ext uri="{BB962C8B-B14F-4D97-AF65-F5344CB8AC3E}">
        <p14:creationId xmlns:p14="http://schemas.microsoft.com/office/powerpoint/2010/main" val="1402592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0B6742D-3AF8-B52E-A498-7FA8B451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CB629C5-C569-3D44-745A-666CC14B9291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E7D50-57D1-6DF4-D5C7-4EC107A0D0A2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FB42C5-627B-3683-24E4-747C1BB4A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0DE3DE23-D6CE-C11B-59CD-37AECC116D43}"/>
              </a:ext>
            </a:extLst>
          </p:cNvPr>
          <p:cNvSpPr txBox="1"/>
          <p:nvPr/>
        </p:nvSpPr>
        <p:spPr>
          <a:xfrm>
            <a:off x="180663" y="1039680"/>
            <a:ext cx="4961414" cy="287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Назначаем веса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случайным образом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Немного изменяем веса и смотрим, стало ли лучше приближение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E4C810-A3DD-8C99-491E-EA5DA0FADE4C}"/>
                  </a:ext>
                </a:extLst>
              </p:cNvPr>
              <p:cNvSpPr txBox="1"/>
              <p:nvPr/>
            </p:nvSpPr>
            <p:spPr>
              <a:xfrm>
                <a:off x="48610" y="1462689"/>
                <a:ext cx="5225519" cy="1070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</m:eqAr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E4C810-A3DD-8C99-491E-EA5DA0FAD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0" y="1462689"/>
                <a:ext cx="5225519" cy="1070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0363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2D7C64F-668A-3DAB-A348-D810B260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C001C196-B0E0-7D06-751F-D7253F929884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1463E-5FBB-490C-A975-6CA76956A901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A06535-8BF6-6F79-D637-3BDB275B5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1957F2B1-D388-F3AF-1226-0AC90FA25F0E}"/>
              </a:ext>
            </a:extLst>
          </p:cNvPr>
          <p:cNvSpPr txBox="1"/>
          <p:nvPr/>
        </p:nvSpPr>
        <p:spPr>
          <a:xfrm>
            <a:off x="180663" y="1039680"/>
            <a:ext cx="4961414" cy="363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Назначаем веса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случайным образом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Немного изменяем веса и смотрим, стало ли лучше приближение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Как узнать, какие веса менять и на сколько?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54F57-2F62-17C8-7FFA-CBC9DFE66560}"/>
                  </a:ext>
                </a:extLst>
              </p:cNvPr>
              <p:cNvSpPr txBox="1"/>
              <p:nvPr/>
            </p:nvSpPr>
            <p:spPr>
              <a:xfrm>
                <a:off x="48610" y="1462689"/>
                <a:ext cx="5225519" cy="1070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eqArr>
                                <m:eqArr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</m:t>
                                  </m:r>
                                </m:e>
                              </m:eqAr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54F57-2F62-17C8-7FFA-CBC9DFE66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0" y="1462689"/>
                <a:ext cx="5225519" cy="1070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898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4B999D2-381B-FA7A-9819-76E347D2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8B3B3CB1-22CF-E762-7976-00412BDD52A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Приближенное решение: градиентный спу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ск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54B63B-5F10-2A6B-F4BF-5E14CE825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464" y="915002"/>
            <a:ext cx="3891072" cy="3770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ED8751-A4E1-FD1F-1614-D1902EE90617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https://lsreg.ru/realizaciya-gradientnogo-spuska-na-c/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724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3A01374-8E37-B695-62DD-03CC02E7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9236C305-2D0C-CE03-336C-2A00DF7EB13B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Приближенное решение: градиентный спу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ск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74442-46E1-202A-E66A-057A0DD1D989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sp>
        <p:nvSpPr>
          <p:cNvPr id="7" name="Google Shape;98;p18">
            <a:extLst>
              <a:ext uri="{FF2B5EF4-FFF2-40B4-BE49-F238E27FC236}">
                <a16:creationId xmlns:a16="http://schemas.microsoft.com/office/drawing/2014/main" id="{47EE688D-07DF-7253-064F-839173F2081B}"/>
              </a:ext>
            </a:extLst>
          </p:cNvPr>
          <p:cNvSpPr txBox="1"/>
          <p:nvPr/>
        </p:nvSpPr>
        <p:spPr>
          <a:xfrm>
            <a:off x="311007" y="926394"/>
            <a:ext cx="5434879" cy="248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Градиент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функции в точке – направление наискорейшего роста функции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Антиградиент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функции в точке – направление наискорейшего убывания функции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A8B33D1-8FDD-0BB9-1324-70D786D68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886" y="720099"/>
            <a:ext cx="2949698" cy="285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422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D1AFFCC-93C3-34CD-8199-B646D221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EF93476A-6277-76B5-FA2C-EE7F11322415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Приближенное решение: градиентный спу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ск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0BC8E-4398-92CD-7704-7BC3C0931BCF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sp>
        <p:nvSpPr>
          <p:cNvPr id="7" name="Google Shape;98;p18">
            <a:extLst>
              <a:ext uri="{FF2B5EF4-FFF2-40B4-BE49-F238E27FC236}">
                <a16:creationId xmlns:a16="http://schemas.microsoft.com/office/drawing/2014/main" id="{5B885638-70B5-B9BA-24CE-846347B22EF1}"/>
              </a:ext>
            </a:extLst>
          </p:cNvPr>
          <p:cNvSpPr txBox="1"/>
          <p:nvPr/>
        </p:nvSpPr>
        <p:spPr>
          <a:xfrm>
            <a:off x="311007" y="926394"/>
            <a:ext cx="5434879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Градиент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функции в точке – направление наискорейшего роста функции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Антиградиент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функции в точке – направление наискорейшего убывания функции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 помощью антиградиента определяем, изменение каких весов принесут наибольший результат для минимизации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5371F97-BAC8-F0A5-A3D9-57FCBB1C5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886" y="720099"/>
            <a:ext cx="2949698" cy="285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767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8138824-4614-0095-19C1-4D4895B81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08C7D5EC-74FC-9975-BAA2-D040D30451F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Приближенное решение: градиентный спу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ск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43469-3BC8-AA40-B5C4-C35B7E3D3FD0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37384E-EB38-D3FB-B0C7-FD4FF85AD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AA5CCB35-B45B-C333-8193-82888FF7920D}"/>
              </a:ext>
            </a:extLst>
          </p:cNvPr>
          <p:cNvSpPr txBox="1"/>
          <p:nvPr/>
        </p:nvSpPr>
        <p:spPr>
          <a:xfrm>
            <a:off x="180663" y="1039680"/>
            <a:ext cx="4961414" cy="108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Градиент для функции потерь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MSE (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средняя квадратичная ошибка) 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389F9B-0C58-61EA-F446-E0843A665BF0}"/>
                  </a:ext>
                </a:extLst>
              </p:cNvPr>
              <p:cNvSpPr txBox="1"/>
              <p:nvPr/>
            </p:nvSpPr>
            <p:spPr>
              <a:xfrm>
                <a:off x="539999" y="2532533"/>
                <a:ext cx="4406275" cy="8066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389F9B-0C58-61EA-F446-E0843A665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2532533"/>
                <a:ext cx="4406275" cy="806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43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B020F5D-854E-A0C0-9CC8-B5B73DA01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E7FF98E-C9FA-7EF0-0D81-072C98B99ADF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Приближенное решение: градиентный спу</a:t>
            </a: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ск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16966-03AF-39EB-BB6D-44B8C8C0B905}"/>
              </a:ext>
            </a:extLst>
          </p:cNvPr>
          <p:cNvSpPr txBox="1"/>
          <p:nvPr/>
        </p:nvSpPr>
        <p:spPr>
          <a:xfrm>
            <a:off x="103749" y="4835723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14377A-654A-F2BA-E8EA-EA4EB5383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10" y="977654"/>
            <a:ext cx="3657126" cy="3126166"/>
          </a:xfrm>
          <a:prstGeom prst="rect">
            <a:avLst/>
          </a:prstGeom>
        </p:spPr>
      </p:pic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5FF7D5ED-4D21-0626-FE54-F785B81E4697}"/>
              </a:ext>
            </a:extLst>
          </p:cNvPr>
          <p:cNvSpPr txBox="1"/>
          <p:nvPr/>
        </p:nvSpPr>
        <p:spPr>
          <a:xfrm>
            <a:off x="180663" y="1039680"/>
            <a:ext cx="4961414" cy="382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+mj-lt"/>
              <a:buAutoNum type="arabicPeriod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Инициализируем веса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случайным образом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+mj-lt"/>
              <a:buAutoNum type="arabicPeriod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Рассчитываем значение функции потерь на наборе данных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+mj-lt"/>
              <a:buAutoNum type="arabicPeriod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Изменяем веса </a:t>
            </a:r>
            <a:r>
              <a:rPr lang="en-US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w</a:t>
            </a:r>
            <a:r>
              <a:rPr lang="ru-RU" sz="1800" i="1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на небольшое значение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+mj-lt"/>
              <a:buAutoNum type="arabicPeriod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+mj-lt"/>
              <a:buAutoNum type="arabicPeriod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Повторяем заданное количество раз (пока значение функции ошибки не опустится ниже порога)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56020-A5D2-ED8E-208C-0EA8E486AB9C}"/>
                  </a:ext>
                </a:extLst>
              </p:cNvPr>
              <p:cNvSpPr txBox="1"/>
              <p:nvPr/>
            </p:nvSpPr>
            <p:spPr>
              <a:xfrm>
                <a:off x="539999" y="3213279"/>
                <a:ext cx="4406275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456020-A5D2-ED8E-208C-0EA8E486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3213279"/>
                <a:ext cx="4406275" cy="6914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056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C3FA98B-70F8-B08C-5D60-117AC6ED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11B14DD-50AF-EDB5-2590-7E16085F1223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Стохастический градиентный спуск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BDECC-E7BD-7EE0-D817-509A1DBB8CDE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6FDE66-CA35-4E4A-CAAA-35A91E30F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12041"/>
            <a:ext cx="8145780" cy="363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7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17CE440-E92F-8BEE-D70C-A77D83A3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F9148F3-886B-332F-D822-6C15E146F426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Другие функции ошибки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53D1E-0E22-87D6-A450-76C61458EE27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https://education.yandex.ru/handbook/ml/article/linear-models</a:t>
            </a:r>
            <a:endParaRPr lang="ru-RU" dirty="0"/>
          </a:p>
        </p:txBody>
      </p:sp>
      <p:sp>
        <p:nvSpPr>
          <p:cNvPr id="5" name="Google Shape;98;p18">
            <a:extLst>
              <a:ext uri="{FF2B5EF4-FFF2-40B4-BE49-F238E27FC236}">
                <a16:creationId xmlns:a16="http://schemas.microsoft.com/office/drawing/2014/main" id="{A822D572-1F75-0948-40D2-A6FA1DB66792}"/>
              </a:ext>
            </a:extLst>
          </p:cNvPr>
          <p:cNvSpPr txBox="1"/>
          <p:nvPr/>
        </p:nvSpPr>
        <p:spPr>
          <a:xfrm>
            <a:off x="180662" y="1039680"/>
            <a:ext cx="8612817" cy="223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Средняя абсолютная ошибка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mean absolute error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en-US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en-US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endParaRPr lang="en-US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indent="-342900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Относительная ошибка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(mean absolute percentage error)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0EF8F2-7A6C-412A-AAED-FF534C9D6968}"/>
                  </a:ext>
                </a:extLst>
              </p:cNvPr>
              <p:cNvSpPr txBox="1"/>
              <p:nvPr/>
            </p:nvSpPr>
            <p:spPr>
              <a:xfrm>
                <a:off x="1234440" y="1713483"/>
                <a:ext cx="5225519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М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0EF8F2-7A6C-412A-AAED-FF534C9D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" y="1713483"/>
                <a:ext cx="5225519" cy="1038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387843-0FE4-8662-4B36-A6F06656196C}"/>
                  </a:ext>
                </a:extLst>
              </p:cNvPr>
              <p:cNvSpPr txBox="1"/>
              <p:nvPr/>
            </p:nvSpPr>
            <p:spPr>
              <a:xfrm>
                <a:off x="1402079" y="3428183"/>
                <a:ext cx="5225519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0" smtClean="0">
                          <a:latin typeface="Cambria Math" panose="02040503050406030204" pitchFamily="18" charset="0"/>
                        </a:rPr>
                        <m:t>М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APE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𝑋𝑤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RU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387843-0FE4-8662-4B36-A6F066561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79" y="3428183"/>
                <a:ext cx="5225519" cy="10384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74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80F0EFD-6C88-3CDD-72EB-64895339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2B6E6875-CDFE-E0D1-BA2B-A5490F682440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0F9EA-0D0B-7F1B-1868-FA08895DDD0C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7B6E65-797C-9FCD-CCC6-507479468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0" r="36250"/>
          <a:stretch/>
        </p:blipFill>
        <p:spPr>
          <a:xfrm>
            <a:off x="3189849" y="1932226"/>
            <a:ext cx="2537460" cy="2301986"/>
          </a:xfrm>
          <a:prstGeom prst="rect">
            <a:avLst/>
          </a:prstGeom>
        </p:spPr>
      </p:pic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50AC1B09-3990-BFD6-CEFC-BEBF1166B424}"/>
              </a:ext>
            </a:extLst>
          </p:cNvPr>
          <p:cNvSpPr txBox="1"/>
          <p:nvPr/>
        </p:nvSpPr>
        <p:spPr>
          <a:xfrm>
            <a:off x="512454" y="943493"/>
            <a:ext cx="8119091" cy="76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ли смоделировать линейной регрессией такую зависимость?</a:t>
            </a:r>
          </a:p>
        </p:txBody>
      </p:sp>
    </p:spTree>
    <p:extLst>
      <p:ext uri="{BB962C8B-B14F-4D97-AF65-F5344CB8AC3E}">
        <p14:creationId xmlns:p14="http://schemas.microsoft.com/office/powerpoint/2010/main" val="61588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DBD73CC-EEE3-87FD-9604-C0578233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0ED2728F-E285-2F6B-9EC9-1E0A6EB8E7D4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Линейная 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ED938-918A-304A-4728-2B550FA86720}"/>
              </a:ext>
            </a:extLst>
          </p:cNvPr>
          <p:cNvSpPr txBox="1"/>
          <p:nvPr/>
        </p:nvSpPr>
        <p:spPr>
          <a:xfrm>
            <a:off x="126609" y="4742631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https://education.yandex.ru/handbook/ml/article/mashinnoye-obucheniye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B68082-B1AD-0E96-FD7B-FE04C26B0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00" r="36250"/>
          <a:stretch/>
        </p:blipFill>
        <p:spPr>
          <a:xfrm>
            <a:off x="3303269" y="2351737"/>
            <a:ext cx="2537460" cy="2301986"/>
          </a:xfrm>
          <a:prstGeom prst="rect">
            <a:avLst/>
          </a:prstGeom>
        </p:spPr>
      </p:pic>
      <p:sp>
        <p:nvSpPr>
          <p:cNvPr id="3" name="Google Shape;98;p18">
            <a:extLst>
              <a:ext uri="{FF2B5EF4-FFF2-40B4-BE49-F238E27FC236}">
                <a16:creationId xmlns:a16="http://schemas.microsoft.com/office/drawing/2014/main" id="{3AF368C2-3900-7203-7691-D80DAC675543}"/>
              </a:ext>
            </a:extLst>
          </p:cNvPr>
          <p:cNvSpPr txBox="1"/>
          <p:nvPr/>
        </p:nvSpPr>
        <p:spPr>
          <a:xfrm>
            <a:off x="512454" y="943493"/>
            <a:ext cx="8119091" cy="76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Можно ли смоделировать линейной регрессией такую зависимость?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B1F28E-24DF-FFD6-5A1E-346ECE0F9B40}"/>
                  </a:ext>
                </a:extLst>
              </p:cNvPr>
              <p:cNvSpPr txBox="1"/>
              <p:nvPr/>
            </p:nvSpPr>
            <p:spPr>
              <a:xfrm>
                <a:off x="241730" y="1708831"/>
                <a:ext cx="854994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B1F28E-24DF-FFD6-5A1E-346ECE0F9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30" y="1708831"/>
                <a:ext cx="854994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4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FB1E7F2-2855-F859-2F17-69E93417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518AF26B-EF53-4A0C-5FA0-E1D7CB7851A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Инженерия признаков</a:t>
            </a:r>
            <a:endParaRPr lang="ru-RU"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B1380-E4B2-9F51-F4E7-FB898884216E}"/>
                  </a:ext>
                </a:extLst>
              </p:cNvPr>
              <p:cNvSpPr txBox="1"/>
              <p:nvPr/>
            </p:nvSpPr>
            <p:spPr>
              <a:xfrm>
                <a:off x="378890" y="2046305"/>
                <a:ext cx="8549948" cy="685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4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4400" dirty="0"/>
                  <a:t>…</a:t>
                </a:r>
                <a:endParaRPr lang="ru-RU" sz="4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B1380-E4B2-9F51-F4E7-FB898884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0" y="2046305"/>
                <a:ext cx="8549948" cy="685059"/>
              </a:xfrm>
              <a:prstGeom prst="rect">
                <a:avLst/>
              </a:prstGeom>
              <a:blipFill>
                <a:blip r:embed="rId3"/>
                <a:stretch>
                  <a:fillRect t="-24107" b="-482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90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6297E07-5E1D-D6EE-A276-A2C6C49F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8958AEB0-5543-0BA1-EDB3-5EEC484872F1}"/>
                  </a:ext>
                </a:extLst>
              </p:cNvPr>
              <p:cNvSpPr txBox="1"/>
              <p:nvPr/>
            </p:nvSpPr>
            <p:spPr>
              <a:xfrm>
                <a:off x="539999" y="1150807"/>
                <a:ext cx="8119091" cy="3698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Терминология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Объекты  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 = {x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1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2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…, </a:t>
                </a:r>
                <a:r>
                  <a:rPr lang="en-US" sz="1800" i="1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</a:t>
                </a:r>
                <a:r>
                  <a:rPr lang="en-US" sz="1800" i="1" baseline="-25000" dirty="0" err="1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n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},</a:t>
                </a:r>
                <a:r>
                  <a:rPr lang="ru-RU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x</a:t>
                </a:r>
                <a:r>
                  <a:rPr lang="en-US" sz="1800" i="1" baseline="-250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 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признак объекта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(feature)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</a:t>
                </a:r>
                <a:b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</a:b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𝕏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 множество объектов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Целевая переменная (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target) </a:t>
                </a:r>
                <a:r>
                  <a:rPr lang="en-US" sz="1800" i="1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y</a:t>
                </a:r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, </a:t>
                </a:r>
                <a:r>
                  <a:rPr lang="ru-RU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Montserrat Medium"/>
                    <a:sym typeface="Montserrat Medium"/>
                  </a:rPr>
                  <a:t/>
                </a:r>
                <a:br>
                  <a:rPr lang="ru-RU" sz="18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Montserrat Medium"/>
                    <a:sym typeface="Montserrat Medium"/>
                  </a:rPr>
                </a:b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 множество значений целевой переменной</a:t>
                </a: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Постановки задач машинного обучения</a:t>
                </a: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𝕐 = ℝ или 𝕐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</m:ctrlPr>
                      </m:sSupPr>
                      <m:e>
                        <m:r>
                          <a:rPr lang="ru-RU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ontserrat Medium"/>
                            <a:sym typeface="Montserrat Medium"/>
                          </a:rPr>
                          <m:t>ℝ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ontserrat Medium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– регрессия</a:t>
                </a:r>
              </a:p>
              <a:p>
                <a:pPr marL="914400" lvl="1" indent="-342900">
                  <a:lnSpc>
                    <a:spcPct val="115000"/>
                  </a:lnSpc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𝕐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=1, …,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Montserrat Medium"/>
                        <a:sym typeface="Montserrat Medium"/>
                      </a:rPr>
                      <m:t>𝐾</m:t>
                    </m:r>
                  </m:oMath>
                </a14:m>
                <a:r>
                  <a:rPr lang="en-US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</a:t>
                </a: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– классификация</a:t>
                </a:r>
              </a:p>
              <a:p>
                <a:pPr marL="457200" lvl="0" indent="-3429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●"/>
                </a:pPr>
                <a:r>
                  <a:rPr lang="ru-RU" sz="1800" dirty="0"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Параметрическое семейство функций</a:t>
                </a:r>
              </a:p>
              <a:p>
                <a:pPr marL="914400" lvl="1" indent="-342900" algn="l" rtl="0">
                  <a:lnSpc>
                    <a:spcPct val="115000"/>
                  </a:lnSpc>
                  <a:spcAft>
                    <a:spcPts val="0"/>
                  </a:spcAft>
                  <a:buClr>
                    <a:srgbClr val="329BAC"/>
                  </a:buClr>
                  <a:buSzPts val="1800"/>
                  <a:buFont typeface="Montserrat Medium"/>
                  <a:buChar char="○"/>
                </a:pPr>
                <a:endParaRPr lang="ru-RU" sz="1800" dirty="0"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mc:Choice>
        <mc:Fallback xmlns="">
          <p:sp>
            <p:nvSpPr>
              <p:cNvPr id="98" name="Google Shape;98;p18">
                <a:extLst>
                  <a:ext uri="{FF2B5EF4-FFF2-40B4-BE49-F238E27FC236}">
                    <a16:creationId xmlns:a16="http://schemas.microsoft.com/office/drawing/2014/main" id="{8958AEB0-5543-0BA1-EDB3-5EEC48487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150807"/>
                <a:ext cx="8119091" cy="3698448"/>
              </a:xfrm>
              <a:prstGeom prst="rect">
                <a:avLst/>
              </a:prstGeom>
              <a:blipFill>
                <a:blip r:embed="rId3"/>
                <a:stretch>
                  <a:fillRect l="-2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BEB95987-9383-71D3-6BF2-078C0A3E09FD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749DB2-CF3C-91A5-66AC-09FA0A582199}"/>
                  </a:ext>
                </a:extLst>
              </p:cNvPr>
              <p:cNvSpPr txBox="1"/>
              <p:nvPr/>
            </p:nvSpPr>
            <p:spPr>
              <a:xfrm>
                <a:off x="2987734" y="4348597"/>
                <a:ext cx="284918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749DB2-CF3C-91A5-66AC-09FA0A582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734" y="4348597"/>
                <a:ext cx="284918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23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FC3DFC59-12B1-4F4A-B2A6-F5630E05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09730A83-3DB7-A413-CD9B-4469141E68B6}"/>
              </a:ext>
            </a:extLst>
          </p:cNvPr>
          <p:cNvSpPr txBox="1"/>
          <p:nvPr/>
        </p:nvSpPr>
        <p:spPr>
          <a:xfrm>
            <a:off x="539999" y="1150807"/>
            <a:ext cx="8119091" cy="3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Линейные модели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Подходы к машинному обучению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с учителем (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Supervised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Learning) 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без учителя (</a:t>
            </a:r>
            <a:r>
              <a:rPr lang="ru-RU" sz="18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Unsupervised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Learning)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с подкреплением (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Reinforcement Learning</a:t>
            </a: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Метрики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Бизнес, онлайн, офлайн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Офлайн: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MSE, MAE, MAPE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57973186-3875-EBA8-DB4F-C433114E15CA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5CAAA-CDD6-1F18-3F86-67FAA823B2BF}"/>
                  </a:ext>
                </a:extLst>
              </p:cNvPr>
              <p:cNvSpPr txBox="1"/>
              <p:nvPr/>
            </p:nvSpPr>
            <p:spPr>
              <a:xfrm>
                <a:off x="539999" y="1619368"/>
                <a:ext cx="77388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5CAAA-CDD6-1F18-3F86-67FAA823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99" y="1619368"/>
                <a:ext cx="7738838" cy="369332"/>
              </a:xfrm>
              <a:prstGeom prst="rect">
                <a:avLst/>
              </a:prstGeom>
              <a:blipFill>
                <a:blip r:embed="rId3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8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8204449-9811-4E5A-5F1A-76A29D32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B2844967-F167-12B2-4560-110E448B7905}"/>
              </a:ext>
            </a:extLst>
          </p:cNvPr>
          <p:cNvSpPr txBox="1"/>
          <p:nvPr/>
        </p:nvSpPr>
        <p:spPr>
          <a:xfrm>
            <a:off x="539999" y="1150807"/>
            <a:ext cx="8119091" cy="216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Обучение модели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Задача оптимизации</a:t>
            </a: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Функция потерь (функция ошибки). Для регрессии 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MSE, MAE</a:t>
            </a: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-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Приближенное решение методом градиентного спуска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endParaRPr lang="ru-RU"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" name="Google Shape;88;p17">
            <a:extLst>
              <a:ext uri="{FF2B5EF4-FFF2-40B4-BE49-F238E27FC236}">
                <a16:creationId xmlns:a16="http://schemas.microsoft.com/office/drawing/2014/main" id="{3E3A2FF8-A1D9-445E-DB8A-4C9F3268EBBE}"/>
              </a:ext>
            </a:extLst>
          </p:cNvPr>
          <p:cNvSpPr txBox="1"/>
          <p:nvPr/>
        </p:nvSpPr>
        <p:spPr>
          <a:xfrm>
            <a:off x="539999" y="360000"/>
            <a:ext cx="84693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-RU" sz="2600" b="0" i="0" u="none" strike="noStrike" cap="none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Итоги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221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D2A1A23F-B6C2-0B7C-8E6B-67168A14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3960DD-4674-662C-0CB0-B079418AD5E1}"/>
              </a:ext>
            </a:extLst>
          </p:cNvPr>
          <p:cNvSpPr txBox="1"/>
          <p:nvPr/>
        </p:nvSpPr>
        <p:spPr>
          <a:xfrm>
            <a:off x="1502683" y="2196743"/>
            <a:ext cx="5957455" cy="75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algn="ctr">
              <a:lnSpc>
                <a:spcPct val="115000"/>
              </a:lnSpc>
              <a:spcBef>
                <a:spcPts val="1000"/>
              </a:spcBef>
              <a:buClr>
                <a:srgbClr val="329BAC"/>
              </a:buClr>
              <a:buSzPts val="1800"/>
            </a:pPr>
            <a:r>
              <a:rPr lang="ru-RU" sz="4000" b="1" dirty="0">
                <a:latin typeface="Montserrat Medium"/>
                <a:ea typeface="Montserrat Medium"/>
                <a:cs typeface="Montserrat Medium"/>
                <a:sym typeface="Montserrat Medium"/>
              </a:rPr>
              <a:t>Вопросы?</a:t>
            </a:r>
            <a:endParaRPr lang="ru-RU" sz="44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54736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1191</Words>
  <Application>Microsoft Office PowerPoint</Application>
  <PresentationFormat>Экран (16:9)</PresentationFormat>
  <Paragraphs>274</Paragraphs>
  <Slides>59</Slides>
  <Notes>59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8" baseType="lpstr">
      <vt:lpstr>Roboto</vt:lpstr>
      <vt:lpstr>Calibri</vt:lpstr>
      <vt:lpstr>Montserrat Medium</vt:lpstr>
      <vt:lpstr>Roboto Medium</vt:lpstr>
      <vt:lpstr>Cambria Math</vt:lpstr>
      <vt:lpstr>Arial</vt:lpstr>
      <vt:lpstr>Montserrat ExtraBold</vt:lpstr>
      <vt:lpstr>Roboto Light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Ронкин Михаил Владимирович</cp:lastModifiedBy>
  <cp:revision>101</cp:revision>
  <dcterms:modified xsi:type="dcterms:W3CDTF">2026-10-12T12:38:19Z</dcterms:modified>
</cp:coreProperties>
</file>