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57"/>
  </p:notesMasterIdLst>
  <p:sldIdLst>
    <p:sldId id="257" r:id="rId2"/>
    <p:sldId id="325" r:id="rId3"/>
    <p:sldId id="407" r:id="rId4"/>
    <p:sldId id="406" r:id="rId5"/>
    <p:sldId id="408" r:id="rId6"/>
    <p:sldId id="409" r:id="rId7"/>
    <p:sldId id="411" r:id="rId8"/>
    <p:sldId id="412" r:id="rId9"/>
    <p:sldId id="413" r:id="rId10"/>
    <p:sldId id="414" r:id="rId11"/>
    <p:sldId id="415" r:id="rId12"/>
    <p:sldId id="416" r:id="rId13"/>
    <p:sldId id="326" r:id="rId14"/>
    <p:sldId id="417" r:id="rId15"/>
    <p:sldId id="327" r:id="rId16"/>
    <p:sldId id="328" r:id="rId17"/>
    <p:sldId id="329" r:id="rId18"/>
    <p:sldId id="418" r:id="rId19"/>
    <p:sldId id="421" r:id="rId20"/>
    <p:sldId id="423" r:id="rId21"/>
    <p:sldId id="422" r:id="rId22"/>
    <p:sldId id="424" r:id="rId23"/>
    <p:sldId id="272" r:id="rId24"/>
    <p:sldId id="273" r:id="rId25"/>
    <p:sldId id="425" r:id="rId26"/>
    <p:sldId id="330" r:id="rId27"/>
    <p:sldId id="331" r:id="rId28"/>
    <p:sldId id="332" r:id="rId29"/>
    <p:sldId id="333" r:id="rId30"/>
    <p:sldId id="335" r:id="rId31"/>
    <p:sldId id="336" r:id="rId32"/>
    <p:sldId id="337" r:id="rId33"/>
    <p:sldId id="339" r:id="rId34"/>
    <p:sldId id="341" r:id="rId35"/>
    <p:sldId id="342" r:id="rId36"/>
    <p:sldId id="343" r:id="rId37"/>
    <p:sldId id="344" r:id="rId38"/>
    <p:sldId id="345" r:id="rId39"/>
    <p:sldId id="349" r:id="rId40"/>
    <p:sldId id="428" r:id="rId41"/>
    <p:sldId id="353" r:id="rId42"/>
    <p:sldId id="429" r:id="rId43"/>
    <p:sldId id="430" r:id="rId44"/>
    <p:sldId id="384" r:id="rId45"/>
    <p:sldId id="383" r:id="rId46"/>
    <p:sldId id="385" r:id="rId47"/>
    <p:sldId id="377" r:id="rId48"/>
    <p:sldId id="378" r:id="rId49"/>
    <p:sldId id="379" r:id="rId50"/>
    <p:sldId id="419" r:id="rId51"/>
    <p:sldId id="420" r:id="rId52"/>
    <p:sldId id="391" r:id="rId53"/>
    <p:sldId id="392" r:id="rId54"/>
    <p:sldId id="427" r:id="rId55"/>
    <p:sldId id="355" r:id="rId56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58"/>
    </p:embeddedFont>
    <p:embeddedFont>
      <p:font typeface="Consolas" panose="020B0609020204030204" pitchFamily="49" charset="0"/>
      <p:regular r:id="rId59"/>
      <p:bold r:id="rId60"/>
      <p:italic r:id="rId61"/>
      <p:boldItalic r:id="rId62"/>
    </p:embeddedFont>
    <p:embeddedFont>
      <p:font typeface="Gill Sans" panose="020B0604020202020204" charset="0"/>
      <p:regular r:id="rId63"/>
      <p:bold r:id="rId64"/>
    </p:embeddedFont>
    <p:embeddedFont>
      <p:font typeface="Montserrat" panose="00000500000000000000" pitchFamily="2" charset="-52"/>
      <p:regular r:id="rId65"/>
      <p:bold r:id="rId66"/>
      <p:italic r:id="rId67"/>
      <p:boldItalic r:id="rId68"/>
    </p:embeddedFont>
    <p:embeddedFont>
      <p:font typeface="Montserrat ExtraBold" panose="00000900000000000000" pitchFamily="2" charset="-52"/>
      <p:bold r:id="rId69"/>
      <p:boldItalic r:id="rId70"/>
    </p:embeddedFont>
    <p:embeddedFont>
      <p:font typeface="Montserrat Light" panose="00000400000000000000" pitchFamily="2" charset="-52"/>
      <p:regular r:id="rId71"/>
      <p:bold r:id="rId72"/>
      <p:italic r:id="rId73"/>
      <p:boldItalic r:id="rId74"/>
    </p:embeddedFont>
    <p:embeddedFont>
      <p:font typeface="Montserrat Medium" panose="00000600000000000000" pitchFamily="2" charset="-52"/>
      <p:regular r:id="rId75"/>
      <p:bold r:id="rId76"/>
      <p:italic r:id="rId77"/>
      <p:boldItalic r:id="rId78"/>
    </p:embeddedFont>
    <p:embeddedFont>
      <p:font typeface="Roboto" panose="02000000000000000000" pitchFamily="2" charset="0"/>
      <p:regular r:id="rId79"/>
      <p:bold r:id="rId80"/>
      <p:italic r:id="rId81"/>
      <p:boldItalic r:id="rId8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Оля Шпилёва" initials="" lastIdx="9" clrIdx="0"/>
  <p:cmAuthor id="1" name="Андрей Созыкин" initials="АС" lastIdx="1" clrIdx="1">
    <p:extLst>
      <p:ext uri="{19B8F6BF-5375-455C-9EA6-DF929625EA0E}">
        <p15:presenceInfo xmlns:p15="http://schemas.microsoft.com/office/powerpoint/2012/main" userId="26c361895a5d0c0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6.fntdata"/><Relationship Id="rId68" Type="http://schemas.openxmlformats.org/officeDocument/2006/relationships/font" Target="fonts/font11.fntdata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font" Target="fonts/font1.fntdata"/><Relationship Id="rId74" Type="http://schemas.openxmlformats.org/officeDocument/2006/relationships/font" Target="fonts/font17.fntdata"/><Relationship Id="rId79" Type="http://schemas.openxmlformats.org/officeDocument/2006/relationships/font" Target="fonts/font22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7.fntdata"/><Relationship Id="rId69" Type="http://schemas.openxmlformats.org/officeDocument/2006/relationships/font" Target="fonts/font12.fntdata"/><Relationship Id="rId77" Type="http://schemas.openxmlformats.org/officeDocument/2006/relationships/font" Target="fonts/font20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5.fntdata"/><Relationship Id="rId80" Type="http://schemas.openxmlformats.org/officeDocument/2006/relationships/font" Target="fonts/font23.fntdata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2.fntdata"/><Relationship Id="rId67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5.fntdata"/><Relationship Id="rId70" Type="http://schemas.openxmlformats.org/officeDocument/2006/relationships/font" Target="fonts/font13.fntdata"/><Relationship Id="rId75" Type="http://schemas.openxmlformats.org/officeDocument/2006/relationships/font" Target="fonts/font18.fntdata"/><Relationship Id="rId83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3.fntdata"/><Relationship Id="rId65" Type="http://schemas.openxmlformats.org/officeDocument/2006/relationships/font" Target="fonts/font8.fntdata"/><Relationship Id="rId73" Type="http://schemas.openxmlformats.org/officeDocument/2006/relationships/font" Target="fonts/font16.fntdata"/><Relationship Id="rId78" Type="http://schemas.openxmlformats.org/officeDocument/2006/relationships/font" Target="fonts/font21.fntdata"/><Relationship Id="rId81" Type="http://schemas.openxmlformats.org/officeDocument/2006/relationships/font" Target="fonts/font24.fntdata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9.fntdata"/><Relationship Id="rId7" Type="http://schemas.openxmlformats.org/officeDocument/2006/relationships/slide" Target="slides/slide6.xml"/><Relationship Id="rId71" Type="http://schemas.openxmlformats.org/officeDocument/2006/relationships/font" Target="fonts/font14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9.fntdata"/><Relationship Id="rId87" Type="http://schemas.openxmlformats.org/officeDocument/2006/relationships/tableStyles" Target="tableStyles.xml"/><Relationship Id="rId61" Type="http://schemas.openxmlformats.org/officeDocument/2006/relationships/font" Target="fonts/font4.fntdata"/><Relationship Id="rId82" Type="http://schemas.openxmlformats.org/officeDocument/2006/relationships/font" Target="fonts/font2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5a0296b8ef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" name="Google Shape;74;g25a0296b8ef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5a0296b8e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g25a0296b8e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>
          <a:extLst>
            <a:ext uri="{FF2B5EF4-FFF2-40B4-BE49-F238E27FC236}">
              <a16:creationId xmlns:a16="http://schemas.microsoft.com/office/drawing/2014/main" id="{07450AB4-32AD-236A-9500-A65A3D181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753770f632_0_366:notes">
            <a:extLst>
              <a:ext uri="{FF2B5EF4-FFF2-40B4-BE49-F238E27FC236}">
                <a16:creationId xmlns:a16="http://schemas.microsoft.com/office/drawing/2014/main" id="{1192A5F6-8241-0B10-A2B1-46A8DFB0BB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1" name="Google Shape;401;g2753770f632_0_366:notes">
            <a:extLst>
              <a:ext uri="{FF2B5EF4-FFF2-40B4-BE49-F238E27FC236}">
                <a16:creationId xmlns:a16="http://schemas.microsoft.com/office/drawing/2014/main" id="{7F665B21-D1C3-BBA4-5FF9-1402E689A6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1875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>
          <a:extLst>
            <a:ext uri="{FF2B5EF4-FFF2-40B4-BE49-F238E27FC236}">
              <a16:creationId xmlns:a16="http://schemas.microsoft.com/office/drawing/2014/main" id="{82E6A4A3-767D-5AB3-9743-B83115A70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753770f632_0_366:notes">
            <a:extLst>
              <a:ext uri="{FF2B5EF4-FFF2-40B4-BE49-F238E27FC236}">
                <a16:creationId xmlns:a16="http://schemas.microsoft.com/office/drawing/2014/main" id="{45BBA4AA-4931-C9D1-C122-18AD10CE0E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1" name="Google Shape;401;g2753770f632_0_366:notes">
            <a:extLst>
              <a:ext uri="{FF2B5EF4-FFF2-40B4-BE49-F238E27FC236}">
                <a16:creationId xmlns:a16="http://schemas.microsoft.com/office/drawing/2014/main" id="{6B1DEB65-6163-405B-DFDD-9B6DDB5094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53875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>
          <a:extLst>
            <a:ext uri="{FF2B5EF4-FFF2-40B4-BE49-F238E27FC236}">
              <a16:creationId xmlns:a16="http://schemas.microsoft.com/office/drawing/2014/main" id="{B56D7246-A52E-F352-0E84-E2456EFE3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753770f632_0_366:notes">
            <a:extLst>
              <a:ext uri="{FF2B5EF4-FFF2-40B4-BE49-F238E27FC236}">
                <a16:creationId xmlns:a16="http://schemas.microsoft.com/office/drawing/2014/main" id="{248FABD6-93AE-6422-F642-0D507D6F98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1" name="Google Shape;401;g2753770f632_0_366:notes">
            <a:extLst>
              <a:ext uri="{FF2B5EF4-FFF2-40B4-BE49-F238E27FC236}">
                <a16:creationId xmlns:a16="http://schemas.microsoft.com/office/drawing/2014/main" id="{085E587A-538A-10E6-FD48-0423D6C936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79981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>
          <a:extLst>
            <a:ext uri="{FF2B5EF4-FFF2-40B4-BE49-F238E27FC236}">
              <a16:creationId xmlns:a16="http://schemas.microsoft.com/office/drawing/2014/main" id="{3D29B861-09F6-C6A3-746C-46924BC78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753770f632_0_366:notes">
            <a:extLst>
              <a:ext uri="{FF2B5EF4-FFF2-40B4-BE49-F238E27FC236}">
                <a16:creationId xmlns:a16="http://schemas.microsoft.com/office/drawing/2014/main" id="{7072CBEF-DAC6-0A06-3AD2-0E8987169A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1" name="Google Shape;401;g2753770f632_0_366:notes">
            <a:extLst>
              <a:ext uri="{FF2B5EF4-FFF2-40B4-BE49-F238E27FC236}">
                <a16:creationId xmlns:a16="http://schemas.microsoft.com/office/drawing/2014/main" id="{FF3341DD-E0C9-96B4-0454-F26DA37133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248159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>
          <a:extLst>
            <a:ext uri="{FF2B5EF4-FFF2-40B4-BE49-F238E27FC236}">
              <a16:creationId xmlns:a16="http://schemas.microsoft.com/office/drawing/2014/main" id="{7E775BC9-B9DE-58C2-ACCE-2BF32628D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753770f632_0_366:notes">
            <a:extLst>
              <a:ext uri="{FF2B5EF4-FFF2-40B4-BE49-F238E27FC236}">
                <a16:creationId xmlns:a16="http://schemas.microsoft.com/office/drawing/2014/main" id="{878D9FF7-37F0-5D86-23B9-8211804BF9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1" name="Google Shape;401;g2753770f632_0_366:notes">
            <a:extLst>
              <a:ext uri="{FF2B5EF4-FFF2-40B4-BE49-F238E27FC236}">
                <a16:creationId xmlns:a16="http://schemas.microsoft.com/office/drawing/2014/main" id="{DC311D75-FEC6-9ECA-3D24-773D3EA0C9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8851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>
          <a:extLst>
            <a:ext uri="{FF2B5EF4-FFF2-40B4-BE49-F238E27FC236}">
              <a16:creationId xmlns:a16="http://schemas.microsoft.com/office/drawing/2014/main" id="{7ABD8388-7468-F592-D495-710222E82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753770f632_0_366:notes">
            <a:extLst>
              <a:ext uri="{FF2B5EF4-FFF2-40B4-BE49-F238E27FC236}">
                <a16:creationId xmlns:a16="http://schemas.microsoft.com/office/drawing/2014/main" id="{8FAD61E6-53B8-5F72-4138-9383D3F5D0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1" name="Google Shape;401;g2753770f632_0_366:notes">
            <a:extLst>
              <a:ext uri="{FF2B5EF4-FFF2-40B4-BE49-F238E27FC236}">
                <a16:creationId xmlns:a16="http://schemas.microsoft.com/office/drawing/2014/main" id="{01E8B229-99B1-C9FD-85A4-9175F9CF26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898990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>
          <a:extLst>
            <a:ext uri="{FF2B5EF4-FFF2-40B4-BE49-F238E27FC236}">
              <a16:creationId xmlns:a16="http://schemas.microsoft.com/office/drawing/2014/main" id="{11A81F06-788A-4D6C-59FB-65A3B4C15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753770f632_0_366:notes">
            <a:extLst>
              <a:ext uri="{FF2B5EF4-FFF2-40B4-BE49-F238E27FC236}">
                <a16:creationId xmlns:a16="http://schemas.microsoft.com/office/drawing/2014/main" id="{0C9198CA-8CBA-2809-49A6-31C05EB3F8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1" name="Google Shape;401;g2753770f632_0_366:notes">
            <a:extLst>
              <a:ext uri="{FF2B5EF4-FFF2-40B4-BE49-F238E27FC236}">
                <a16:creationId xmlns:a16="http://schemas.microsoft.com/office/drawing/2014/main" id="{9A3C5796-3DDC-BCC9-990A-A7CB255559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47936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>
          <a:extLst>
            <a:ext uri="{FF2B5EF4-FFF2-40B4-BE49-F238E27FC236}">
              <a16:creationId xmlns:a16="http://schemas.microsoft.com/office/drawing/2014/main" id="{5C863352-276E-7AEC-C51C-65863C7F3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753770f632_0_366:notes">
            <a:extLst>
              <a:ext uri="{FF2B5EF4-FFF2-40B4-BE49-F238E27FC236}">
                <a16:creationId xmlns:a16="http://schemas.microsoft.com/office/drawing/2014/main" id="{A3CAF2FA-0A6A-2406-B948-2D94177CB3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1" name="Google Shape;401;g2753770f632_0_366:notes">
            <a:extLst>
              <a:ext uri="{FF2B5EF4-FFF2-40B4-BE49-F238E27FC236}">
                <a16:creationId xmlns:a16="http://schemas.microsoft.com/office/drawing/2014/main" id="{C1D683A7-5E32-EE24-C2F7-7842247C61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630304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>
          <a:extLst>
            <a:ext uri="{FF2B5EF4-FFF2-40B4-BE49-F238E27FC236}">
              <a16:creationId xmlns:a16="http://schemas.microsoft.com/office/drawing/2014/main" id="{BB08345A-96CF-BB24-711D-52C7FC70D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753770f632_0_366:notes">
            <a:extLst>
              <a:ext uri="{FF2B5EF4-FFF2-40B4-BE49-F238E27FC236}">
                <a16:creationId xmlns:a16="http://schemas.microsoft.com/office/drawing/2014/main" id="{55E64DEC-152B-0147-296F-808B5E3231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1" name="Google Shape;401;g2753770f632_0_366:notes">
            <a:extLst>
              <a:ext uri="{FF2B5EF4-FFF2-40B4-BE49-F238E27FC236}">
                <a16:creationId xmlns:a16="http://schemas.microsoft.com/office/drawing/2014/main" id="{BF659F4E-8A61-E586-7184-7E7570BB5A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79803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>
          <a:extLst>
            <a:ext uri="{FF2B5EF4-FFF2-40B4-BE49-F238E27FC236}">
              <a16:creationId xmlns:a16="http://schemas.microsoft.com/office/drawing/2014/main" id="{99648364-8A2A-25B5-AA42-A8469118B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753770f632_0_366:notes">
            <a:extLst>
              <a:ext uri="{FF2B5EF4-FFF2-40B4-BE49-F238E27FC236}">
                <a16:creationId xmlns:a16="http://schemas.microsoft.com/office/drawing/2014/main" id="{561F6C16-563B-A0CB-3736-9455847466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1" name="Google Shape;401;g2753770f632_0_366:notes">
            <a:extLst>
              <a:ext uri="{FF2B5EF4-FFF2-40B4-BE49-F238E27FC236}">
                <a16:creationId xmlns:a16="http://schemas.microsoft.com/office/drawing/2014/main" id="{500B3C57-CCAF-436B-5490-2A65CCD716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542881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F7F4D98A-067E-E3A8-3CD7-A1E74C45B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7b220b5ca7_2_129:notes">
            <a:extLst>
              <a:ext uri="{FF2B5EF4-FFF2-40B4-BE49-F238E27FC236}">
                <a16:creationId xmlns:a16="http://schemas.microsoft.com/office/drawing/2014/main" id="{B4714733-823E-9092-EB9C-018E5B8B0E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g7b220b5ca7_2_129:notes">
            <a:extLst>
              <a:ext uri="{FF2B5EF4-FFF2-40B4-BE49-F238E27FC236}">
                <a16:creationId xmlns:a16="http://schemas.microsoft.com/office/drawing/2014/main" id="{89628EED-75DE-74E0-340F-B67561F092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6216337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89804D3F-9E60-9117-3F3D-9F6082164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7b220b5ca7_2_129:notes">
            <a:extLst>
              <a:ext uri="{FF2B5EF4-FFF2-40B4-BE49-F238E27FC236}">
                <a16:creationId xmlns:a16="http://schemas.microsoft.com/office/drawing/2014/main" id="{2B1EA49E-CF60-5349-7EC3-802EAF56F8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g7b220b5ca7_2_129:notes">
            <a:extLst>
              <a:ext uri="{FF2B5EF4-FFF2-40B4-BE49-F238E27FC236}">
                <a16:creationId xmlns:a16="http://schemas.microsoft.com/office/drawing/2014/main" id="{BAA14A79-AC9A-FD77-A4AC-77D4F76AA3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8259966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>
          <a:extLst>
            <a:ext uri="{FF2B5EF4-FFF2-40B4-BE49-F238E27FC236}">
              <a16:creationId xmlns:a16="http://schemas.microsoft.com/office/drawing/2014/main" id="{E080BAA5-DA13-0470-1F07-628852746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753770f632_0_366:notes">
            <a:extLst>
              <a:ext uri="{FF2B5EF4-FFF2-40B4-BE49-F238E27FC236}">
                <a16:creationId xmlns:a16="http://schemas.microsoft.com/office/drawing/2014/main" id="{B35F90F3-DF5B-131E-237B-2611CB4E0B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1" name="Google Shape;401;g2753770f632_0_366:notes">
            <a:extLst>
              <a:ext uri="{FF2B5EF4-FFF2-40B4-BE49-F238E27FC236}">
                <a16:creationId xmlns:a16="http://schemas.microsoft.com/office/drawing/2014/main" id="{553A6EA6-30D5-2F7B-281C-E0B49A4AC4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786488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5EA70515-95E6-1CE8-A1F9-C5CA92C27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B3F4B033-FAAF-CDAD-9654-7C764C1184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A3CFA6E8-994E-54E4-4C74-42E01D4C49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63216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 dark">
    <p:bg>
      <p:bgPr>
        <a:solidFill>
          <a:srgbClr val="232329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7" descr="0qode_logo_Монтажная область 1 копия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138" y="4116403"/>
            <a:ext cx="978406" cy="97840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7"/>
          <p:cNvSpPr txBox="1"/>
          <p:nvPr/>
        </p:nvSpPr>
        <p:spPr>
          <a:xfrm>
            <a:off x="3935465" y="4662461"/>
            <a:ext cx="12732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1100"/>
              <a:buFont typeface="Arial"/>
              <a:buNone/>
            </a:pPr>
            <a:r>
              <a:rPr lang="ru" sz="1100" b="0" i="0" u="none" strike="noStrike" cap="none">
                <a:solidFill>
                  <a:srgbClr val="929292"/>
                </a:solidFill>
                <a:latin typeface="Montserrat"/>
                <a:ea typeface="Montserrat"/>
                <a:cs typeface="Montserrat"/>
                <a:sym typeface="Montserrat"/>
              </a:rPr>
              <a:t>zerocoder.ru</a:t>
            </a:r>
            <a:endParaRPr sz="5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5" name="Google Shape;75;p17"/>
          <p:cNvCxnSpPr/>
          <p:nvPr/>
        </p:nvCxnSpPr>
        <p:spPr>
          <a:xfrm>
            <a:off x="3302340" y="4749286"/>
            <a:ext cx="739500" cy="0"/>
          </a:xfrm>
          <a:prstGeom prst="straightConnector1">
            <a:avLst/>
          </a:prstGeom>
          <a:noFill/>
          <a:ln w="12700" cap="flat" cmpd="sng">
            <a:solidFill>
              <a:srgbClr val="797979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76" name="Google Shape;76;p17"/>
          <p:cNvCxnSpPr/>
          <p:nvPr/>
        </p:nvCxnSpPr>
        <p:spPr>
          <a:xfrm>
            <a:off x="5087286" y="4748481"/>
            <a:ext cx="739500" cy="0"/>
          </a:xfrm>
          <a:prstGeom prst="straightConnector1">
            <a:avLst/>
          </a:prstGeom>
          <a:noFill/>
          <a:ln w="12700" cap="flat" cmpd="sng">
            <a:solidFill>
              <a:srgbClr val="79797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4489550" y="4912518"/>
            <a:ext cx="157200" cy="1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28575" rIns="28575" bIns="28575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ill Sans"/>
              <a:buNone/>
              <a:defRPr sz="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ill Sans"/>
              <a:buNone/>
              <a:defRPr sz="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ill Sans"/>
              <a:buNone/>
              <a:defRPr sz="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ill Sans"/>
              <a:buNone/>
              <a:defRPr sz="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ill Sans"/>
              <a:buNone/>
              <a:defRPr sz="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ill Sans"/>
              <a:buNone/>
              <a:defRPr sz="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ill Sans"/>
              <a:buNone/>
              <a:defRPr sz="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ill Sans"/>
              <a:buNone/>
              <a:defRPr sz="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ill Sans"/>
              <a:buNone/>
              <a:defRPr sz="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0194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9BAC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 amt="6000"/>
          </a:blip>
          <a:srcRect b="15604"/>
          <a:stretch/>
        </p:blipFill>
        <p:spPr>
          <a:xfrm>
            <a:off x="0" y="25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539999" y="3941150"/>
            <a:ext cx="822209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2000"/>
            </a:pPr>
            <a:r>
              <a:rPr lang="ru" sz="1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Созыкин Андрей Владимирович, к.т.н.</a:t>
            </a:r>
          </a:p>
          <a:p>
            <a:pPr lvl="0">
              <a:buSzPts val="2000"/>
            </a:pPr>
            <a:r>
              <a:rPr lang="ru" sz="1800" b="1" dirty="0">
                <a:solidFill>
                  <a:schemeClr val="lt1"/>
                </a:solidFill>
                <a:latin typeface="Montserrat"/>
                <a:ea typeface="Montserrat Light"/>
                <a:cs typeface="Montserrat Light"/>
                <a:sym typeface="Montserrat"/>
              </a:rPr>
              <a:t>Директор УНЦ «Искусственный интеллект» ИРИТ-РТФ УрФУ</a:t>
            </a:r>
            <a:endParaRPr sz="1800" b="0" i="0" u="none" strike="noStrike" cap="none" dirty="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540000" y="1341650"/>
            <a:ext cx="60324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Анализ данных и искусственный интеллект</a:t>
            </a:r>
            <a:endParaRPr sz="1800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540000" y="2080538"/>
            <a:ext cx="82221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ru-RU" sz="40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ИИ</a:t>
            </a:r>
            <a:r>
              <a:rPr lang="en-US" sz="40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-</a:t>
            </a:r>
            <a:r>
              <a:rPr lang="ru-RU" sz="40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агенты</a:t>
            </a:r>
            <a:endParaRPr sz="400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0" name="Google Shape;320;p39"/>
              <p:cNvSpPr txBox="1"/>
              <p:nvPr/>
            </p:nvSpPr>
            <p:spPr>
              <a:xfrm>
                <a:off x="540000" y="720253"/>
                <a:ext cx="8217139" cy="40426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457189" indent="-342892">
                  <a:lnSpc>
                    <a:spcPct val="115000"/>
                  </a:lnSpc>
                  <a:spcBef>
                    <a:spcPts val="900"/>
                  </a:spcBef>
                  <a:buClr>
                    <a:srgbClr val="329BAC"/>
                  </a:buClr>
                  <a:buSzPts val="1800"/>
                  <a:buFont typeface="Montserrat Medium"/>
                  <a:buChar char="●"/>
                </a:pPr>
                <a:r>
                  <a:rPr lang="ru-RU" sz="1800" dirty="0">
                    <a:latin typeface="Montserrat"/>
                    <a:ea typeface="Montserrat"/>
                    <a:cs typeface="Montserrat"/>
                    <a:sym typeface="Montserrat"/>
                  </a:rPr>
                  <a:t>Языковая модель – это распределение вероятностей по последовательностям слов  </a:t>
                </a:r>
                <a:endParaRPr lang="ru-RU" sz="1800" dirty="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  <a:p>
                <a:pPr marL="914378" lvl="1" indent="-342892">
                  <a:lnSpc>
                    <a:spcPct val="115000"/>
                  </a:lnSpc>
                  <a:spcBef>
                    <a:spcPts val="450"/>
                  </a:spcBef>
                  <a:buClr>
                    <a:srgbClr val="329BAC"/>
                  </a:buClr>
                  <a:buSzPts val="1800"/>
                  <a:buFont typeface="Montserrat Medium"/>
                  <a:buChar char="○"/>
                </a:pPr>
                <a:r>
                  <a:rPr lang="ru-RU" sz="1800" dirty="0">
                    <a:latin typeface="Montserrat"/>
                    <a:sym typeface="Montserrat Medium"/>
                  </a:rPr>
                  <a:t>Для любой последовательности слов длины </a:t>
                </a:r>
                <a:r>
                  <a:rPr lang="ru-RU" sz="1800" i="1" dirty="0">
                    <a:latin typeface="Montserrat"/>
                    <a:sym typeface="Montserrat Medium"/>
                  </a:rPr>
                  <a:t>m</a:t>
                </a:r>
                <a:r>
                  <a:rPr lang="ru-RU" sz="1800" dirty="0">
                    <a:latin typeface="Montserrat"/>
                    <a:sym typeface="Montserrat Medium"/>
                  </a:rPr>
                  <a:t> языковая модель присваивает вероятность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sym typeface="Montserrat Medium"/>
                      </a:rPr>
                      <m:t>𝑃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sym typeface="Montserrat Medium"/>
                      </a:rPr>
                      <m:t>(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sym typeface="Montserrat Medium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sym typeface="Montserrat Medium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sym typeface="Montserrat Medium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sym typeface="Montserrat Medium"/>
                      </a:rPr>
                      <m:t>,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sym typeface="Montserrat Medium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sym typeface="Montserrat Medium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sym typeface="Montserrat Medium"/>
                          </a:rPr>
                          <m:t>2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sym typeface="Montserrat Medium"/>
                      </a:rPr>
                      <m:t>,…,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sym typeface="Montserrat Medium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sym typeface="Montserrat Medium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sym typeface="Montserrat Medium"/>
                          </a:rPr>
                          <m:t>𝑚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sym typeface="Montserrat Medium"/>
                      </a:rPr>
                      <m:t>)</m:t>
                    </m:r>
                  </m:oMath>
                </a14:m>
                <a:r>
                  <a:rPr lang="ru-RU" sz="1800" dirty="0">
                    <a:latin typeface="Montserrat"/>
                    <a:sym typeface="Montserrat Medium"/>
                  </a:rPr>
                  <a:t> всей последовательности.</a:t>
                </a:r>
              </a:p>
              <a:p>
                <a:pPr marL="457189" indent="-342892">
                  <a:lnSpc>
                    <a:spcPct val="115000"/>
                  </a:lnSpc>
                  <a:spcBef>
                    <a:spcPts val="900"/>
                  </a:spcBef>
                  <a:buClr>
                    <a:srgbClr val="329BAC"/>
                  </a:buClr>
                  <a:buSzPts val="1800"/>
                  <a:buFont typeface="Montserrat Medium"/>
                  <a:buChar char="●"/>
                </a:pPr>
                <a:r>
                  <a:rPr lang="ru-RU" sz="1800" dirty="0">
                    <a:latin typeface="Montserrat"/>
                    <a:ea typeface="Montserrat"/>
                    <a:cs typeface="Montserrat"/>
                    <a:sym typeface="Montserrat"/>
                  </a:rPr>
                  <a:t>Задачи, которые решает языковая модель:   </a:t>
                </a:r>
                <a:endParaRPr lang="ru-RU" sz="1800" dirty="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  <a:p>
                <a:pPr marL="914378" lvl="1" indent="-342892">
                  <a:lnSpc>
                    <a:spcPct val="115000"/>
                  </a:lnSpc>
                  <a:spcBef>
                    <a:spcPts val="450"/>
                  </a:spcBef>
                  <a:buClr>
                    <a:srgbClr val="329BAC"/>
                  </a:buClr>
                  <a:buSzPts val="1800"/>
                  <a:buFont typeface="Montserrat Medium"/>
                  <a:buChar char="○"/>
                </a:pPr>
                <a:r>
                  <a:rPr lang="ru-RU" sz="1800" dirty="0">
                    <a:latin typeface="Montserrat"/>
                    <a:sym typeface="Montserrat Medium"/>
                  </a:rPr>
                  <a:t>Продолжение последовательности слов: </a:t>
                </a:r>
                <a:r>
                  <a:rPr lang="ru-RU" sz="1800" i="1" dirty="0">
                    <a:latin typeface="Montserrat"/>
                    <a:sym typeface="Montserrat Medium"/>
                  </a:rPr>
                  <a:t>Кошка села на …</a:t>
                </a:r>
              </a:p>
              <a:p>
                <a:pPr marL="914378" lvl="1" indent="-342892">
                  <a:lnSpc>
                    <a:spcPct val="115000"/>
                  </a:lnSpc>
                  <a:spcBef>
                    <a:spcPts val="450"/>
                  </a:spcBef>
                  <a:buClr>
                    <a:srgbClr val="329BAC"/>
                  </a:buClr>
                  <a:buSzPts val="1800"/>
                  <a:buFont typeface="Montserrat Medium"/>
                  <a:buChar char="○"/>
                </a:pPr>
                <a:r>
                  <a:rPr lang="ru-RU" sz="1800" dirty="0">
                    <a:latin typeface="Montserrat"/>
                    <a:sym typeface="Montserrat Medium"/>
                  </a:rPr>
                  <a:t>Заполнение маски (отсутствующего слова) в последовательности слов: </a:t>
                </a:r>
                <a:r>
                  <a:rPr lang="ru-RU" sz="1800" i="1" dirty="0">
                    <a:latin typeface="Montserrat"/>
                    <a:sym typeface="Montserrat Medium"/>
                  </a:rPr>
                  <a:t>Одеяло [</a:t>
                </a:r>
                <a:r>
                  <a:rPr lang="en-US" sz="1800" i="1" dirty="0">
                    <a:latin typeface="Montserrat"/>
                    <a:sym typeface="Montserrat Medium"/>
                  </a:rPr>
                  <a:t>MASK], </a:t>
                </a:r>
                <a:r>
                  <a:rPr lang="ru-RU" sz="1800" i="1" dirty="0">
                    <a:latin typeface="Montserrat"/>
                    <a:sym typeface="Montserrat Medium"/>
                  </a:rPr>
                  <a:t>простыня улетела.</a:t>
                </a:r>
              </a:p>
              <a:p>
                <a:pPr marL="457189" indent="-342892">
                  <a:lnSpc>
                    <a:spcPct val="115000"/>
                  </a:lnSpc>
                  <a:spcBef>
                    <a:spcPts val="900"/>
                  </a:spcBef>
                  <a:buClr>
                    <a:srgbClr val="329BAC"/>
                  </a:buClr>
                  <a:buSzPts val="1800"/>
                  <a:buFont typeface="Montserrat Medium"/>
                  <a:buChar char="●"/>
                </a:pPr>
                <a:endParaRPr sz="1800" dirty="0">
                  <a:latin typeface="Montserrat"/>
                  <a:sym typeface="Montserrat Medium"/>
                </a:endParaRPr>
              </a:p>
            </p:txBody>
          </p:sp>
        </mc:Choice>
        <mc:Fallback xmlns="">
          <p:sp>
            <p:nvSpPr>
              <p:cNvPr id="320" name="Google Shape;320;p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0" y="720253"/>
                <a:ext cx="8217139" cy="4042645"/>
              </a:xfrm>
              <a:prstGeom prst="rect">
                <a:avLst/>
              </a:prstGeom>
              <a:blipFill>
                <a:blip r:embed="rId3"/>
                <a:stretch>
                  <a:fillRect l="-2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Google Shape;322;p39"/>
          <p:cNvSpPr txBox="1"/>
          <p:nvPr/>
        </p:nvSpPr>
        <p:spPr>
          <a:xfrm>
            <a:off x="540000" y="360154"/>
            <a:ext cx="8217138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90000"/>
              </a:lnSpc>
              <a:buSzPts val="2600"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Языковая модель</a:t>
            </a:r>
            <a:endParaRPr sz="2600" dirty="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>
          <a:extLst>
            <a:ext uri="{FF2B5EF4-FFF2-40B4-BE49-F238E27FC236}">
              <a16:creationId xmlns:a16="http://schemas.microsoft.com/office/drawing/2014/main" id="{DCE54C13-D3BF-C055-D7E3-B6D3E73B5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3">
            <a:extLst>
              <a:ext uri="{FF2B5EF4-FFF2-40B4-BE49-F238E27FC236}">
                <a16:creationId xmlns:a16="http://schemas.microsoft.com/office/drawing/2014/main" id="{4FA8B1B1-8622-4E22-6D04-0B16FFBD136E}"/>
              </a:ext>
            </a:extLst>
          </p:cNvPr>
          <p:cNvSpPr txBox="1"/>
          <p:nvPr/>
        </p:nvSpPr>
        <p:spPr>
          <a:xfrm>
            <a:off x="540000" y="1259150"/>
            <a:ext cx="8272924" cy="312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«Большой» размер модели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Миллиарды и трилионы параметров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«Большой» корпус текстов</a:t>
            </a:r>
          </a:p>
          <a:p>
            <a:pPr marL="914400" lvl="1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Весь интернет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«Большие» вычислительные ресурсы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Вычислительные кластеры с тысячами </a:t>
            </a: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GPU</a:t>
            </a:r>
            <a:endParaRPr lang="ru"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06" name="Google Shape;406;p43">
            <a:extLst>
              <a:ext uri="{FF2B5EF4-FFF2-40B4-BE49-F238E27FC236}">
                <a16:creationId xmlns:a16="http://schemas.microsoft.com/office/drawing/2014/main" id="{A0AE2840-4378-5CAF-457D-A74E15E2C8BA}"/>
              </a:ext>
            </a:extLst>
          </p:cNvPr>
          <p:cNvSpPr txBox="1"/>
          <p:nvPr/>
        </p:nvSpPr>
        <p:spPr>
          <a:xfrm>
            <a:off x="540000" y="360103"/>
            <a:ext cx="7918200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Большие языковые модели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050060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>
          <a:extLst>
            <a:ext uri="{FF2B5EF4-FFF2-40B4-BE49-F238E27FC236}">
              <a16:creationId xmlns:a16="http://schemas.microsoft.com/office/drawing/2014/main" id="{236831FB-4C29-4475-7062-FEF9327EF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3">
            <a:extLst>
              <a:ext uri="{FF2B5EF4-FFF2-40B4-BE49-F238E27FC236}">
                <a16:creationId xmlns:a16="http://schemas.microsoft.com/office/drawing/2014/main" id="{6CB18C80-94D3-C9E4-80DE-3EA636CEB7C6}"/>
              </a:ext>
            </a:extLst>
          </p:cNvPr>
          <p:cNvSpPr txBox="1"/>
          <p:nvPr/>
        </p:nvSpPr>
        <p:spPr>
          <a:xfrm>
            <a:off x="540000" y="1259150"/>
            <a:ext cx="8272924" cy="312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OpenAI GPT-5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Anthropic Sonnet 4.5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DeepSeek R1</a:t>
            </a:r>
          </a:p>
          <a:p>
            <a:pPr marL="457200" lvl="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Alibaba Qwen  </a:t>
            </a:r>
          </a:p>
          <a:p>
            <a:pPr marL="457200" lvl="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Сбер </a:t>
            </a:r>
            <a:r>
              <a:rPr lang="en-US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ruGPT</a:t>
            </a:r>
            <a:endParaRPr lang="en-US"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Яндекс </a:t>
            </a:r>
            <a:r>
              <a:rPr lang="en-US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YandexGPT</a:t>
            </a:r>
            <a:endParaRPr lang="en-US"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06" name="Google Shape;406;p43">
            <a:extLst>
              <a:ext uri="{FF2B5EF4-FFF2-40B4-BE49-F238E27FC236}">
                <a16:creationId xmlns:a16="http://schemas.microsoft.com/office/drawing/2014/main" id="{B8418A76-6960-A355-5A7E-FFFCE5E16836}"/>
              </a:ext>
            </a:extLst>
          </p:cNvPr>
          <p:cNvSpPr txBox="1"/>
          <p:nvPr/>
        </p:nvSpPr>
        <p:spPr>
          <a:xfrm>
            <a:off x="540000" y="360103"/>
            <a:ext cx="7918200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Примеры больших языковых мо</a:t>
            </a: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делей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67208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>
          <a:extLst>
            <a:ext uri="{FF2B5EF4-FFF2-40B4-BE49-F238E27FC236}">
              <a16:creationId xmlns:a16="http://schemas.microsoft.com/office/drawing/2014/main" id="{55184353-AC95-844D-EB3D-9DC088021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3">
            <a:extLst>
              <a:ext uri="{FF2B5EF4-FFF2-40B4-BE49-F238E27FC236}">
                <a16:creationId xmlns:a16="http://schemas.microsoft.com/office/drawing/2014/main" id="{5C8346D5-6B8B-0235-1436-C4A57DB67D6F}"/>
              </a:ext>
            </a:extLst>
          </p:cNvPr>
          <p:cNvSpPr txBox="1"/>
          <p:nvPr/>
        </p:nvSpPr>
        <p:spPr>
          <a:xfrm>
            <a:off x="540000" y="1259150"/>
            <a:ext cx="8272924" cy="312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OpenAI ChatGPT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Anthropic Cloude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DeepSeek</a:t>
            </a:r>
          </a:p>
          <a:p>
            <a:pPr marL="457200" lvl="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Alibaba Qwen  </a:t>
            </a:r>
          </a:p>
          <a:p>
            <a:pPr marL="457200" lvl="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Сбер </a:t>
            </a:r>
            <a:r>
              <a:rPr lang="en-US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GigaChat</a:t>
            </a:r>
            <a:endParaRPr lang="en-US"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Яндекс Алиса</a:t>
            </a:r>
            <a:endParaRPr lang="en-US"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06" name="Google Shape;406;p43">
            <a:extLst>
              <a:ext uri="{FF2B5EF4-FFF2-40B4-BE49-F238E27FC236}">
                <a16:creationId xmlns:a16="http://schemas.microsoft.com/office/drawing/2014/main" id="{5B81FA7C-D4B5-5181-C62D-CFE37FE14BA9}"/>
              </a:ext>
            </a:extLst>
          </p:cNvPr>
          <p:cNvSpPr txBox="1"/>
          <p:nvPr/>
        </p:nvSpPr>
        <p:spPr>
          <a:xfrm>
            <a:off x="540000" y="360103"/>
            <a:ext cx="7918200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Диалоговые системы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372433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>
          <a:extLst>
            <a:ext uri="{FF2B5EF4-FFF2-40B4-BE49-F238E27FC236}">
              <a16:creationId xmlns:a16="http://schemas.microsoft.com/office/drawing/2014/main" id="{7D7AB449-9248-132F-7089-5F5E84D6C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3">
            <a:extLst>
              <a:ext uri="{FF2B5EF4-FFF2-40B4-BE49-F238E27FC236}">
                <a16:creationId xmlns:a16="http://schemas.microsoft.com/office/drawing/2014/main" id="{48C22F15-549C-059C-075C-35510805C32B}"/>
              </a:ext>
            </a:extLst>
          </p:cNvPr>
          <p:cNvSpPr txBox="1"/>
          <p:nvPr/>
        </p:nvSpPr>
        <p:spPr>
          <a:xfrm>
            <a:off x="540000" y="1054198"/>
            <a:ext cx="8272924" cy="357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Диалоговая система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Большая языковая модель</a:t>
            </a: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Диалоговый интерфейс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Что делает диалоговая система</a:t>
            </a:r>
          </a:p>
          <a:p>
            <a:pPr marL="914400" lvl="1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Получает запросы пользователя</a:t>
            </a:r>
          </a:p>
          <a:p>
            <a:pPr marL="914400" lvl="1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Отправляет запросы в </a:t>
            </a: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LLM</a:t>
            </a:r>
          </a:p>
          <a:p>
            <a:pPr marL="914400" lvl="1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Выдает ответы пользователю</a:t>
            </a:r>
          </a:p>
          <a:p>
            <a:pPr marL="914400" lvl="1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Хранит историю диалога</a:t>
            </a:r>
          </a:p>
        </p:txBody>
      </p:sp>
      <p:sp>
        <p:nvSpPr>
          <p:cNvPr id="406" name="Google Shape;406;p43">
            <a:extLst>
              <a:ext uri="{FF2B5EF4-FFF2-40B4-BE49-F238E27FC236}">
                <a16:creationId xmlns:a16="http://schemas.microsoft.com/office/drawing/2014/main" id="{6AB76515-40E4-7036-E02C-CEC41CF5AB58}"/>
              </a:ext>
            </a:extLst>
          </p:cNvPr>
          <p:cNvSpPr txBox="1"/>
          <p:nvPr/>
        </p:nvSpPr>
        <p:spPr>
          <a:xfrm>
            <a:off x="540000" y="360103"/>
            <a:ext cx="7918200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Диалоговые системы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659798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>
          <a:extLst>
            <a:ext uri="{FF2B5EF4-FFF2-40B4-BE49-F238E27FC236}">
              <a16:creationId xmlns:a16="http://schemas.microsoft.com/office/drawing/2014/main" id="{B6E39DCC-DEBA-C49C-9DC4-CEA2E1B06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3">
            <a:extLst>
              <a:ext uri="{FF2B5EF4-FFF2-40B4-BE49-F238E27FC236}">
                <a16:creationId xmlns:a16="http://schemas.microsoft.com/office/drawing/2014/main" id="{D25F4526-00C2-0810-2844-F58AD77F6D18}"/>
              </a:ext>
            </a:extLst>
          </p:cNvPr>
          <p:cNvSpPr txBox="1"/>
          <p:nvPr/>
        </p:nvSpPr>
        <p:spPr>
          <a:xfrm>
            <a:off x="540000" y="985550"/>
            <a:ext cx="8272924" cy="3636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Обучены на данных, собранных год или больше назад</a:t>
            </a:r>
          </a:p>
          <a:p>
            <a:pPr marL="914400" lvl="1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Сложно собрать данные со всего интернет, подготовить их для обучения</a:t>
            </a:r>
          </a:p>
          <a:p>
            <a:pPr marL="914400" lvl="1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Обучение занимает несколько месяцев, стоимость обучения измеряется в сотнях миллионов долларов</a:t>
            </a:r>
          </a:p>
          <a:p>
            <a:pPr marL="457200" lvl="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Обучены на открытых данных</a:t>
            </a:r>
          </a:p>
          <a:p>
            <a:pPr marL="914400" lvl="1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Нет доступа к данным компании, находящихся в закрытых базах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Нет возможности выполнять действия во внешнем мире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06" name="Google Shape;406;p43">
            <a:extLst>
              <a:ext uri="{FF2B5EF4-FFF2-40B4-BE49-F238E27FC236}">
                <a16:creationId xmlns:a16="http://schemas.microsoft.com/office/drawing/2014/main" id="{A7553D04-F398-DF9E-5D0C-8DD505336F15}"/>
              </a:ext>
            </a:extLst>
          </p:cNvPr>
          <p:cNvSpPr txBox="1"/>
          <p:nvPr/>
        </p:nvSpPr>
        <p:spPr>
          <a:xfrm>
            <a:off x="540000" y="360103"/>
            <a:ext cx="7918200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Ограничения больших языковых моделей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785005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>
          <a:extLst>
            <a:ext uri="{FF2B5EF4-FFF2-40B4-BE49-F238E27FC236}">
              <a16:creationId xmlns:a16="http://schemas.microsoft.com/office/drawing/2014/main" id="{4799CF65-6456-A81E-E84A-7145BC5CA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3">
            <a:extLst>
              <a:ext uri="{FF2B5EF4-FFF2-40B4-BE49-F238E27FC236}">
                <a16:creationId xmlns:a16="http://schemas.microsoft.com/office/drawing/2014/main" id="{17D0288C-6023-5ECD-3C90-2C60A17C86ED}"/>
              </a:ext>
            </a:extLst>
          </p:cNvPr>
          <p:cNvSpPr txBox="1"/>
          <p:nvPr/>
        </p:nvSpPr>
        <p:spPr>
          <a:xfrm>
            <a:off x="540000" y="360103"/>
            <a:ext cx="7918200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Ограничения больших языковых моделей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468B58F-AEAE-9CC3-9056-EC34FE83F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064" y="892799"/>
            <a:ext cx="3003936" cy="3985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8097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>
          <a:extLst>
            <a:ext uri="{FF2B5EF4-FFF2-40B4-BE49-F238E27FC236}">
              <a16:creationId xmlns:a16="http://schemas.microsoft.com/office/drawing/2014/main" id="{7D59E96B-EE18-A1D6-B434-F74D8C3D0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3">
            <a:extLst>
              <a:ext uri="{FF2B5EF4-FFF2-40B4-BE49-F238E27FC236}">
                <a16:creationId xmlns:a16="http://schemas.microsoft.com/office/drawing/2014/main" id="{EF972181-EB12-AFD5-6D3D-D47473C75674}"/>
              </a:ext>
            </a:extLst>
          </p:cNvPr>
          <p:cNvSpPr txBox="1"/>
          <p:nvPr/>
        </p:nvSpPr>
        <p:spPr>
          <a:xfrm>
            <a:off x="540000" y="1259150"/>
            <a:ext cx="8272924" cy="3061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Retrieval-Augmented</a:t>
            </a: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Generation / Генерация с дополненной выборкой</a:t>
            </a: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(RAG)</a:t>
            </a:r>
            <a:endParaRPr lang="ru-RU"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Метод улучшения ответов языковых моделей, при котором к запросу пользователя добавляется информация, извлечённая из внешней базы знаний (документов, коллекций, БД)</a:t>
            </a:r>
          </a:p>
          <a:p>
            <a:pPr marL="457200" lvl="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ИИ-Агенты</a:t>
            </a:r>
          </a:p>
          <a:p>
            <a:pPr marL="914400" lvl="1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Возможность выполнять действия во внешнем мире</a:t>
            </a:r>
          </a:p>
        </p:txBody>
      </p:sp>
      <p:sp>
        <p:nvSpPr>
          <p:cNvPr id="406" name="Google Shape;406;p43">
            <a:extLst>
              <a:ext uri="{FF2B5EF4-FFF2-40B4-BE49-F238E27FC236}">
                <a16:creationId xmlns:a16="http://schemas.microsoft.com/office/drawing/2014/main" id="{46733A98-CBC9-A9ED-604E-42DFCD85D784}"/>
              </a:ext>
            </a:extLst>
          </p:cNvPr>
          <p:cNvSpPr txBox="1"/>
          <p:nvPr/>
        </p:nvSpPr>
        <p:spPr>
          <a:xfrm>
            <a:off x="540000" y="360103"/>
            <a:ext cx="7918200" cy="72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Расширяем возможности больших языковых моделей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141105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>
          <a:extLst>
            <a:ext uri="{FF2B5EF4-FFF2-40B4-BE49-F238E27FC236}">
              <a16:creationId xmlns:a16="http://schemas.microsoft.com/office/drawing/2014/main" id="{28975DC6-CB52-C706-90CF-1F3C4AD45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3">
            <a:extLst>
              <a:ext uri="{FF2B5EF4-FFF2-40B4-BE49-F238E27FC236}">
                <a16:creationId xmlns:a16="http://schemas.microsoft.com/office/drawing/2014/main" id="{8D35D46C-875F-AD46-F341-4A4098AFB935}"/>
              </a:ext>
            </a:extLst>
          </p:cNvPr>
          <p:cNvSpPr txBox="1"/>
          <p:nvPr/>
        </p:nvSpPr>
        <p:spPr>
          <a:xfrm>
            <a:off x="540000" y="360103"/>
            <a:ext cx="7918200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Retrieval-Augmented Generation 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050" name="Picture 2" descr="Build a RAG agent with LangChain - Docs by LangChain">
            <a:extLst>
              <a:ext uri="{FF2B5EF4-FFF2-40B4-BE49-F238E27FC236}">
                <a16:creationId xmlns:a16="http://schemas.microsoft.com/office/drawing/2014/main" id="{EDF907DD-9FB6-C395-B702-75D7543DD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500" y="1058399"/>
            <a:ext cx="6847200" cy="3512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3188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>
          <a:extLst>
            <a:ext uri="{FF2B5EF4-FFF2-40B4-BE49-F238E27FC236}">
              <a16:creationId xmlns:a16="http://schemas.microsoft.com/office/drawing/2014/main" id="{2200694C-A004-2056-5868-4BF37DB5A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3">
            <a:extLst>
              <a:ext uri="{FF2B5EF4-FFF2-40B4-BE49-F238E27FC236}">
                <a16:creationId xmlns:a16="http://schemas.microsoft.com/office/drawing/2014/main" id="{D63072DE-EE9B-BED6-8066-A6DE5102E02B}"/>
              </a:ext>
            </a:extLst>
          </p:cNvPr>
          <p:cNvSpPr txBox="1"/>
          <p:nvPr/>
        </p:nvSpPr>
        <p:spPr>
          <a:xfrm>
            <a:off x="540000" y="360103"/>
            <a:ext cx="7918200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Retrieval-Augmented Generation 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074" name="Picture 2" descr="Build a RAG agent with LangChain - Docs by LangChain">
            <a:extLst>
              <a:ext uri="{FF2B5EF4-FFF2-40B4-BE49-F238E27FC236}">
                <a16:creationId xmlns:a16="http://schemas.microsoft.com/office/drawing/2014/main" id="{5A7BE6BE-EAC8-4A95-3D04-144E00ED4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100" y="1017297"/>
            <a:ext cx="7488000" cy="376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9955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>
          <a:extLst>
            <a:ext uri="{FF2B5EF4-FFF2-40B4-BE49-F238E27FC236}">
              <a16:creationId xmlns:a16="http://schemas.microsoft.com/office/drawing/2014/main" id="{03CF4C60-E4E4-8453-FA70-4027E7039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3">
            <a:extLst>
              <a:ext uri="{FF2B5EF4-FFF2-40B4-BE49-F238E27FC236}">
                <a16:creationId xmlns:a16="http://schemas.microsoft.com/office/drawing/2014/main" id="{BE0E6B8C-4588-C106-BC61-AD4CEDD8C53C}"/>
              </a:ext>
            </a:extLst>
          </p:cNvPr>
          <p:cNvSpPr txBox="1"/>
          <p:nvPr/>
        </p:nvSpPr>
        <p:spPr>
          <a:xfrm>
            <a:off x="540000" y="360103"/>
            <a:ext cx="7918200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Retrieval-Augmented Generation 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4DF58CAE-DEE6-35B1-CF1C-C0F0FB722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269" y="1071050"/>
            <a:ext cx="6295462" cy="348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0276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C547-FE35-77BD-6B73-B4FB4F986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C724BF5-03B0-B212-B65C-76287E52928C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E519A84-682F-5C93-E448-BF29FE4CE5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20D173A-4A03-12AC-F4F6-06409FFC731F}"/>
              </a:ext>
            </a:extLst>
          </p:cNvPr>
          <p:cNvSpPr/>
          <p:nvPr/>
        </p:nvSpPr>
        <p:spPr>
          <a:xfrm>
            <a:off x="334109" y="881888"/>
            <a:ext cx="8345329" cy="22698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450"/>
              </a:spcBef>
            </a:pPr>
            <a:endParaRPr lang="en-US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algn="just">
              <a:spcBef>
                <a:spcPts val="450"/>
              </a:spcBef>
            </a:pPr>
            <a:endParaRPr lang="en-US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algn="just">
              <a:spcBef>
                <a:spcPts val="450"/>
              </a:spcBef>
            </a:pPr>
            <a:endParaRPr lang="en-US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algn="ctr">
              <a:spcBef>
                <a:spcPts val="450"/>
              </a:spcBef>
            </a:pP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Что такое ИИ-агенты</a:t>
            </a: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?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br>
              <a:rPr lang="ru-RU" sz="1050" dirty="0"/>
            </a:br>
            <a:endParaRPr lang="ru-RU" sz="1050" dirty="0"/>
          </a:p>
        </p:txBody>
      </p:sp>
    </p:spTree>
    <p:extLst>
      <p:ext uri="{BB962C8B-B14F-4D97-AF65-F5344CB8AC3E}">
        <p14:creationId xmlns:p14="http://schemas.microsoft.com/office/powerpoint/2010/main" val="3257218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75B39-E9FD-D3D0-5DC6-F3AD778F1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E25E737-857E-0C7D-98B4-48364727C2BA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569E5C4-43EF-C8B3-6534-443F80EB57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A96258B-2246-8A8A-AEBA-685957C53325}"/>
              </a:ext>
            </a:extLst>
          </p:cNvPr>
          <p:cNvSpPr/>
          <p:nvPr/>
        </p:nvSpPr>
        <p:spPr>
          <a:xfrm>
            <a:off x="334109" y="68051"/>
            <a:ext cx="666140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Что такое агенты</a:t>
            </a:r>
            <a:r>
              <a:rPr lang="en-US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. OpenAI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A6E3D3E-8994-169A-7BCB-0D12214D6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588" y="2178001"/>
            <a:ext cx="7055558" cy="7874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9B3219-418A-DE6A-572D-DB587D839CBB}"/>
              </a:ext>
            </a:extLst>
          </p:cNvPr>
          <p:cNvSpPr txBox="1"/>
          <p:nvPr/>
        </p:nvSpPr>
        <p:spPr>
          <a:xfrm>
            <a:off x="263769" y="4525545"/>
            <a:ext cx="852853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OpenAI. A practical guide to building agents</a:t>
            </a:r>
          </a:p>
          <a:p>
            <a:r>
              <a:rPr lang="ru-RU" sz="1050" dirty="0"/>
              <a:t>https://cdn.openai.com/business-guides-and-resources/a-practical-guide-to-building-agents.pdf</a:t>
            </a:r>
          </a:p>
        </p:txBody>
      </p:sp>
    </p:spTree>
    <p:extLst>
      <p:ext uri="{BB962C8B-B14F-4D97-AF65-F5344CB8AC3E}">
        <p14:creationId xmlns:p14="http://schemas.microsoft.com/office/powerpoint/2010/main" val="2526910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693C4-1129-DED1-0F3B-EFBAEAC23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D022085-8645-335C-3D5E-FAE731F7F2A3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BA28C71-9B55-A0E4-C94E-6085458486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66FEE2D-615E-E066-A177-7EB10FCCFBEB}"/>
              </a:ext>
            </a:extLst>
          </p:cNvPr>
          <p:cNvSpPr/>
          <p:nvPr/>
        </p:nvSpPr>
        <p:spPr>
          <a:xfrm>
            <a:off x="334108" y="68051"/>
            <a:ext cx="71305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Ключевые характеристики агента. </a:t>
            </a:r>
            <a:r>
              <a:rPr lang="en-US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OpenAI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AE0AE8-80B9-4615-7ABE-49E2CFBC03DC}"/>
              </a:ext>
            </a:extLst>
          </p:cNvPr>
          <p:cNvSpPr txBox="1"/>
          <p:nvPr/>
        </p:nvSpPr>
        <p:spPr>
          <a:xfrm>
            <a:off x="263769" y="4525545"/>
            <a:ext cx="852853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OpenAI. A practical guide to building agents</a:t>
            </a:r>
          </a:p>
          <a:p>
            <a:r>
              <a:rPr lang="ru-RU" sz="1050" dirty="0"/>
              <a:t>https://cdn.openai.com/business-guides-and-resources/a-practical-guide-to-building-agents.pdf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161E624-2724-96F3-4485-93859A35B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74" y="1439653"/>
            <a:ext cx="7901198" cy="2264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337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363D0-E4B7-FB30-AF35-842175922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4B54D2E-FB5B-242D-88EA-3630939B07A3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CFCCD8D-4F05-2620-A58B-13816F1C75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C2053AD-EFDC-D8B4-C6AD-15B9DFECE002}"/>
              </a:ext>
            </a:extLst>
          </p:cNvPr>
          <p:cNvSpPr/>
          <p:nvPr/>
        </p:nvSpPr>
        <p:spPr>
          <a:xfrm>
            <a:off x="334109" y="68051"/>
            <a:ext cx="666140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Что такое агенты</a:t>
            </a:r>
            <a:r>
              <a:rPr lang="en-US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. Google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63526D-F720-0C71-52FA-6FA6F9EB8646}"/>
              </a:ext>
            </a:extLst>
          </p:cNvPr>
          <p:cNvSpPr txBox="1"/>
          <p:nvPr/>
        </p:nvSpPr>
        <p:spPr>
          <a:xfrm>
            <a:off x="263769" y="4525545"/>
            <a:ext cx="852853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Google. What is an AI agent?</a:t>
            </a:r>
          </a:p>
          <a:p>
            <a:r>
              <a:rPr lang="en-US" sz="1050" dirty="0"/>
              <a:t>https://cloud.google.com/discover/what-are-ai-agents</a:t>
            </a:r>
            <a:endParaRPr lang="ru-RU" sz="105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B482DF-0FF7-E819-4811-305AF8F27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2136233"/>
            <a:ext cx="8274815" cy="87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051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520BD-EF67-C8BD-C8C4-26C441242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720E9D0-F2BF-895D-8605-79287303DD7F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A508432-472F-9028-CA99-93E5F6669A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0E563CF-1AF9-DD52-CAFC-25C97FA27B5F}"/>
              </a:ext>
            </a:extLst>
          </p:cNvPr>
          <p:cNvSpPr/>
          <p:nvPr/>
        </p:nvSpPr>
        <p:spPr>
          <a:xfrm>
            <a:off x="334108" y="68051"/>
            <a:ext cx="736795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Ключевые характеристики агента. </a:t>
            </a:r>
            <a:r>
              <a:rPr lang="en-US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Google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A70A57-4C52-2946-B573-84D6A55F4266}"/>
              </a:ext>
            </a:extLst>
          </p:cNvPr>
          <p:cNvSpPr txBox="1"/>
          <p:nvPr/>
        </p:nvSpPr>
        <p:spPr>
          <a:xfrm>
            <a:off x="263769" y="4525545"/>
            <a:ext cx="852853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 err="1"/>
              <a:t>ReAct</a:t>
            </a:r>
            <a:r>
              <a:rPr lang="en-US" sz="1050" dirty="0"/>
              <a:t>: Synergizing Reasoning and Acting in Language Models, 2022</a:t>
            </a:r>
          </a:p>
          <a:p>
            <a:r>
              <a:rPr lang="en-US" sz="1050" dirty="0"/>
              <a:t>https://arxiv.org/abs/2210.03629</a:t>
            </a:r>
            <a:endParaRPr lang="ru-RU" sz="105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DE8C7BC-F7A8-7AB4-9281-A4C54A8F5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46" y="1262449"/>
            <a:ext cx="7939509" cy="243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08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ACC96-09F0-E3D2-A540-697F4306D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B6BAE4A-3A80-497D-102E-9D1FFB378D83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CA82AC4-CFBA-320E-9B26-1CF1E636CC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5FDD9F6-5CBC-C06A-9E61-EF5097747FDA}"/>
              </a:ext>
            </a:extLst>
          </p:cNvPr>
          <p:cNvSpPr/>
          <p:nvPr/>
        </p:nvSpPr>
        <p:spPr>
          <a:xfrm>
            <a:off x="334108" y="68051"/>
            <a:ext cx="736795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Ключевые компоненты агента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146F805-F291-E062-6808-10D23022730E}"/>
              </a:ext>
            </a:extLst>
          </p:cNvPr>
          <p:cNvSpPr/>
          <p:nvPr/>
        </p:nvSpPr>
        <p:spPr>
          <a:xfrm>
            <a:off x="334109" y="881888"/>
            <a:ext cx="8345329" cy="18825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Модель</a:t>
            </a:r>
          </a:p>
          <a:p>
            <a:pPr marL="214313" indent="-214313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Инструменты (</a:t>
            </a: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tools)</a:t>
            </a:r>
          </a:p>
          <a:p>
            <a:pPr marL="214313" indent="-214313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Инструкции</a:t>
            </a:r>
            <a:b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</a:b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152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89420-CBE6-F838-0585-275B6E275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5781718-8E5E-8E88-7F08-538920553AEB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369E1D6-2C87-08CA-D536-6D52DE23B2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D8D7827-648F-4B02-9A85-33A170307104}"/>
              </a:ext>
            </a:extLst>
          </p:cNvPr>
          <p:cNvSpPr/>
          <p:nvPr/>
        </p:nvSpPr>
        <p:spPr>
          <a:xfrm>
            <a:off x="334108" y="68051"/>
            <a:ext cx="736795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Архитектура агента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5" name="Рисунок 4" descr="Изображение выглядит как текст, снимок экрана, диаграмма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8FF37B1-AD96-9C4B-327E-E924EE797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842" y="800699"/>
            <a:ext cx="6063358" cy="37591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88AE5B-E0F8-D968-FCE7-04BEACC90700}"/>
              </a:ext>
            </a:extLst>
          </p:cNvPr>
          <p:cNvSpPr txBox="1"/>
          <p:nvPr/>
        </p:nvSpPr>
        <p:spPr>
          <a:xfrm>
            <a:off x="147600" y="4559834"/>
            <a:ext cx="8531838" cy="880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ts val="3300"/>
              </a:lnSpc>
              <a:spcAft>
                <a:spcPts val="1200"/>
              </a:spcAft>
            </a:pPr>
            <a:r>
              <a:rPr lang="en-US" i="0" dirty="0">
                <a:solidFill>
                  <a:srgbClr val="202124"/>
                </a:solidFill>
                <a:effectLst/>
                <a:latin typeface="zeitung"/>
              </a:rPr>
              <a:t>Julia Wiesinger, Patrick Marlow and </a:t>
            </a:r>
            <a:r>
              <a:rPr lang="en-US" dirty="0">
                <a:solidFill>
                  <a:srgbClr val="202124"/>
                </a:solidFill>
                <a:latin typeface="zeitung"/>
              </a:rPr>
              <a:t>Vladimir </a:t>
            </a:r>
            <a:r>
              <a:rPr lang="en-US" dirty="0" err="1">
                <a:solidFill>
                  <a:srgbClr val="202124"/>
                </a:solidFill>
                <a:latin typeface="zeitung"/>
              </a:rPr>
              <a:t>Vuskovic</a:t>
            </a:r>
            <a:r>
              <a:rPr lang="ru-RU" dirty="0">
                <a:solidFill>
                  <a:srgbClr val="202124"/>
                </a:solidFill>
                <a:latin typeface="zeitung"/>
              </a:rPr>
              <a:t>. </a:t>
            </a:r>
            <a:r>
              <a:rPr lang="en-US" dirty="0">
                <a:solidFill>
                  <a:srgbClr val="202124"/>
                </a:solidFill>
                <a:latin typeface="zeitung"/>
              </a:rPr>
              <a:t>Agents</a:t>
            </a:r>
            <a:r>
              <a:rPr lang="ru-RU" dirty="0">
                <a:solidFill>
                  <a:srgbClr val="202124"/>
                </a:solidFill>
                <a:latin typeface="zeitung"/>
              </a:rPr>
              <a:t>. </a:t>
            </a:r>
            <a:r>
              <a:rPr lang="en-US" dirty="0">
                <a:solidFill>
                  <a:srgbClr val="202124"/>
                </a:solidFill>
                <a:latin typeface="zeitung"/>
              </a:rPr>
              <a:t>https://www.kaggle.com/whitepaper-agents</a:t>
            </a:r>
            <a:br>
              <a:rPr lang="ru-RU" i="0" dirty="0">
                <a:solidFill>
                  <a:srgbClr val="202124"/>
                </a:solidFill>
                <a:effectLst/>
                <a:latin typeface="zeitung"/>
              </a:rPr>
            </a:br>
            <a:endParaRPr lang="en-US" i="0" dirty="0">
              <a:solidFill>
                <a:srgbClr val="202124"/>
              </a:solidFill>
              <a:effectLst/>
              <a:latin typeface="zeitung"/>
            </a:endParaRPr>
          </a:p>
        </p:txBody>
      </p:sp>
    </p:spTree>
    <p:extLst>
      <p:ext uri="{BB962C8B-B14F-4D97-AF65-F5344CB8AC3E}">
        <p14:creationId xmlns:p14="http://schemas.microsoft.com/office/powerpoint/2010/main" val="1097560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4715E-B564-599D-6D2E-D2BD827F4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5C77E26-7F2C-898D-3BE5-087CA9685696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2FF619E-E881-2139-E3D0-E0EBD82904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4448AE7-7146-973C-4B0E-06E71E866C12}"/>
              </a:ext>
            </a:extLst>
          </p:cNvPr>
          <p:cNvSpPr/>
          <p:nvPr/>
        </p:nvSpPr>
        <p:spPr>
          <a:xfrm>
            <a:off x="334108" y="68051"/>
            <a:ext cx="736795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Как работает агент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2A441A1-78D5-FCDE-DB34-E2D206920D72}"/>
              </a:ext>
            </a:extLst>
          </p:cNvPr>
          <p:cNvSpPr/>
          <p:nvPr/>
        </p:nvSpPr>
        <p:spPr>
          <a:xfrm>
            <a:off x="334109" y="881888"/>
            <a:ext cx="8345329" cy="3801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2700" dirty="0" err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ReAct</a:t>
            </a: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 Framework (Reasoning and Acting)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514350" lvl="2" indent="-514350">
              <a:spcBef>
                <a:spcPts val="450"/>
              </a:spcBef>
              <a:buFont typeface="+mj-lt"/>
              <a:buAutoNum type="arabicPeriod"/>
            </a:pP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Question</a:t>
            </a:r>
          </a:p>
          <a:p>
            <a:pPr marL="514350" lvl="2" indent="-514350">
              <a:spcBef>
                <a:spcPts val="450"/>
              </a:spcBef>
              <a:buFont typeface="+mj-lt"/>
              <a:buAutoNum type="arabicPeriod"/>
            </a:pPr>
            <a:r>
              <a:rPr lang="nl-NL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Thought</a:t>
            </a:r>
          </a:p>
          <a:p>
            <a:pPr marL="514350" lvl="2" indent="-514350">
              <a:spcBef>
                <a:spcPts val="450"/>
              </a:spcBef>
              <a:buFont typeface="+mj-lt"/>
              <a:buAutoNum type="arabicPeriod"/>
            </a:pPr>
            <a:r>
              <a:rPr lang="nl-NL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Action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514350" lvl="2" indent="-514350">
              <a:spcBef>
                <a:spcPts val="450"/>
              </a:spcBef>
              <a:buFont typeface="+mj-lt"/>
              <a:buAutoNum type="arabicPeriod"/>
            </a:pP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Action input</a:t>
            </a:r>
          </a:p>
          <a:p>
            <a:pPr marL="514350" lvl="2" indent="-514350">
              <a:spcBef>
                <a:spcPts val="450"/>
              </a:spcBef>
              <a:buFont typeface="+mj-lt"/>
              <a:buAutoNum type="arabicPeriod"/>
            </a:pP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Observation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514350" lvl="2" indent="-514350">
              <a:spcBef>
                <a:spcPts val="450"/>
              </a:spcBef>
              <a:buFont typeface="+mj-lt"/>
              <a:buAutoNum type="arabicPeriod"/>
            </a:pP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Final answer</a:t>
            </a:r>
            <a:b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</a:b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4995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5C8F0-594A-ECFF-9205-98C1CE132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76C5B9D-0601-5474-D88A-F51B5185A9D2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6580F8C-0386-49F9-B49F-35291869A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EC0E2BD-A9E9-6279-2389-B9C22E3514D2}"/>
              </a:ext>
            </a:extLst>
          </p:cNvPr>
          <p:cNvSpPr/>
          <p:nvPr/>
        </p:nvSpPr>
        <p:spPr>
          <a:xfrm>
            <a:off x="334108" y="68051"/>
            <a:ext cx="736795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Framework </a:t>
            </a:r>
            <a:r>
              <a:rPr lang="en-US" sz="2700" b="1" dirty="0" err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ReAct</a:t>
            </a:r>
            <a:r>
              <a:rPr lang="en-US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144826-9601-80CA-08F3-5D6000D224F8}"/>
              </a:ext>
            </a:extLst>
          </p:cNvPr>
          <p:cNvSpPr txBox="1"/>
          <p:nvPr/>
        </p:nvSpPr>
        <p:spPr>
          <a:xfrm>
            <a:off x="147600" y="4559834"/>
            <a:ext cx="8531838" cy="880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ts val="3300"/>
              </a:lnSpc>
              <a:spcAft>
                <a:spcPts val="1200"/>
              </a:spcAft>
            </a:pPr>
            <a:r>
              <a:rPr lang="en-US" i="0" dirty="0">
                <a:solidFill>
                  <a:srgbClr val="202124"/>
                </a:solidFill>
                <a:effectLst/>
                <a:latin typeface="zeitung"/>
              </a:rPr>
              <a:t>Julia Wiesinger, Patrick Marlow and </a:t>
            </a:r>
            <a:r>
              <a:rPr lang="en-US" dirty="0">
                <a:solidFill>
                  <a:srgbClr val="202124"/>
                </a:solidFill>
                <a:latin typeface="zeitung"/>
              </a:rPr>
              <a:t>Vladimir </a:t>
            </a:r>
            <a:r>
              <a:rPr lang="en-US" dirty="0" err="1">
                <a:solidFill>
                  <a:srgbClr val="202124"/>
                </a:solidFill>
                <a:latin typeface="zeitung"/>
              </a:rPr>
              <a:t>Vuskovic</a:t>
            </a:r>
            <a:r>
              <a:rPr lang="ru-RU" dirty="0">
                <a:solidFill>
                  <a:srgbClr val="202124"/>
                </a:solidFill>
                <a:latin typeface="zeitung"/>
              </a:rPr>
              <a:t>. </a:t>
            </a:r>
            <a:r>
              <a:rPr lang="en-US" dirty="0">
                <a:solidFill>
                  <a:srgbClr val="202124"/>
                </a:solidFill>
                <a:latin typeface="zeitung"/>
              </a:rPr>
              <a:t>Agents</a:t>
            </a:r>
            <a:r>
              <a:rPr lang="ru-RU" dirty="0">
                <a:solidFill>
                  <a:srgbClr val="202124"/>
                </a:solidFill>
                <a:latin typeface="zeitung"/>
              </a:rPr>
              <a:t>. </a:t>
            </a:r>
            <a:r>
              <a:rPr lang="en-US" dirty="0">
                <a:solidFill>
                  <a:srgbClr val="202124"/>
                </a:solidFill>
                <a:latin typeface="zeitung"/>
              </a:rPr>
              <a:t>https://www.kaggle.com/whitepaper-agents</a:t>
            </a:r>
            <a:br>
              <a:rPr lang="ru-RU" i="0" dirty="0">
                <a:solidFill>
                  <a:srgbClr val="202124"/>
                </a:solidFill>
                <a:effectLst/>
                <a:latin typeface="zeitung"/>
              </a:rPr>
            </a:br>
            <a:endParaRPr lang="en-US" i="0" dirty="0">
              <a:solidFill>
                <a:srgbClr val="202124"/>
              </a:solidFill>
              <a:effectLst/>
              <a:latin typeface="zeitung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0559CBF-9A31-BE8A-C6AE-66FA7D9AE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3" y="701173"/>
            <a:ext cx="6465337" cy="399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602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A0377-AF16-0082-3DB3-D27FD46C5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3764819-2060-2780-16D5-B87BC34BDD21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5BF7EDF-4774-871A-D389-E773462A72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5418355-C03D-9A3A-4161-E1D41E5A2A00}"/>
              </a:ext>
            </a:extLst>
          </p:cNvPr>
          <p:cNvSpPr/>
          <p:nvPr/>
        </p:nvSpPr>
        <p:spPr>
          <a:xfrm>
            <a:off x="334108" y="68051"/>
            <a:ext cx="736795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Инструменты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E1AF91-510A-9A3C-4A82-942E2D4DC464}"/>
              </a:ext>
            </a:extLst>
          </p:cNvPr>
          <p:cNvSpPr txBox="1"/>
          <p:nvPr/>
        </p:nvSpPr>
        <p:spPr>
          <a:xfrm>
            <a:off x="147600" y="4559834"/>
            <a:ext cx="8531838" cy="880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ts val="3300"/>
              </a:lnSpc>
              <a:spcAft>
                <a:spcPts val="1200"/>
              </a:spcAft>
            </a:pPr>
            <a:r>
              <a:rPr lang="en-US" i="0" dirty="0">
                <a:solidFill>
                  <a:srgbClr val="202124"/>
                </a:solidFill>
                <a:effectLst/>
                <a:latin typeface="zeitung"/>
              </a:rPr>
              <a:t>Julia Wiesinger, Patrick Marlow and </a:t>
            </a:r>
            <a:r>
              <a:rPr lang="en-US" dirty="0">
                <a:solidFill>
                  <a:srgbClr val="202124"/>
                </a:solidFill>
                <a:latin typeface="zeitung"/>
              </a:rPr>
              <a:t>Vladimir </a:t>
            </a:r>
            <a:r>
              <a:rPr lang="en-US" dirty="0" err="1">
                <a:solidFill>
                  <a:srgbClr val="202124"/>
                </a:solidFill>
                <a:latin typeface="zeitung"/>
              </a:rPr>
              <a:t>Vuskovic</a:t>
            </a:r>
            <a:r>
              <a:rPr lang="ru-RU" dirty="0">
                <a:solidFill>
                  <a:srgbClr val="202124"/>
                </a:solidFill>
                <a:latin typeface="zeitung"/>
              </a:rPr>
              <a:t>. </a:t>
            </a:r>
            <a:r>
              <a:rPr lang="en-US" dirty="0">
                <a:solidFill>
                  <a:srgbClr val="202124"/>
                </a:solidFill>
                <a:latin typeface="zeitung"/>
              </a:rPr>
              <a:t>Agents</a:t>
            </a:r>
            <a:r>
              <a:rPr lang="ru-RU" dirty="0">
                <a:solidFill>
                  <a:srgbClr val="202124"/>
                </a:solidFill>
                <a:latin typeface="zeitung"/>
              </a:rPr>
              <a:t>. </a:t>
            </a:r>
            <a:r>
              <a:rPr lang="en-US" dirty="0">
                <a:solidFill>
                  <a:srgbClr val="202124"/>
                </a:solidFill>
                <a:latin typeface="zeitung"/>
              </a:rPr>
              <a:t>https://www.kaggle.com/whitepaper-agents</a:t>
            </a:r>
            <a:br>
              <a:rPr lang="ru-RU" i="0" dirty="0">
                <a:solidFill>
                  <a:srgbClr val="202124"/>
                </a:solidFill>
                <a:effectLst/>
                <a:latin typeface="zeitung"/>
              </a:rPr>
            </a:br>
            <a:endParaRPr lang="en-US" i="0" dirty="0">
              <a:solidFill>
                <a:srgbClr val="202124"/>
              </a:solidFill>
              <a:effectLst/>
              <a:latin typeface="zeitung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7069E7-9331-C848-72C6-E620BCBFE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78211"/>
            <a:ext cx="9144000" cy="218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097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117A7146-FDA9-ACD7-1F1D-88BBF0308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54F66C0-E09F-C0B0-9662-0FD9537A2BA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88514"/>
            <a:ext cx="9144000" cy="13278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8427723-B724-E2BA-AAFC-4C9B10FDA734}"/>
              </a:ext>
            </a:extLst>
          </p:cNvPr>
          <p:cNvSpPr txBox="1"/>
          <p:nvPr/>
        </p:nvSpPr>
        <p:spPr>
          <a:xfrm>
            <a:off x="256364" y="65291"/>
            <a:ext cx="43460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rgbClr val="4DEE8D"/>
                </a:solidFill>
                <a:latin typeface="Montserrat ExtraBold" panose="00000900000000000000" pitchFamily="2" charset="-52"/>
              </a:rPr>
              <a:t>Примеры инструментов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AADD2D-EFF9-5C4C-9E76-B5B2E6B508CB}"/>
              </a:ext>
            </a:extLst>
          </p:cNvPr>
          <p:cNvSpPr txBox="1"/>
          <p:nvPr/>
        </p:nvSpPr>
        <p:spPr>
          <a:xfrm>
            <a:off x="287028" y="586591"/>
            <a:ext cx="8406373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4DEE8D"/>
                </a:solidFill>
              </a:rPr>
              <a:t>🌐 Работа с внешними API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Использует API погоды, новостей, Википедии, YouTube, Google </a:t>
            </a:r>
            <a:r>
              <a:rPr lang="ru-RU" dirty="0" err="1">
                <a:solidFill>
                  <a:schemeClr val="bg1"/>
                </a:solidFill>
              </a:rPr>
              <a:t>Books</a:t>
            </a:r>
            <a:r>
              <a:rPr lang="ru-RU" dirty="0">
                <a:solidFill>
                  <a:schemeClr val="bg1"/>
                </a:solidFill>
              </a:rPr>
              <a:t> — чтобы получать свежие данные.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Подключается к системам электронного обучения (LMS) — например, </a:t>
            </a:r>
            <a:r>
              <a:rPr lang="ru-RU" dirty="0" err="1">
                <a:solidFill>
                  <a:schemeClr val="bg1"/>
                </a:solidFill>
              </a:rPr>
              <a:t>Moodle</a:t>
            </a:r>
            <a:r>
              <a:rPr lang="ru-RU" dirty="0">
                <a:solidFill>
                  <a:schemeClr val="bg1"/>
                </a:solidFill>
              </a:rPr>
              <a:t>, чтобы создавать курсы, задания, тесты.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Работает с переводческими или голосовыми API — автоматически озвучивает текст или переводит материал.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rgbClr val="4DEE8D"/>
                </a:solidFill>
              </a:rPr>
              <a:t>📆 Интеграция с сервисами пользователя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Доступ к календарю (Google </a:t>
            </a:r>
            <a:r>
              <a:rPr lang="ru-RU" dirty="0" err="1">
                <a:solidFill>
                  <a:schemeClr val="bg1"/>
                </a:solidFill>
              </a:rPr>
              <a:t>Calendar</a:t>
            </a:r>
            <a:r>
              <a:rPr lang="ru-RU" dirty="0">
                <a:solidFill>
                  <a:schemeClr val="bg1"/>
                </a:solidFill>
              </a:rPr>
              <a:t>, Outlook) — создаёт, перемещает и напоминает о событиях.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Управление облачным хранилищем (Google Drive) — загружает и извлекает нужные файлы.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rgbClr val="4DEE8D"/>
                </a:solidFill>
              </a:rPr>
              <a:t>📚 Работа с материалами и документами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Анализирует загруженные файлы (PDF, DOCX, таблицы) и извлекает ключевые данные.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Создаёт резюме, отчёты, конспекты на основе загруженных документов.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Может искать нужные материалы в коллекции преподавателя 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C0B549CB-0DEF-2025-F696-5AF27A539861}"/>
              </a:ext>
            </a:extLst>
          </p:cNvPr>
          <p:cNvSpPr/>
          <p:nvPr/>
        </p:nvSpPr>
        <p:spPr>
          <a:xfrm>
            <a:off x="256364" y="586591"/>
            <a:ext cx="8600608" cy="1867851"/>
          </a:xfrm>
          <a:prstGeom prst="roundRect">
            <a:avLst>
              <a:gd name="adj" fmla="val 10433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0327C815-A258-F21A-6091-A8ADE431E919}"/>
              </a:ext>
            </a:extLst>
          </p:cNvPr>
          <p:cNvSpPr/>
          <p:nvPr/>
        </p:nvSpPr>
        <p:spPr>
          <a:xfrm>
            <a:off x="256365" y="2514077"/>
            <a:ext cx="8600608" cy="1246651"/>
          </a:xfrm>
          <a:prstGeom prst="roundRect">
            <a:avLst>
              <a:gd name="adj" fmla="val 10433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E841B164-2ECE-BB84-A8B2-7A833A90EE75}"/>
              </a:ext>
            </a:extLst>
          </p:cNvPr>
          <p:cNvSpPr/>
          <p:nvPr/>
        </p:nvSpPr>
        <p:spPr>
          <a:xfrm>
            <a:off x="256364" y="3820363"/>
            <a:ext cx="8600608" cy="1174437"/>
          </a:xfrm>
          <a:prstGeom prst="roundRect">
            <a:avLst>
              <a:gd name="adj" fmla="val 10433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A3E073CB-3D5B-1C36-18FD-A305B799E5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23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405657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51F082E5-12CC-4DAD-F07B-B0A769D66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80E6CF7-453A-6661-0420-950CBE733FF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88514"/>
            <a:ext cx="9144000" cy="13278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A0FB453-07F6-E1F2-332A-D962FD39552D}"/>
              </a:ext>
            </a:extLst>
          </p:cNvPr>
          <p:cNvSpPr txBox="1"/>
          <p:nvPr/>
        </p:nvSpPr>
        <p:spPr>
          <a:xfrm>
            <a:off x="256364" y="92159"/>
            <a:ext cx="81499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rgbClr val="4DEE8D"/>
                </a:solidFill>
                <a:latin typeface="Montserrat ExtraBold" panose="00000900000000000000" pitchFamily="2" charset="-52"/>
              </a:rPr>
              <a:t>Отличие на примере составления расписания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8CE38B-149D-B218-BCFA-6B5F1AB6DF7F}"/>
              </a:ext>
            </a:extLst>
          </p:cNvPr>
          <p:cNvSpPr txBox="1"/>
          <p:nvPr/>
        </p:nvSpPr>
        <p:spPr>
          <a:xfrm>
            <a:off x="302042" y="491432"/>
            <a:ext cx="414177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>
              <a:solidFill>
                <a:schemeClr val="bg1"/>
              </a:solidFill>
            </a:endParaRPr>
          </a:p>
          <a:p>
            <a:pPr algn="ctr"/>
            <a:r>
              <a:rPr lang="ru-RU" b="1" u="sng" dirty="0">
                <a:solidFill>
                  <a:srgbClr val="4DEE8D"/>
                </a:solidFill>
              </a:rPr>
              <a:t>Языковая модель (LLM)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Запрос: “Покажи расписание моих занятий на завтра.”</a:t>
            </a:r>
          </a:p>
          <a:p>
            <a:r>
              <a:rPr lang="ru-RU" dirty="0">
                <a:solidFill>
                  <a:schemeClr val="bg1"/>
                </a:solidFill>
              </a:rPr>
              <a:t>Ответ языковой модели:</a:t>
            </a:r>
          </a:p>
          <a:p>
            <a:r>
              <a:rPr lang="ru-RU" dirty="0">
                <a:solidFill>
                  <a:schemeClr val="bg1"/>
                </a:solidFill>
              </a:rPr>
              <a:t>“Извините, у меня нет доступа к вашему расписанию.</a:t>
            </a:r>
          </a:p>
          <a:p>
            <a:r>
              <a:rPr lang="ru-RU" dirty="0">
                <a:solidFill>
                  <a:schemeClr val="bg1"/>
                </a:solidFill>
              </a:rPr>
              <a:t>Но я могу предложить шаблон или помочь составить расписание вручную.”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Что происходит:</a:t>
            </a:r>
          </a:p>
          <a:p>
            <a:r>
              <a:rPr lang="ru-RU" dirty="0">
                <a:solidFill>
                  <a:schemeClr val="bg1"/>
                </a:solidFill>
              </a:rPr>
              <a:t>* Модель понимает смысл запроса,</a:t>
            </a:r>
          </a:p>
          <a:p>
            <a:r>
              <a:rPr lang="ru-RU" dirty="0">
                <a:solidFill>
                  <a:schemeClr val="bg1"/>
                </a:solidFill>
              </a:rPr>
              <a:t>* генерирует ответ,</a:t>
            </a:r>
          </a:p>
          <a:p>
            <a:r>
              <a:rPr lang="ru-RU" dirty="0">
                <a:solidFill>
                  <a:schemeClr val="bg1"/>
                </a:solidFill>
              </a:rPr>
              <a:t>* но не может выполнить действие (она не знает, где хранится расписание).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DE25CC-8D9A-63DB-84CC-303F5F7736DA}"/>
              </a:ext>
            </a:extLst>
          </p:cNvPr>
          <p:cNvSpPr txBox="1"/>
          <p:nvPr/>
        </p:nvSpPr>
        <p:spPr>
          <a:xfrm>
            <a:off x="4745860" y="687927"/>
            <a:ext cx="431563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u="sng" dirty="0">
                <a:solidFill>
                  <a:srgbClr val="4DEE8D"/>
                </a:solidFill>
              </a:rPr>
              <a:t>Агент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Запрос: “Покажи расписание моих занятий на завтра.”</a:t>
            </a:r>
          </a:p>
          <a:p>
            <a:r>
              <a:rPr lang="ru-RU" dirty="0">
                <a:solidFill>
                  <a:schemeClr val="bg1"/>
                </a:solidFill>
              </a:rPr>
              <a:t>Что делает агент:</a:t>
            </a:r>
          </a:p>
          <a:p>
            <a:r>
              <a:rPr lang="ru-RU" dirty="0">
                <a:solidFill>
                  <a:schemeClr val="bg1"/>
                </a:solidFill>
              </a:rPr>
              <a:t>1. Понимает, что нужно получить актуальные данные.</a:t>
            </a:r>
          </a:p>
          <a:p>
            <a:r>
              <a:rPr lang="ru-RU" dirty="0">
                <a:solidFill>
                  <a:schemeClr val="bg1"/>
                </a:solidFill>
              </a:rPr>
              <a:t>2. Выбирает подходящий инструмент — например, подключение к Google </a:t>
            </a:r>
            <a:r>
              <a:rPr lang="ru-RU" dirty="0" err="1">
                <a:solidFill>
                  <a:schemeClr val="bg1"/>
                </a:solidFill>
              </a:rPr>
              <a:t>Calendar</a:t>
            </a:r>
            <a:r>
              <a:rPr lang="ru-RU" dirty="0">
                <a:solidFill>
                  <a:schemeClr val="bg1"/>
                </a:solidFill>
              </a:rPr>
              <a:t> API.</a:t>
            </a:r>
          </a:p>
          <a:p>
            <a:r>
              <a:rPr lang="ru-RU" dirty="0">
                <a:solidFill>
                  <a:schemeClr val="bg1"/>
                </a:solidFill>
              </a:rPr>
              <a:t>3. Делает запрос к календарю.</a:t>
            </a:r>
          </a:p>
          <a:p>
            <a:r>
              <a:rPr lang="ru-RU" dirty="0">
                <a:solidFill>
                  <a:schemeClr val="bg1"/>
                </a:solidFill>
              </a:rPr>
              <a:t>4. Формирует понятный ответ на основе данных.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Ответ агента: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 “Завтра у вас три занятия:</a:t>
            </a:r>
          </a:p>
          <a:p>
            <a:r>
              <a:rPr lang="ru-RU" dirty="0">
                <a:solidFill>
                  <a:schemeClr val="bg1"/>
                </a:solidFill>
              </a:rPr>
              <a:t>•  9:00 — История, ауд. 203</a:t>
            </a:r>
          </a:p>
          <a:p>
            <a:r>
              <a:rPr lang="ru-RU" dirty="0">
                <a:solidFill>
                  <a:schemeClr val="bg1"/>
                </a:solidFill>
              </a:rPr>
              <a:t>• 11:00 — Мировая культура, онлайн</a:t>
            </a:r>
          </a:p>
          <a:p>
            <a:r>
              <a:rPr lang="ru-RU" dirty="0">
                <a:solidFill>
                  <a:schemeClr val="bg1"/>
                </a:solidFill>
              </a:rPr>
              <a:t>• 14:00 — Консультация с группой Б-21, ауд. 105.”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8FF689A9-C69E-0726-03E7-D7395D09F128}"/>
              </a:ext>
            </a:extLst>
          </p:cNvPr>
          <p:cNvSpPr/>
          <p:nvPr/>
        </p:nvSpPr>
        <p:spPr>
          <a:xfrm>
            <a:off x="256364" y="586591"/>
            <a:ext cx="4141777" cy="4177914"/>
          </a:xfrm>
          <a:prstGeom prst="roundRect">
            <a:avLst>
              <a:gd name="adj" fmla="val 10433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FAD98788-D152-5166-42BC-918A717451E8}"/>
              </a:ext>
            </a:extLst>
          </p:cNvPr>
          <p:cNvSpPr/>
          <p:nvPr/>
        </p:nvSpPr>
        <p:spPr>
          <a:xfrm>
            <a:off x="4654505" y="586591"/>
            <a:ext cx="4406992" cy="4177914"/>
          </a:xfrm>
          <a:prstGeom prst="roundRect">
            <a:avLst>
              <a:gd name="adj" fmla="val 10433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FFB9870-2B26-ED63-F6C7-3D1339D091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24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1797572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D5A36-ED10-C440-C87C-D4DFC3A7B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85E5014-ACEE-2E0A-DF62-826E27E07B5A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44507FB-53FE-58D1-BB01-2AAEEE84E5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FB3994B-7811-5533-EF39-1B488F578B6A}"/>
              </a:ext>
            </a:extLst>
          </p:cNvPr>
          <p:cNvSpPr/>
          <p:nvPr/>
        </p:nvSpPr>
        <p:spPr>
          <a:xfrm>
            <a:off x="334108" y="68051"/>
            <a:ext cx="736795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Framework </a:t>
            </a:r>
            <a:r>
              <a:rPr lang="en-US" sz="2700" b="1" dirty="0" err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ReAct</a:t>
            </a:r>
            <a:r>
              <a:rPr lang="ru-RU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 + </a:t>
            </a:r>
            <a:r>
              <a:rPr lang="en-US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RAG 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30D773-44AA-8267-02A3-66E562125658}"/>
              </a:ext>
            </a:extLst>
          </p:cNvPr>
          <p:cNvSpPr txBox="1"/>
          <p:nvPr/>
        </p:nvSpPr>
        <p:spPr>
          <a:xfrm>
            <a:off x="147600" y="4559834"/>
            <a:ext cx="8531838" cy="880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ts val="3300"/>
              </a:lnSpc>
              <a:spcAft>
                <a:spcPts val="1200"/>
              </a:spcAft>
            </a:pPr>
            <a:r>
              <a:rPr lang="en-US" i="0" dirty="0">
                <a:solidFill>
                  <a:srgbClr val="202124"/>
                </a:solidFill>
                <a:effectLst/>
                <a:latin typeface="zeitung"/>
              </a:rPr>
              <a:t>Julia Wiesinger, Patrick Marlow and </a:t>
            </a:r>
            <a:r>
              <a:rPr lang="en-US" dirty="0">
                <a:solidFill>
                  <a:srgbClr val="202124"/>
                </a:solidFill>
                <a:latin typeface="zeitung"/>
              </a:rPr>
              <a:t>Vladimir </a:t>
            </a:r>
            <a:r>
              <a:rPr lang="en-US" dirty="0" err="1">
                <a:solidFill>
                  <a:srgbClr val="202124"/>
                </a:solidFill>
                <a:latin typeface="zeitung"/>
              </a:rPr>
              <a:t>Vuskovic</a:t>
            </a:r>
            <a:r>
              <a:rPr lang="ru-RU" dirty="0">
                <a:solidFill>
                  <a:srgbClr val="202124"/>
                </a:solidFill>
                <a:latin typeface="zeitung"/>
              </a:rPr>
              <a:t>. </a:t>
            </a:r>
            <a:r>
              <a:rPr lang="en-US" dirty="0">
                <a:solidFill>
                  <a:srgbClr val="202124"/>
                </a:solidFill>
                <a:latin typeface="zeitung"/>
              </a:rPr>
              <a:t>Agents</a:t>
            </a:r>
            <a:r>
              <a:rPr lang="ru-RU" dirty="0">
                <a:solidFill>
                  <a:srgbClr val="202124"/>
                </a:solidFill>
                <a:latin typeface="zeitung"/>
              </a:rPr>
              <a:t>. </a:t>
            </a:r>
            <a:r>
              <a:rPr lang="en-US" dirty="0">
                <a:solidFill>
                  <a:srgbClr val="202124"/>
                </a:solidFill>
                <a:latin typeface="zeitung"/>
              </a:rPr>
              <a:t>https://www.kaggle.com/whitepaper-agents</a:t>
            </a:r>
            <a:br>
              <a:rPr lang="ru-RU" i="0" dirty="0">
                <a:solidFill>
                  <a:srgbClr val="202124"/>
                </a:solidFill>
                <a:effectLst/>
                <a:latin typeface="zeitung"/>
              </a:rPr>
            </a:br>
            <a:endParaRPr lang="en-US" i="0" dirty="0">
              <a:solidFill>
                <a:srgbClr val="202124"/>
              </a:solidFill>
              <a:effectLst/>
              <a:latin typeface="zeitung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4EFB019-4267-26A4-9A05-C4F3A6DAC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826" y="665519"/>
            <a:ext cx="6259893" cy="385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6836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5FAD8-A94E-A92F-48D1-4F65757F9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C0A09E8-62C9-1382-779F-3B5E2DD4E3D1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2C47CCF-A4E4-30D8-90AF-9A06F2DC46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10FBB82-40BE-8055-CA3B-E28837703C32}"/>
              </a:ext>
            </a:extLst>
          </p:cNvPr>
          <p:cNvSpPr/>
          <p:nvPr/>
        </p:nvSpPr>
        <p:spPr>
          <a:xfrm>
            <a:off x="334108" y="68051"/>
            <a:ext cx="736795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Инструменты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6FB844D-43D6-BD2D-24C1-984CC903AA3E}"/>
              </a:ext>
            </a:extLst>
          </p:cNvPr>
          <p:cNvSpPr/>
          <p:nvPr/>
        </p:nvSpPr>
        <p:spPr>
          <a:xfrm>
            <a:off x="334109" y="881889"/>
            <a:ext cx="8345329" cy="26853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450"/>
              </a:spcBef>
            </a:pPr>
            <a:endParaRPr lang="en-US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algn="just">
              <a:spcBef>
                <a:spcPts val="450"/>
              </a:spcBef>
            </a:pPr>
            <a:endParaRPr lang="en-US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algn="just">
              <a:spcBef>
                <a:spcPts val="450"/>
              </a:spcBef>
            </a:pPr>
            <a:endParaRPr lang="en-US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algn="ctr">
              <a:spcBef>
                <a:spcPts val="450"/>
              </a:spcBef>
            </a:pP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Как агент может взаимодействовать </a:t>
            </a:r>
            <a:b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</a:b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с внешним миром?</a:t>
            </a:r>
          </a:p>
          <a:p>
            <a:br>
              <a:rPr lang="ru-RU" sz="1050" dirty="0"/>
            </a:br>
            <a:endParaRPr lang="ru-RU" sz="1050" dirty="0"/>
          </a:p>
        </p:txBody>
      </p:sp>
    </p:spTree>
    <p:extLst>
      <p:ext uri="{BB962C8B-B14F-4D97-AF65-F5344CB8AC3E}">
        <p14:creationId xmlns:p14="http://schemas.microsoft.com/office/powerpoint/2010/main" val="23079127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A1F4F-AF1E-09A2-6FD1-7F248A99D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C27C41E-866F-37FF-A239-C5CC39FC3F43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3D2AD17-670C-6567-C705-953629250C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10F2177-B05E-EC53-9ADB-E19D07A28807}"/>
              </a:ext>
            </a:extLst>
          </p:cNvPr>
          <p:cNvSpPr/>
          <p:nvPr/>
        </p:nvSpPr>
        <p:spPr>
          <a:xfrm>
            <a:off x="334108" y="68051"/>
            <a:ext cx="736795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API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465CF33-D299-8DB1-EE58-B167D186A03A}"/>
              </a:ext>
            </a:extLst>
          </p:cNvPr>
          <p:cNvSpPr/>
          <p:nvPr/>
        </p:nvSpPr>
        <p:spPr>
          <a:xfrm>
            <a:off x="334109" y="881889"/>
            <a:ext cx="8345329" cy="2032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450"/>
              </a:spcBef>
            </a:pP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Какая средняя зарплата </a:t>
            </a: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Data Scientist </a:t>
            </a: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в Екатеринбурге?</a:t>
            </a:r>
          </a:p>
          <a:p>
            <a:pPr>
              <a:spcBef>
                <a:spcPts val="450"/>
              </a:spcBef>
            </a:pP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>
              <a:spcBef>
                <a:spcPts val="450"/>
              </a:spcBef>
            </a:pPr>
            <a:r>
              <a:rPr lang="en-US" sz="1575" dirty="0">
                <a:latin typeface="Consolas" panose="020B0609020204030204" pitchFamily="49" charset="0"/>
              </a:rPr>
              <a:t>https://api.hh.ru/vacancies?text=Data </a:t>
            </a:r>
            <a:r>
              <a:rPr lang="en-US" sz="1575" dirty="0" err="1">
                <a:latin typeface="Consolas" panose="020B0609020204030204" pitchFamily="49" charset="0"/>
              </a:rPr>
              <a:t>Scientist&amp;search_field</a:t>
            </a:r>
            <a:r>
              <a:rPr lang="en-US" sz="1575" dirty="0">
                <a:latin typeface="Consolas" panose="020B0609020204030204" pitchFamily="49" charset="0"/>
              </a:rPr>
              <a:t>=</a:t>
            </a:r>
            <a:r>
              <a:rPr lang="en-US" sz="1575" dirty="0" err="1">
                <a:latin typeface="Consolas" panose="020B0609020204030204" pitchFamily="49" charset="0"/>
              </a:rPr>
              <a:t>name&amp;area</a:t>
            </a:r>
            <a:r>
              <a:rPr lang="en-US" sz="1575" dirty="0">
                <a:latin typeface="Consolas" panose="020B0609020204030204" pitchFamily="49" charset="0"/>
              </a:rPr>
              <a:t>=3</a:t>
            </a:r>
            <a:endParaRPr lang="ru-RU" sz="1575" dirty="0">
              <a:latin typeface="Consolas" panose="020B0609020204030204" pitchFamily="49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br>
              <a:rPr lang="ru-RU" sz="1050" dirty="0"/>
            </a:br>
            <a:endParaRPr lang="ru-RU" sz="1050" dirty="0"/>
          </a:p>
        </p:txBody>
      </p:sp>
    </p:spTree>
    <p:extLst>
      <p:ext uri="{BB962C8B-B14F-4D97-AF65-F5344CB8AC3E}">
        <p14:creationId xmlns:p14="http://schemas.microsoft.com/office/powerpoint/2010/main" val="19343934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BB97D-0DCE-E96E-BA27-528C48C1A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E039679-567E-6EE8-AC28-C899580EA9E3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09696EF-8006-3AD3-8262-75DCAB79B7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AF5A42D-07C6-1F60-AEFD-BA8D91E188D7}"/>
              </a:ext>
            </a:extLst>
          </p:cNvPr>
          <p:cNvSpPr/>
          <p:nvPr/>
        </p:nvSpPr>
        <p:spPr>
          <a:xfrm>
            <a:off x="334108" y="68051"/>
            <a:ext cx="736795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Создание агентов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98631DF-6433-DE23-1D08-D6723FCAA900}"/>
              </a:ext>
            </a:extLst>
          </p:cNvPr>
          <p:cNvSpPr/>
          <p:nvPr/>
        </p:nvSpPr>
        <p:spPr>
          <a:xfrm>
            <a:off x="334109" y="881888"/>
            <a:ext cx="8345329" cy="3321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OpenAI GPTs Function Calling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14313" indent="-214313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Anthropic Tools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14313" indent="-214313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nl-NL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Google Vertex AI / Gemini Functions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14313" indent="-214313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2700" dirty="0" err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LangChain</a:t>
            </a: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 Tools / LangGraph</a:t>
            </a:r>
          </a:p>
          <a:p>
            <a:pPr marL="214313" indent="-214313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2700" dirty="0" err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LlamaIndex</a:t>
            </a: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 Tools / Agents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14313" indent="-214313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Hugging Face Transformers Agents &amp; Tools</a:t>
            </a:r>
            <a:b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</a:b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3958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17D76-489C-B092-A454-349E656D5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5BBC5D7-0E5F-2661-6810-A5428652BA31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70364DA-2C92-9677-7F13-EE35282FEC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D609645-1DCB-2E4F-C78B-A65132CDFC56}"/>
              </a:ext>
            </a:extLst>
          </p:cNvPr>
          <p:cNvSpPr/>
          <p:nvPr/>
        </p:nvSpPr>
        <p:spPr>
          <a:xfrm>
            <a:off x="334108" y="68051"/>
            <a:ext cx="736795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Создание агентов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54BEE6D-E0A5-3533-D70B-E83CE8CCF504}"/>
              </a:ext>
            </a:extLst>
          </p:cNvPr>
          <p:cNvSpPr/>
          <p:nvPr/>
        </p:nvSpPr>
        <p:spPr>
          <a:xfrm>
            <a:off x="334109" y="881889"/>
            <a:ext cx="8345329" cy="2298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450"/>
              </a:spcBef>
            </a:pPr>
            <a:endParaRPr lang="en-US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algn="just">
              <a:spcBef>
                <a:spcPts val="450"/>
              </a:spcBef>
            </a:pPr>
            <a:endParaRPr lang="en-US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algn="ctr">
              <a:spcBef>
                <a:spcPts val="450"/>
              </a:spcBef>
            </a:pP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Вы хотите создать сервис (</a:t>
            </a: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tool)</a:t>
            </a: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, </a:t>
            </a:r>
            <a:b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</a:b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который будет доступен агентам для вызова.</a:t>
            </a:r>
            <a:b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</a:b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Что вы будете делать?</a:t>
            </a:r>
          </a:p>
        </p:txBody>
      </p:sp>
    </p:spTree>
    <p:extLst>
      <p:ext uri="{BB962C8B-B14F-4D97-AF65-F5344CB8AC3E}">
        <p14:creationId xmlns:p14="http://schemas.microsoft.com/office/powerpoint/2010/main" val="20780638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1AA3F-C9DA-F158-DEE5-C94454DBB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1086642-D13C-87A9-0A06-6A1295B21D9F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712A6E4-515C-DEC2-A5CE-39E2E2F2A9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1E25413-956D-3809-4E48-33766F7F815C}"/>
              </a:ext>
            </a:extLst>
          </p:cNvPr>
          <p:cNvSpPr/>
          <p:nvPr/>
        </p:nvSpPr>
        <p:spPr>
          <a:xfrm>
            <a:off x="334109" y="68051"/>
            <a:ext cx="666140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Стандартизированный протокол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69634" name="Picture 2">
            <a:extLst>
              <a:ext uri="{FF2B5EF4-FFF2-40B4-BE49-F238E27FC236}">
                <a16:creationId xmlns:a16="http://schemas.microsoft.com/office/drawing/2014/main" id="{0A43BD1C-B71A-B4C8-C659-02DF6F41A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5813"/>
            <a:ext cx="9144000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F3CEDA-D14B-DDD0-8136-79F4E144B96B}"/>
              </a:ext>
            </a:extLst>
          </p:cNvPr>
          <p:cNvSpPr txBox="1"/>
          <p:nvPr/>
        </p:nvSpPr>
        <p:spPr>
          <a:xfrm>
            <a:off x="79131" y="4793518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dirty="0"/>
              <a:t>https://modelcontextprotocol.io/docs/getting-started/intro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F951594-FEE8-DE47-AA82-E3894429D7DC}"/>
              </a:ext>
            </a:extLst>
          </p:cNvPr>
          <p:cNvSpPr/>
          <p:nvPr/>
        </p:nvSpPr>
        <p:spPr>
          <a:xfrm>
            <a:off x="1" y="4029860"/>
            <a:ext cx="9143999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450"/>
              </a:spcBef>
            </a:pP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Метафора </a:t>
            </a: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USB-C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834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22851-6B23-9574-39A7-EDE96330A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0F180AA-AD3C-E5A8-CD17-A27E6D26BAFF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534CF47-B249-F3B9-A8C3-A7088BB122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FBEA493-6904-3413-15FD-D85BB4E966A2}"/>
              </a:ext>
            </a:extLst>
          </p:cNvPr>
          <p:cNvSpPr/>
          <p:nvPr/>
        </p:nvSpPr>
        <p:spPr>
          <a:xfrm>
            <a:off x="334109" y="68051"/>
            <a:ext cx="666140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Типы стандартов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905D261-06A7-7596-60B6-1A82C59958C3}"/>
              </a:ext>
            </a:extLst>
          </p:cNvPr>
          <p:cNvSpPr/>
          <p:nvPr/>
        </p:nvSpPr>
        <p:spPr>
          <a:xfrm>
            <a:off x="334109" y="881888"/>
            <a:ext cx="8345329" cy="3003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Проприетарный стандарт (закрытый): </a:t>
            </a:r>
          </a:p>
          <a:p>
            <a:pPr marL="557213" lvl="1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OpenAI API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14313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Открытый стандарт (опубликованный в открытом доступе) :</a:t>
            </a:r>
            <a:endParaRPr lang="en-US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557213" lvl="1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Model Context Protocol</a:t>
            </a: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 (</a:t>
            </a: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MCP</a:t>
            </a: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)</a:t>
            </a: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от </a:t>
            </a: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Anthropic</a:t>
            </a:r>
          </a:p>
          <a:p>
            <a:pPr marL="557213" lvl="1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Agent2Agent </a:t>
            </a: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(</a:t>
            </a: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A2A</a:t>
            </a: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)</a:t>
            </a: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от </a:t>
            </a: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Google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endParaRPr lang="ru-RU" sz="1050" dirty="0"/>
          </a:p>
        </p:txBody>
      </p:sp>
    </p:spTree>
    <p:extLst>
      <p:ext uri="{BB962C8B-B14F-4D97-AF65-F5344CB8AC3E}">
        <p14:creationId xmlns:p14="http://schemas.microsoft.com/office/powerpoint/2010/main" val="12215372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40674-BE58-CA31-1A4E-F88B7C2A3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79803E5-D649-41AA-58DD-55E232642DD0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FAAEBD1-7DF2-777B-E16C-1E0D06C9EB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387E78F-00BF-201B-8B59-C21E0B99FECD}"/>
              </a:ext>
            </a:extLst>
          </p:cNvPr>
          <p:cNvSpPr/>
          <p:nvPr/>
        </p:nvSpPr>
        <p:spPr>
          <a:xfrm>
            <a:off x="334108" y="68051"/>
            <a:ext cx="7209692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Преимущества стандартных протоколов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24E8A3F-241D-8F5D-7B4E-7EC78F84315F}"/>
              </a:ext>
            </a:extLst>
          </p:cNvPr>
          <p:cNvSpPr/>
          <p:nvPr/>
        </p:nvSpPr>
        <p:spPr>
          <a:xfrm>
            <a:off x="334109" y="881889"/>
            <a:ext cx="8345329" cy="4378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Разработчики </a:t>
            </a:r>
          </a:p>
          <a:p>
            <a:pPr marL="557213" lvl="1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Сервис разрабатывается один раз и доступен всем ИИ</a:t>
            </a: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агентам, использующим протокол</a:t>
            </a:r>
          </a:p>
          <a:p>
            <a:pPr marL="557213" lvl="1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Простота разработки и реализации сервиса</a:t>
            </a:r>
          </a:p>
          <a:p>
            <a:pPr marL="214313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ИИ</a:t>
            </a: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агенты</a:t>
            </a:r>
            <a:endParaRPr lang="en-US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557213" lvl="1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Доступно большое количество сервисов</a:t>
            </a:r>
          </a:p>
          <a:p>
            <a:pPr marL="214313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Пользователи</a:t>
            </a:r>
            <a:endParaRPr lang="en-US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557213" lvl="1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Могу использовать более «умные» и «умелые» ИИ</a:t>
            </a: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приложения</a:t>
            </a:r>
          </a:p>
          <a:p>
            <a:endParaRPr lang="ru-RU" sz="1050" dirty="0"/>
          </a:p>
        </p:txBody>
      </p:sp>
    </p:spTree>
    <p:extLst>
      <p:ext uri="{BB962C8B-B14F-4D97-AF65-F5344CB8AC3E}">
        <p14:creationId xmlns:p14="http://schemas.microsoft.com/office/powerpoint/2010/main" val="5897836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CED87-1DA4-0B5C-2BCD-1F7FCA90F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A8124EA-B19A-AED1-7774-50A19ADE891B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C49A731-68E4-62EB-65E3-2D0E2ED375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16C1069-061E-A325-66BD-B07F1D7B7A82}"/>
              </a:ext>
            </a:extLst>
          </p:cNvPr>
          <p:cNvSpPr/>
          <p:nvPr/>
        </p:nvSpPr>
        <p:spPr>
          <a:xfrm>
            <a:off x="334108" y="68051"/>
            <a:ext cx="7209692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Преимущества стандартных протоколов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618A5D6-0EBF-6743-08DA-CE688F62A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58" y="678089"/>
            <a:ext cx="6324484" cy="40648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35D9EC-B036-8663-4EB1-8E2AB12B8090}"/>
              </a:ext>
            </a:extLst>
          </p:cNvPr>
          <p:cNvSpPr txBox="1"/>
          <p:nvPr/>
        </p:nvSpPr>
        <p:spPr>
          <a:xfrm>
            <a:off x="79131" y="4866501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dirty="0"/>
              <a:t>https://github.com/punkpeye/awesome-mcp-servers</a:t>
            </a:r>
          </a:p>
        </p:txBody>
      </p:sp>
    </p:spTree>
    <p:extLst>
      <p:ext uri="{BB962C8B-B14F-4D97-AF65-F5344CB8AC3E}">
        <p14:creationId xmlns:p14="http://schemas.microsoft.com/office/powerpoint/2010/main" val="5224065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1A993-7141-8F0E-E4D8-BF249B469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1DEF7B4-D205-9125-4425-76BF5FF72BF0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12C8942-624A-5C28-9D99-DDEB9F3008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C8737D8-6B5C-4294-A26A-5EBDCBB3DF78}"/>
              </a:ext>
            </a:extLst>
          </p:cNvPr>
          <p:cNvSpPr/>
          <p:nvPr/>
        </p:nvSpPr>
        <p:spPr>
          <a:xfrm>
            <a:off x="334109" y="68051"/>
            <a:ext cx="666140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Model Context Protocol (MCP)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9B7BAEC-D86D-97E6-FCDB-BE09891E183F}"/>
              </a:ext>
            </a:extLst>
          </p:cNvPr>
          <p:cNvSpPr/>
          <p:nvPr/>
        </p:nvSpPr>
        <p:spPr>
          <a:xfrm>
            <a:off x="334109" y="881888"/>
            <a:ext cx="8345329" cy="3931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Model Context Protocol (MCP)</a:t>
            </a: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 – это </a:t>
            </a:r>
            <a:b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</a:b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открытый стандарт подключения</a:t>
            </a:r>
            <a:b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</a:b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ИИ-приложений к внешним системам</a:t>
            </a:r>
          </a:p>
          <a:p>
            <a:pPr marL="214313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Разработчик </a:t>
            </a: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MCP – </a:t>
            </a: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компания </a:t>
            </a: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Anthropic</a:t>
            </a:r>
          </a:p>
          <a:p>
            <a:pPr marL="557213" lvl="1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Стандарт используется большим количеством других компаний</a:t>
            </a: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557213" lvl="1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Стандарт опубликован в открытом виде </a:t>
            </a: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https://modelcontextprotocol.io/specification/</a:t>
            </a:r>
          </a:p>
          <a:p>
            <a:br>
              <a:rPr lang="ru-RU" sz="1050" dirty="0"/>
            </a:br>
            <a:endParaRPr lang="ru-RU" sz="1050" dirty="0"/>
          </a:p>
        </p:txBody>
      </p:sp>
      <p:pic>
        <p:nvPicPr>
          <p:cNvPr id="82946" name="Picture 2" descr="Model Context Protocol · GitHub">
            <a:extLst>
              <a:ext uri="{FF2B5EF4-FFF2-40B4-BE49-F238E27FC236}">
                <a16:creationId xmlns:a16="http://schemas.microsoft.com/office/drawing/2014/main" id="{01196620-1CE6-289A-786D-1D9E2FBF0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571" y="881888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08444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77EAA-8AAF-CD9C-22C4-975F1A242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8073878-2212-3B77-F712-C12E5ABD9552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FE47A13-9760-AA04-DA4F-FAA77D5462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AD5CF17-96AD-2624-42BF-9E04BA8AC1A2}"/>
              </a:ext>
            </a:extLst>
          </p:cNvPr>
          <p:cNvSpPr/>
          <p:nvPr/>
        </p:nvSpPr>
        <p:spPr>
          <a:xfrm>
            <a:off x="334109" y="68051"/>
            <a:ext cx="666140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Model Context Protocol (MCP)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5CE94B1-92E4-E99B-7412-C9E261747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97" y="814938"/>
            <a:ext cx="7821838" cy="38359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FEDB8A-0261-B571-1B9C-4739E30C1DC5}"/>
              </a:ext>
            </a:extLst>
          </p:cNvPr>
          <p:cNvSpPr txBox="1"/>
          <p:nvPr/>
        </p:nvSpPr>
        <p:spPr>
          <a:xfrm>
            <a:off x="105508" y="4847870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dirty="0"/>
              <a:t>https://modelcontextprotocol.io/specification/2025-06-18</a:t>
            </a:r>
          </a:p>
        </p:txBody>
      </p:sp>
    </p:spTree>
    <p:extLst>
      <p:ext uri="{BB962C8B-B14F-4D97-AF65-F5344CB8AC3E}">
        <p14:creationId xmlns:p14="http://schemas.microsoft.com/office/powerpoint/2010/main" val="30101910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013AD-D6C4-48A8-C718-88F6BDF47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DACDEDA-24FA-CD11-6400-67B2C035DDC5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E61BACF-B5A9-3571-2D31-FC0E33682B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FF70340-EEAB-798D-B993-B4A82F05BBFA}"/>
              </a:ext>
            </a:extLst>
          </p:cNvPr>
          <p:cNvSpPr/>
          <p:nvPr/>
        </p:nvSpPr>
        <p:spPr>
          <a:xfrm>
            <a:off x="334109" y="68051"/>
            <a:ext cx="666140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Что позволяет делать </a:t>
            </a:r>
            <a:r>
              <a:rPr lang="en-US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MCP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D064828-07F7-9DE9-50A3-EF691EE92F88}"/>
              </a:ext>
            </a:extLst>
          </p:cNvPr>
          <p:cNvSpPr/>
          <p:nvPr/>
        </p:nvSpPr>
        <p:spPr>
          <a:xfrm>
            <a:off x="334109" y="881888"/>
            <a:ext cx="8345329" cy="2621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Предоставлять информацию для контекста </a:t>
            </a: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LLM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14313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Предоставлять инструменты (</a:t>
            </a: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tools) </a:t>
            </a: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для </a:t>
            </a:r>
            <a:b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</a:b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ИИ-систем</a:t>
            </a:r>
          </a:p>
          <a:p>
            <a:pPr marL="214313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Обеспечивать интеграцию нескольких систем и строить потоки работ (</a:t>
            </a: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workflows</a:t>
            </a: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) </a:t>
            </a:r>
          </a:p>
          <a:p>
            <a:br>
              <a:rPr lang="ru-RU" sz="1050" dirty="0"/>
            </a:br>
            <a:endParaRPr lang="ru-RU" sz="1050" dirty="0"/>
          </a:p>
        </p:txBody>
      </p:sp>
    </p:spTree>
    <p:extLst>
      <p:ext uri="{BB962C8B-B14F-4D97-AF65-F5344CB8AC3E}">
        <p14:creationId xmlns:p14="http://schemas.microsoft.com/office/powerpoint/2010/main" val="21593563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81BF7-6EFD-B4BE-8E41-0103171A9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61453F-A602-3DF6-9DAD-DE9D7AFCB4E7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60838ED-2F09-2FD5-A1A2-7E11109AD0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9EB261F-DADD-B0CC-2F95-04BD3B1D4BD9}"/>
              </a:ext>
            </a:extLst>
          </p:cNvPr>
          <p:cNvSpPr/>
          <p:nvPr/>
        </p:nvSpPr>
        <p:spPr>
          <a:xfrm>
            <a:off x="334109" y="68051"/>
            <a:ext cx="666140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Архитектура </a:t>
            </a:r>
            <a:r>
              <a:rPr lang="en-US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MCP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7CB3791-F4FC-D4C5-1225-C1CFB93B6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893" y="1323345"/>
            <a:ext cx="6694215" cy="29778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4CC7FC-73F2-77C8-38B7-8930F2816512}"/>
              </a:ext>
            </a:extLst>
          </p:cNvPr>
          <p:cNvSpPr txBox="1"/>
          <p:nvPr/>
        </p:nvSpPr>
        <p:spPr>
          <a:xfrm>
            <a:off x="96716" y="4811891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dirty="0"/>
              <a:t>https://modelcontextprotocol.io/docs/learn/architecture</a:t>
            </a:r>
          </a:p>
        </p:txBody>
      </p:sp>
    </p:spTree>
    <p:extLst>
      <p:ext uri="{BB962C8B-B14F-4D97-AF65-F5344CB8AC3E}">
        <p14:creationId xmlns:p14="http://schemas.microsoft.com/office/powerpoint/2010/main" val="27427845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1BE44-FAAE-C9CF-3D8D-E1612A5EA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484504C-674B-2BD8-0CFA-7AA28ECF8A86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4A30A49-A6A9-34A9-2883-495C2F70F8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DFD6B58-AA48-D0E7-B91B-447ED53F9C53}"/>
              </a:ext>
            </a:extLst>
          </p:cNvPr>
          <p:cNvSpPr/>
          <p:nvPr/>
        </p:nvSpPr>
        <p:spPr>
          <a:xfrm>
            <a:off x="334109" y="68051"/>
            <a:ext cx="666140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MCP</a:t>
            </a:r>
            <a:r>
              <a:rPr lang="ru-RU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 сервер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72B4E8F-3902-EC90-4750-4209912385E3}"/>
              </a:ext>
            </a:extLst>
          </p:cNvPr>
          <p:cNvSpPr/>
          <p:nvPr/>
        </p:nvSpPr>
        <p:spPr>
          <a:xfrm>
            <a:off x="334109" y="881888"/>
            <a:ext cx="8345329" cy="26853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MCP </a:t>
            </a: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сервер предоставляет клиенту три типа примитивов:</a:t>
            </a:r>
          </a:p>
          <a:p>
            <a:pPr marL="557213" lvl="1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Tools</a:t>
            </a:r>
          </a:p>
          <a:p>
            <a:pPr marL="557213" lvl="1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Resources</a:t>
            </a:r>
          </a:p>
          <a:p>
            <a:pPr marL="557213" lvl="1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Prompts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br>
              <a:rPr lang="ru-RU" sz="1050" dirty="0"/>
            </a:br>
            <a:endParaRPr lang="ru-RU" sz="1050" dirty="0"/>
          </a:p>
        </p:txBody>
      </p:sp>
    </p:spTree>
    <p:extLst>
      <p:ext uri="{BB962C8B-B14F-4D97-AF65-F5344CB8AC3E}">
        <p14:creationId xmlns:p14="http://schemas.microsoft.com/office/powerpoint/2010/main" val="10459265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B9232-F420-BB76-A44B-F38713DA2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2333E11-747E-59FB-E671-9DB3381FDDAE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9A45F0B-10D5-1AA4-0BDD-DF792C7251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81E2B23-2247-B8D6-2F63-F08001AEEB45}"/>
              </a:ext>
            </a:extLst>
          </p:cNvPr>
          <p:cNvSpPr/>
          <p:nvPr/>
        </p:nvSpPr>
        <p:spPr>
          <a:xfrm>
            <a:off x="334109" y="68051"/>
            <a:ext cx="666140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MCP</a:t>
            </a:r>
            <a:r>
              <a:rPr lang="ru-RU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 сервер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B536D52-ECC6-2464-131B-0BD5708E281F}"/>
              </a:ext>
            </a:extLst>
          </p:cNvPr>
          <p:cNvSpPr/>
          <p:nvPr/>
        </p:nvSpPr>
        <p:spPr>
          <a:xfrm>
            <a:off x="334109" y="881888"/>
            <a:ext cx="8345329" cy="2621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Типы серверов </a:t>
            </a: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MCP</a:t>
            </a: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:</a:t>
            </a:r>
          </a:p>
          <a:p>
            <a:pPr marL="557213" lvl="1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Локальный (запускается на локальном компьютере)</a:t>
            </a:r>
            <a:endParaRPr lang="en-US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557213" lvl="1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Удаленный (запускается на сервере в интернет)</a:t>
            </a:r>
            <a:endParaRPr lang="en-US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br>
              <a:rPr lang="ru-RU" sz="1050" dirty="0"/>
            </a:br>
            <a:endParaRPr lang="ru-RU" sz="1050" dirty="0"/>
          </a:p>
        </p:txBody>
      </p:sp>
    </p:spTree>
    <p:extLst>
      <p:ext uri="{BB962C8B-B14F-4D97-AF65-F5344CB8AC3E}">
        <p14:creationId xmlns:p14="http://schemas.microsoft.com/office/powerpoint/2010/main" val="7610365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F68A9-DE2C-6824-2953-F7DD28BCF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2910DDD-2EFE-24D9-8291-ACF36C69D914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8D69E67-D348-B511-5634-6BACA31E24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DA04D63-1691-EF73-F9E7-5E66392591B8}"/>
              </a:ext>
            </a:extLst>
          </p:cNvPr>
          <p:cNvSpPr/>
          <p:nvPr/>
        </p:nvSpPr>
        <p:spPr>
          <a:xfrm>
            <a:off x="334109" y="68051"/>
            <a:ext cx="666140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MCP</a:t>
            </a:r>
            <a:r>
              <a:rPr lang="ru-RU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 серверы: </a:t>
            </a:r>
            <a:r>
              <a:rPr lang="en-US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Context7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7747EC5-31F3-DF80-8D6C-2933081BD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410" y="743246"/>
            <a:ext cx="7028390" cy="40480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84196F-38C8-928F-4180-33D5BF46A087}"/>
              </a:ext>
            </a:extLst>
          </p:cNvPr>
          <p:cNvSpPr txBox="1"/>
          <p:nvPr/>
        </p:nvSpPr>
        <p:spPr>
          <a:xfrm>
            <a:off x="154800" y="483572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https://github.com/upstash/context7</a:t>
            </a:r>
          </a:p>
        </p:txBody>
      </p:sp>
    </p:spTree>
    <p:extLst>
      <p:ext uri="{BB962C8B-B14F-4D97-AF65-F5344CB8AC3E}">
        <p14:creationId xmlns:p14="http://schemas.microsoft.com/office/powerpoint/2010/main" val="11600045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84E7B-839F-050E-5061-9BD20F194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D5AA1FD-8ACC-15C7-18A1-5323C6628A93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F8F74B3-BF8A-0C66-AE89-25E6A66451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9025FF9-54E6-133B-E447-900E666A11E1}"/>
              </a:ext>
            </a:extLst>
          </p:cNvPr>
          <p:cNvSpPr/>
          <p:nvPr/>
        </p:nvSpPr>
        <p:spPr>
          <a:xfrm>
            <a:off x="334109" y="68051"/>
            <a:ext cx="666140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Удаленные </a:t>
            </a:r>
            <a:r>
              <a:rPr lang="en-US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MCP </a:t>
            </a:r>
            <a:r>
              <a:rPr lang="ru-RU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серверы</a:t>
            </a:r>
            <a:endParaRPr lang="en-US" sz="2700" b="1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4911A8B-15B7-59E0-F810-675082CE6EB4}"/>
              </a:ext>
            </a:extLst>
          </p:cNvPr>
          <p:cNvSpPr/>
          <p:nvPr/>
        </p:nvSpPr>
        <p:spPr>
          <a:xfrm>
            <a:off x="334109" y="881889"/>
            <a:ext cx="8345329" cy="4090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Hugging Face</a:t>
            </a:r>
          </a:p>
          <a:p>
            <a:pPr marL="557213" lvl="1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https://huggingface.co/mcp</a:t>
            </a:r>
          </a:p>
          <a:p>
            <a:pPr marL="214313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GitHub</a:t>
            </a:r>
          </a:p>
          <a:p>
            <a:pPr marL="557213" lvl="1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https://api.githubcopilot.com/mcp/</a:t>
            </a:r>
          </a:p>
          <a:p>
            <a:pPr marL="214313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PayPal</a:t>
            </a:r>
          </a:p>
          <a:p>
            <a:pPr marL="557213" lvl="1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https://mcp.paypal.com/mcp</a:t>
            </a:r>
          </a:p>
          <a:p>
            <a:pPr marL="214313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Atlassian</a:t>
            </a:r>
          </a:p>
          <a:p>
            <a:pPr marL="557213" lvl="1" indent="-214313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https://mcp.atlassian.com/v1/sse</a:t>
            </a:r>
          </a:p>
          <a:p>
            <a:pPr lvl="1" algn="just">
              <a:spcBef>
                <a:spcPts val="450"/>
              </a:spcBef>
            </a:pPr>
            <a:endParaRPr lang="ru-RU" sz="10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CBCDA-4796-C8E5-D919-3BC940E02D8D}"/>
              </a:ext>
            </a:extLst>
          </p:cNvPr>
          <p:cNvSpPr txBox="1"/>
          <p:nvPr/>
        </p:nvSpPr>
        <p:spPr>
          <a:xfrm>
            <a:off x="0" y="4866501"/>
            <a:ext cx="807133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dirty="0"/>
              <a:t>https://docs.anthropic.com/en/docs/agents-and-tools/remote-mcp-servers</a:t>
            </a:r>
          </a:p>
        </p:txBody>
      </p:sp>
    </p:spTree>
    <p:extLst>
      <p:ext uri="{BB962C8B-B14F-4D97-AF65-F5344CB8AC3E}">
        <p14:creationId xmlns:p14="http://schemas.microsoft.com/office/powerpoint/2010/main" val="12345417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F5C4B-9F00-7D97-02F7-284150A75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6FD6AA6-E6E8-5819-2FFA-91516EE48BE1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23363AD-D3DD-7D2B-0305-36854C199F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2313D96-B7AB-DC83-75BA-CA026FA6807A}"/>
              </a:ext>
            </a:extLst>
          </p:cNvPr>
          <p:cNvSpPr/>
          <p:nvPr/>
        </p:nvSpPr>
        <p:spPr>
          <a:xfrm>
            <a:off x="334109" y="68051"/>
            <a:ext cx="666140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700" b="1" dirty="0" err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Многоагентные</a:t>
            </a:r>
            <a:r>
              <a:rPr lang="ru-RU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 системы</a:t>
            </a:r>
            <a:endParaRPr lang="en-US" sz="2700" b="1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6" name="Рисунок 5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E928E03-716F-38D0-18CC-5A9EAD1EA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53" y="1738416"/>
            <a:ext cx="8607731" cy="18200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2CB5F1-9459-4529-8CBE-CDD9BC808B66}"/>
              </a:ext>
            </a:extLst>
          </p:cNvPr>
          <p:cNvSpPr txBox="1"/>
          <p:nvPr/>
        </p:nvSpPr>
        <p:spPr>
          <a:xfrm>
            <a:off x="242501" y="4728002"/>
            <a:ext cx="852853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OpenAI. A practical guide to building agents</a:t>
            </a:r>
          </a:p>
          <a:p>
            <a:r>
              <a:rPr lang="ru-RU" sz="1050" dirty="0"/>
              <a:t>https://cdn.openai.com/business-guides-and-resources/a-practical-guide-to-building-agents.pdf</a:t>
            </a:r>
          </a:p>
        </p:txBody>
      </p:sp>
    </p:spTree>
    <p:extLst>
      <p:ext uri="{BB962C8B-B14F-4D97-AF65-F5344CB8AC3E}">
        <p14:creationId xmlns:p14="http://schemas.microsoft.com/office/powerpoint/2010/main" val="20183526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F2AB2-A62B-0194-8380-A15C88BB5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B08DE40-5A5A-1085-4034-C9C353678937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70D4838-9513-5931-6E8B-652A83F7A2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4FE4254-57CE-7757-5126-99D1052DCCF2}"/>
              </a:ext>
            </a:extLst>
          </p:cNvPr>
          <p:cNvSpPr/>
          <p:nvPr/>
        </p:nvSpPr>
        <p:spPr>
          <a:xfrm>
            <a:off x="334109" y="68051"/>
            <a:ext cx="666140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700" b="1" dirty="0" err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Многоагентные</a:t>
            </a:r>
            <a:r>
              <a:rPr lang="ru-RU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 системы</a:t>
            </a:r>
            <a:endParaRPr lang="en-US" sz="2700" b="1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4" name="Рисунок 3" descr="Изображение выглядит как текст, снимок экрана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EDE910C-A8D7-9E7F-9899-E96E8A4A0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789" y="1100926"/>
            <a:ext cx="7497221" cy="32008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5D7547-8371-4BE0-AD49-4BE7C974C7AB}"/>
              </a:ext>
            </a:extLst>
          </p:cNvPr>
          <p:cNvSpPr txBox="1"/>
          <p:nvPr/>
        </p:nvSpPr>
        <p:spPr>
          <a:xfrm>
            <a:off x="242501" y="4728002"/>
            <a:ext cx="852853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OpenAI. A practical guide to building agents</a:t>
            </a:r>
          </a:p>
          <a:p>
            <a:r>
              <a:rPr lang="ru-RU" sz="1050" dirty="0"/>
              <a:t>https://cdn.openai.com/business-guides-and-resources/a-practical-guide-to-building-agents.pdf</a:t>
            </a:r>
          </a:p>
        </p:txBody>
      </p:sp>
    </p:spTree>
    <p:extLst>
      <p:ext uri="{BB962C8B-B14F-4D97-AF65-F5344CB8AC3E}">
        <p14:creationId xmlns:p14="http://schemas.microsoft.com/office/powerpoint/2010/main" val="25857616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6484D-FC9B-85A6-3691-EF97904B6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528232C-C156-862C-BD46-E704B74B234B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493728A-1C8E-CA8D-528E-6032DB6D46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07F98A8-B0CD-4C17-09CE-0FE4FC67236F}"/>
              </a:ext>
            </a:extLst>
          </p:cNvPr>
          <p:cNvSpPr/>
          <p:nvPr/>
        </p:nvSpPr>
        <p:spPr>
          <a:xfrm>
            <a:off x="334109" y="68051"/>
            <a:ext cx="666140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Agent2Agent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A92B6D-F678-5B45-52CE-92FD3AF8EEF1}"/>
              </a:ext>
            </a:extLst>
          </p:cNvPr>
          <p:cNvSpPr txBox="1"/>
          <p:nvPr/>
        </p:nvSpPr>
        <p:spPr>
          <a:xfrm>
            <a:off x="70339" y="4850540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dirty="0"/>
              <a:t>https://a2a-protocol.org/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015E055-3D64-9B00-1718-0B72D669D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62" y="1125463"/>
            <a:ext cx="6947022" cy="321756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7421DC1-AAA4-0C14-5E1A-5CB7768FDA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152"/>
          <a:stretch>
            <a:fillRect/>
          </a:stretch>
        </p:blipFill>
        <p:spPr>
          <a:xfrm>
            <a:off x="247213" y="730890"/>
            <a:ext cx="1000265" cy="56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4334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7F356-0B0C-347A-5F86-22673D626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64F333B-8A10-698D-7DED-396516B4DB56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641D5B3-134E-086B-8B17-B24EB7FB21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7AB2F91-11D2-1863-64FB-C9A2AB2F50DA}"/>
              </a:ext>
            </a:extLst>
          </p:cNvPr>
          <p:cNvSpPr/>
          <p:nvPr/>
        </p:nvSpPr>
        <p:spPr>
          <a:xfrm>
            <a:off x="334109" y="68051"/>
            <a:ext cx="666140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Agent2Agent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93BCE1-6F30-E0C8-0A6A-9090CFB9D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299" y="882295"/>
            <a:ext cx="5894801" cy="39809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BC39B4-DCB2-FA12-B800-6B647FE6534D}"/>
              </a:ext>
            </a:extLst>
          </p:cNvPr>
          <p:cNvSpPr txBox="1"/>
          <p:nvPr/>
        </p:nvSpPr>
        <p:spPr>
          <a:xfrm>
            <a:off x="70339" y="4850540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dirty="0"/>
              <a:t>https://a2a-protocol.org/</a:t>
            </a:r>
          </a:p>
        </p:txBody>
      </p:sp>
    </p:spTree>
    <p:extLst>
      <p:ext uri="{BB962C8B-B14F-4D97-AF65-F5344CB8AC3E}">
        <p14:creationId xmlns:p14="http://schemas.microsoft.com/office/powerpoint/2010/main" val="19855103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E858F-EC99-6C39-2DF4-77C2D8C80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69042EC-1691-D638-7796-85893C01B0DC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7F193F5-BF1E-9FF7-E859-9851F65744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A21C189-CDC3-E0E2-F4D6-15D861055625}"/>
              </a:ext>
            </a:extLst>
          </p:cNvPr>
          <p:cNvSpPr/>
          <p:nvPr/>
        </p:nvSpPr>
        <p:spPr>
          <a:xfrm>
            <a:off x="334109" y="68051"/>
            <a:ext cx="666140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Пример сценария </a:t>
            </a:r>
            <a:r>
              <a:rPr lang="en-US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Agent2Agent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6A9245-5C75-992B-513E-E428C03FCE97}"/>
              </a:ext>
            </a:extLst>
          </p:cNvPr>
          <p:cNvSpPr txBox="1"/>
          <p:nvPr/>
        </p:nvSpPr>
        <p:spPr>
          <a:xfrm>
            <a:off x="0" y="4637837"/>
            <a:ext cx="155662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https://blog.logto.io/a2a-mcp</a:t>
            </a:r>
            <a:endParaRPr lang="ru-RU" sz="1050" dirty="0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5F55A18B-BA9C-C2BF-D6F4-6D0D51A4AC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245745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ru-RU" sz="1050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5B3A67C3-7562-3846-3FB9-F5D81B0C3F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ru-RU" sz="105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359E3C0-4AC4-E5A3-E2E2-9FF328884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626" y="665091"/>
            <a:ext cx="6259348" cy="4410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3152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27464-9E7C-D49A-BAD1-A9DFCC109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EBBF5B3-343F-A511-0FED-CBFA24DA3115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5DBA657-134C-74B3-E2E0-286C6D163D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D3A378A-4CB3-3EC1-7DDC-21042F9FB2CF}"/>
              </a:ext>
            </a:extLst>
          </p:cNvPr>
          <p:cNvSpPr/>
          <p:nvPr/>
        </p:nvSpPr>
        <p:spPr>
          <a:xfrm>
            <a:off x="334109" y="68051"/>
            <a:ext cx="666140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Безопасность. </a:t>
            </a:r>
            <a:r>
              <a:rPr lang="en-US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Prompt Injection</a:t>
            </a:r>
          </a:p>
        </p:txBody>
      </p:sp>
      <p:pic>
        <p:nvPicPr>
          <p:cNvPr id="1026" name="Picture 2" descr="Prompt Injection Attack Diagram">
            <a:extLst>
              <a:ext uri="{FF2B5EF4-FFF2-40B4-BE49-F238E27FC236}">
                <a16:creationId xmlns:a16="http://schemas.microsoft.com/office/drawing/2014/main" id="{23A42E84-DF64-E694-13F2-D921B4DED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109" y="678088"/>
            <a:ext cx="8431823" cy="4257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DF7196-D5EE-F7B2-022D-B487AC276348}"/>
              </a:ext>
            </a:extLst>
          </p:cNvPr>
          <p:cNvSpPr txBox="1"/>
          <p:nvPr/>
        </p:nvSpPr>
        <p:spPr>
          <a:xfrm>
            <a:off x="0" y="4878434"/>
            <a:ext cx="65238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dirty="0"/>
              <a:t>https://github.com/microsoft/mcp-for-beginners/blob/main/02-Security/README.md</a:t>
            </a:r>
          </a:p>
        </p:txBody>
      </p:sp>
    </p:spTree>
    <p:extLst>
      <p:ext uri="{BB962C8B-B14F-4D97-AF65-F5344CB8AC3E}">
        <p14:creationId xmlns:p14="http://schemas.microsoft.com/office/powerpoint/2010/main" val="8183995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94AE7-D4D0-8A34-7A04-1C60F8029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DF0EA55-E441-7BB7-8039-19D93D1530A1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0F1FDFC-8826-13F8-044D-926DC2004D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FFADE0C-79F4-8325-89AE-0115D51DC780}"/>
              </a:ext>
            </a:extLst>
          </p:cNvPr>
          <p:cNvSpPr/>
          <p:nvPr/>
        </p:nvSpPr>
        <p:spPr>
          <a:xfrm>
            <a:off x="334109" y="68051"/>
            <a:ext cx="666140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Безопасность. </a:t>
            </a:r>
            <a:r>
              <a:rPr lang="en-US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Tool Poisoning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805A6B-2C26-B92A-C523-4623D999573C}"/>
              </a:ext>
            </a:extLst>
          </p:cNvPr>
          <p:cNvSpPr txBox="1"/>
          <p:nvPr/>
        </p:nvSpPr>
        <p:spPr>
          <a:xfrm>
            <a:off x="0" y="4878434"/>
            <a:ext cx="65238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dirty="0"/>
              <a:t>https://github.com/microsoft/mcp-for-beginners/blob/main/02-Security/README.md</a:t>
            </a:r>
          </a:p>
        </p:txBody>
      </p:sp>
      <p:pic>
        <p:nvPicPr>
          <p:cNvPr id="2050" name="Picture 2" descr="Tool Injection Attack Diagram">
            <a:extLst>
              <a:ext uri="{FF2B5EF4-FFF2-40B4-BE49-F238E27FC236}">
                <a16:creationId xmlns:a16="http://schemas.microsoft.com/office/drawing/2014/main" id="{E8C60200-CC19-2C6F-A02C-31DA0FCABA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12" b="8256"/>
          <a:stretch>
            <a:fillRect/>
          </a:stretch>
        </p:blipFill>
        <p:spPr bwMode="auto">
          <a:xfrm>
            <a:off x="718982" y="806403"/>
            <a:ext cx="7869320" cy="394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90966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1CAFD-224C-ADA3-F59A-CE2B0DCAD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5932B60-8D5A-305C-2CBB-8D9C82BD2E22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72381FF-82CC-FD0E-8577-A0FB82783A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DD10262-2274-B35F-E24C-3C89283C7305}"/>
              </a:ext>
            </a:extLst>
          </p:cNvPr>
          <p:cNvSpPr/>
          <p:nvPr/>
        </p:nvSpPr>
        <p:spPr>
          <a:xfrm>
            <a:off x="334109" y="68051"/>
            <a:ext cx="666140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Session Hijack Impersonation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F847F7-5E93-E0C1-ED18-04CD58180462}"/>
              </a:ext>
            </a:extLst>
          </p:cNvPr>
          <p:cNvSpPr txBox="1"/>
          <p:nvPr/>
        </p:nvSpPr>
        <p:spPr>
          <a:xfrm>
            <a:off x="0" y="4878434"/>
            <a:ext cx="65238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https://modelcontextprotocol.io/specification/2025-06-18/basic/security_best_practices</a:t>
            </a:r>
            <a:endParaRPr lang="ru-RU" sz="105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71DC96A-5F93-13E3-65A9-8FD236CD5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5" y="966613"/>
            <a:ext cx="9002630" cy="330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0953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A1C7D-7C3B-D817-D730-BF559167A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4CDDA3E-C5D8-E782-3F10-DA0901887D35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3F8D084-3DB3-B4D0-192F-A4E5E662D5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6645C5C-B95A-DE91-0CAD-4FEB858CA268}"/>
              </a:ext>
            </a:extLst>
          </p:cNvPr>
          <p:cNvSpPr/>
          <p:nvPr/>
        </p:nvSpPr>
        <p:spPr>
          <a:xfrm>
            <a:off x="334108" y="68051"/>
            <a:ext cx="736795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Структура агента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5" name="Рисунок 4" descr="Изображение выглядит как диаграмма, линия, текст, оригам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927D401-7243-A25B-3998-2E5B3B770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053" y="762280"/>
            <a:ext cx="5825747" cy="40805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F280BB-C4DC-99D3-F28B-E8A312AF2A59}"/>
              </a:ext>
            </a:extLst>
          </p:cNvPr>
          <p:cNvSpPr txBox="1"/>
          <p:nvPr/>
        </p:nvSpPr>
        <p:spPr>
          <a:xfrm>
            <a:off x="242503" y="4635083"/>
            <a:ext cx="852853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OpenAI. A practical guide to building agents</a:t>
            </a:r>
          </a:p>
          <a:p>
            <a:r>
              <a:rPr lang="ru-RU" sz="1050" dirty="0"/>
              <a:t>https://cdn.openai.com/business-guides-and-resources/a-practical-guide-to-building-agents.pdf</a:t>
            </a:r>
          </a:p>
        </p:txBody>
      </p:sp>
    </p:spTree>
    <p:extLst>
      <p:ext uri="{BB962C8B-B14F-4D97-AF65-F5344CB8AC3E}">
        <p14:creationId xmlns:p14="http://schemas.microsoft.com/office/powerpoint/2010/main" val="34026211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F5E79-16BB-BAFE-0A80-06AD6839C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9094C32-9ED1-B409-03ED-FE2E8775E2C1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7320F88-458E-0DCA-4F52-5811E617A2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C7BBC4E-C1FB-01E6-228D-A808539EDD8B}"/>
              </a:ext>
            </a:extLst>
          </p:cNvPr>
          <p:cNvSpPr/>
          <p:nvPr/>
        </p:nvSpPr>
        <p:spPr>
          <a:xfrm>
            <a:off x="334108" y="68051"/>
            <a:ext cx="736795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Guardrails</a:t>
            </a:r>
            <a:endParaRPr lang="ru-RU" sz="27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4" name="Рисунок 3" descr="Изображение выглядит как текст, диаграмма, снимок экрана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BDBF632-A860-A148-7338-223D033DB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185" y="625739"/>
            <a:ext cx="5005630" cy="42285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C26194-B644-F2DE-BEC1-1B538D56B4DB}"/>
              </a:ext>
            </a:extLst>
          </p:cNvPr>
          <p:cNvSpPr txBox="1"/>
          <p:nvPr/>
        </p:nvSpPr>
        <p:spPr>
          <a:xfrm>
            <a:off x="242501" y="4728002"/>
            <a:ext cx="852853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OpenAI. A practical guide to building agents</a:t>
            </a:r>
          </a:p>
          <a:p>
            <a:r>
              <a:rPr lang="ru-RU" sz="1050" dirty="0"/>
              <a:t>https://cdn.openai.com/business-guides-and-resources/a-practical-guide-to-building-agents.pdf</a:t>
            </a:r>
          </a:p>
        </p:txBody>
      </p:sp>
    </p:spTree>
    <p:extLst>
      <p:ext uri="{BB962C8B-B14F-4D97-AF65-F5344CB8AC3E}">
        <p14:creationId xmlns:p14="http://schemas.microsoft.com/office/powerpoint/2010/main" val="38911733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3E2F9-47B4-2764-24B7-A3CB85467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997921C-F9CC-DF4C-EB5B-342DC30A6AFB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1C6AD8E-8F3C-7D5E-B025-D728D7E3F4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ACC4139-0F77-C2E2-BD7E-651D94AA7364}"/>
              </a:ext>
            </a:extLst>
          </p:cNvPr>
          <p:cNvSpPr/>
          <p:nvPr/>
        </p:nvSpPr>
        <p:spPr>
          <a:xfrm>
            <a:off x="334109" y="68051"/>
            <a:ext cx="666140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AI Darwin Awards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FD3CE28-B971-B34E-B5A5-1DFCEF0C6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00" y="678089"/>
            <a:ext cx="8059437" cy="41919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AD7EE4-097F-0F38-0AB6-C4579051D8DA}"/>
              </a:ext>
            </a:extLst>
          </p:cNvPr>
          <p:cNvSpPr txBox="1"/>
          <p:nvPr/>
        </p:nvSpPr>
        <p:spPr>
          <a:xfrm>
            <a:off x="1447" y="4866501"/>
            <a:ext cx="457055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dirty="0"/>
              <a:t>https://aidarwinawards.org/nominees/replit.html</a:t>
            </a:r>
          </a:p>
        </p:txBody>
      </p:sp>
    </p:spTree>
    <p:extLst>
      <p:ext uri="{BB962C8B-B14F-4D97-AF65-F5344CB8AC3E}">
        <p14:creationId xmlns:p14="http://schemas.microsoft.com/office/powerpoint/2010/main" val="34734536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F221F-446E-5823-8C41-E8C01AD44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E57ED9E-04E6-CD43-F76D-BE236E16DEB5}"/>
              </a:ext>
            </a:extLst>
          </p:cNvPr>
          <p:cNvSpPr/>
          <p:nvPr/>
        </p:nvSpPr>
        <p:spPr>
          <a:xfrm flipV="1">
            <a:off x="334108" y="583666"/>
            <a:ext cx="8345330" cy="3428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F1D7203-8F0E-0805-0CFB-6252844BCF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46" y="132149"/>
            <a:ext cx="688292" cy="32622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2A73723-4C45-63E5-9B83-D2BA76E0F6EA}"/>
              </a:ext>
            </a:extLst>
          </p:cNvPr>
          <p:cNvSpPr/>
          <p:nvPr/>
        </p:nvSpPr>
        <p:spPr>
          <a:xfrm>
            <a:off x="334109" y="68051"/>
            <a:ext cx="666140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7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AI Darwin Awards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32DC572-52D9-EBE6-B858-544642B729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115"/>
          <a:stretch>
            <a:fillRect/>
          </a:stretch>
        </p:blipFill>
        <p:spPr>
          <a:xfrm>
            <a:off x="620000" y="678089"/>
            <a:ext cx="8059437" cy="20911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203552-5356-DB1B-CC55-4257FF819476}"/>
              </a:ext>
            </a:extLst>
          </p:cNvPr>
          <p:cNvSpPr txBox="1"/>
          <p:nvPr/>
        </p:nvSpPr>
        <p:spPr>
          <a:xfrm>
            <a:off x="1447" y="4866501"/>
            <a:ext cx="457055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dirty="0"/>
              <a:t>https://aidarwinawards.org/nominees/replit.html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F9C059C-5B64-CBF2-D102-201BF330E4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792" y="2829379"/>
            <a:ext cx="7914039" cy="12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8857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>
          <a:extLst>
            <a:ext uri="{FF2B5EF4-FFF2-40B4-BE49-F238E27FC236}">
              <a16:creationId xmlns:a16="http://schemas.microsoft.com/office/drawing/2014/main" id="{27233B90-0C45-2CA8-8ADA-3B5621005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3">
            <a:extLst>
              <a:ext uri="{FF2B5EF4-FFF2-40B4-BE49-F238E27FC236}">
                <a16:creationId xmlns:a16="http://schemas.microsoft.com/office/drawing/2014/main" id="{122F1EEC-6B30-222F-1896-65EE405AF917}"/>
              </a:ext>
            </a:extLst>
          </p:cNvPr>
          <p:cNvSpPr txBox="1"/>
          <p:nvPr/>
        </p:nvSpPr>
        <p:spPr>
          <a:xfrm>
            <a:off x="540000" y="978350"/>
            <a:ext cx="8272924" cy="3892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Усиливаем возможности БЯМ</a:t>
            </a:r>
          </a:p>
          <a:p>
            <a:pPr marL="914400" lvl="1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Retrieval-Augmented</a:t>
            </a: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Generation / Генерация с дополненной выборкой</a:t>
            </a: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(RAG)</a:t>
            </a:r>
            <a:endParaRPr lang="ru-RU"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ИИ-Агенты</a:t>
            </a:r>
          </a:p>
          <a:p>
            <a:pPr marL="457200" lvl="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Логика действия ИИ-агента</a:t>
            </a:r>
          </a:p>
          <a:p>
            <a:pPr marL="914400" lvl="1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Фреймворк </a:t>
            </a:r>
            <a:r>
              <a:rPr lang="en-US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ReAct</a:t>
            </a:r>
            <a:endParaRPr lang="ru-RU"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Инструменты</a:t>
            </a:r>
          </a:p>
          <a:p>
            <a:pPr marL="914400" lvl="1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API</a:t>
            </a: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MCP, A2A</a:t>
            </a:r>
            <a:endParaRPr lang="ru-RU"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Безопасность</a:t>
            </a:r>
          </a:p>
        </p:txBody>
      </p:sp>
      <p:sp>
        <p:nvSpPr>
          <p:cNvPr id="406" name="Google Shape;406;p43">
            <a:extLst>
              <a:ext uri="{FF2B5EF4-FFF2-40B4-BE49-F238E27FC236}">
                <a16:creationId xmlns:a16="http://schemas.microsoft.com/office/drawing/2014/main" id="{4EFEB2EC-9579-FE77-7F7F-2FA0C54DE474}"/>
              </a:ext>
            </a:extLst>
          </p:cNvPr>
          <p:cNvSpPr txBox="1"/>
          <p:nvPr/>
        </p:nvSpPr>
        <p:spPr>
          <a:xfrm>
            <a:off x="540000" y="360103"/>
            <a:ext cx="7918200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Итоги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1039918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D2A1A23F-B6C2-0B7C-8E6B-67168A146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A3960DD-4674-662C-0CB0-B079418AD5E1}"/>
              </a:ext>
            </a:extLst>
          </p:cNvPr>
          <p:cNvSpPr txBox="1"/>
          <p:nvPr/>
        </p:nvSpPr>
        <p:spPr>
          <a:xfrm>
            <a:off x="1502683" y="2196743"/>
            <a:ext cx="5957455" cy="750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algn="ctr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</a:pPr>
            <a:r>
              <a:rPr lang="ru-RU" sz="4000" b="1" dirty="0">
                <a:latin typeface="Montserrat Medium"/>
                <a:ea typeface="Montserrat Medium"/>
                <a:cs typeface="Montserrat Medium"/>
                <a:sym typeface="Montserrat Medium"/>
              </a:rPr>
              <a:t>Вопросы?</a:t>
            </a:r>
            <a:endParaRPr lang="ru-RU" sz="4400" b="1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54736722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1062</TotalTime>
  <Words>1474</Words>
  <Application>Microsoft Office PowerPoint</Application>
  <PresentationFormat>Экран (16:9)</PresentationFormat>
  <Paragraphs>257</Paragraphs>
  <Slides>55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55</vt:i4>
      </vt:variant>
    </vt:vector>
  </HeadingPairs>
  <TitlesOfParts>
    <vt:vector size="67" baseType="lpstr">
      <vt:lpstr>Gill Sans</vt:lpstr>
      <vt:lpstr>Cambria Math</vt:lpstr>
      <vt:lpstr>Arial</vt:lpstr>
      <vt:lpstr>Montserrat</vt:lpstr>
      <vt:lpstr>Montserrat ExtraBold</vt:lpstr>
      <vt:lpstr>Calibri</vt:lpstr>
      <vt:lpstr>Consolas</vt:lpstr>
      <vt:lpstr>zeitung</vt:lpstr>
      <vt:lpstr>Montserrat Light</vt:lpstr>
      <vt:lpstr>Roboto</vt:lpstr>
      <vt:lpstr>Montserrat Medium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Андрей Созыкин</cp:lastModifiedBy>
  <cp:revision>181</cp:revision>
  <dcterms:modified xsi:type="dcterms:W3CDTF">2025-12-11T14:12:24Z</dcterms:modified>
</cp:coreProperties>
</file>