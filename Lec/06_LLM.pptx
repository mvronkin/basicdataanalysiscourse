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60"/>
  </p:notesMasterIdLst>
  <p:sldIdLst>
    <p:sldId id="257" r:id="rId2"/>
    <p:sldId id="393" r:id="rId3"/>
    <p:sldId id="325" r:id="rId4"/>
    <p:sldId id="400" r:id="rId5"/>
    <p:sldId id="401" r:id="rId6"/>
    <p:sldId id="402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403" r:id="rId16"/>
    <p:sldId id="306" r:id="rId17"/>
    <p:sldId id="307" r:id="rId18"/>
    <p:sldId id="308" r:id="rId19"/>
    <p:sldId id="309" r:id="rId20"/>
    <p:sldId id="312" r:id="rId21"/>
    <p:sldId id="313" r:id="rId22"/>
    <p:sldId id="314" r:id="rId23"/>
    <p:sldId id="315" r:id="rId24"/>
    <p:sldId id="404" r:id="rId25"/>
    <p:sldId id="405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407" r:id="rId52"/>
    <p:sldId id="406" r:id="rId53"/>
    <p:sldId id="408" r:id="rId54"/>
    <p:sldId id="409" r:id="rId55"/>
    <p:sldId id="411" r:id="rId56"/>
    <p:sldId id="410" r:id="rId57"/>
    <p:sldId id="316" r:id="rId58"/>
    <p:sldId id="355" r:id="rId5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Montserrat" panose="00000500000000000000" pitchFamily="2" charset="-52"/>
      <p:regular r:id="rId65"/>
      <p:bold r:id="rId66"/>
      <p:italic r:id="rId67"/>
      <p:boldItalic r:id="rId68"/>
    </p:embeddedFont>
    <p:embeddedFont>
      <p:font typeface="Montserrat ExtraBold" panose="00000900000000000000" pitchFamily="2" charset="-52"/>
      <p:bold r:id="rId69"/>
      <p:boldItalic r:id="rId70"/>
    </p:embeddedFont>
    <p:embeddedFont>
      <p:font typeface="Cambria Math" panose="02040503050406030204" pitchFamily="18" charset="0"/>
      <p:regular r:id="rId71"/>
    </p:embeddedFont>
    <p:embeddedFont>
      <p:font typeface="Montserrat Medium" panose="00000600000000000000" pitchFamily="2" charset="-52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я Шпилёва" initials="" lastIdx="9" clrIdx="0"/>
  <p:cmAuthor id="1" name="Андрей Созыкин" initials="АС" lastIdx="1" clrIdx="1">
    <p:extLst>
      <p:ext uri="{19B8F6BF-5375-455C-9EA6-DF929625EA0E}">
        <p15:presenceInfo xmlns:p15="http://schemas.microsoft.com/office/powerpoint/2012/main" userId="26c361895a5d0c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98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font" Target="fonts/font14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a0296b8e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g25a0296b8e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A4E394F-F59A-895B-8DC6-29715166D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DCC3A86D-CAE6-496F-0946-711881F15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29EB56C-C7BA-D009-34FA-7E1D93A11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8735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a0296b8e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5a0296b8e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CBF407AE-4068-1699-DA00-63FA519D0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a0296b8ef_0_12:notes">
            <a:extLst>
              <a:ext uri="{FF2B5EF4-FFF2-40B4-BE49-F238E27FC236}">
                <a16:creationId xmlns:a16="http://schemas.microsoft.com/office/drawing/2014/main" id="{A0D7C53F-A2B0-30AD-8814-5259044C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5a0296b8ef_0_12:notes">
            <a:extLst>
              <a:ext uri="{FF2B5EF4-FFF2-40B4-BE49-F238E27FC236}">
                <a16:creationId xmlns:a16="http://schemas.microsoft.com/office/drawing/2014/main" id="{8BEB62F2-C8AD-20E3-3C2D-017FEA1A86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4707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D0ED0509-74B1-EF76-F9BA-CD49EFC5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a0296b8ef_0_12:notes">
            <a:extLst>
              <a:ext uri="{FF2B5EF4-FFF2-40B4-BE49-F238E27FC236}">
                <a16:creationId xmlns:a16="http://schemas.microsoft.com/office/drawing/2014/main" id="{C83ACAFC-AB31-D011-9D55-A55875F5E5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5a0296b8ef_0_12:notes">
            <a:extLst>
              <a:ext uri="{FF2B5EF4-FFF2-40B4-BE49-F238E27FC236}">
                <a16:creationId xmlns:a16="http://schemas.microsoft.com/office/drawing/2014/main" id="{5DFC6960-328F-2ABF-16D9-97B6C1FF8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8502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E7882190-72DE-5DCB-ECFE-86D1E156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a0296b8ef_0_12:notes">
            <a:extLst>
              <a:ext uri="{FF2B5EF4-FFF2-40B4-BE49-F238E27FC236}">
                <a16:creationId xmlns:a16="http://schemas.microsoft.com/office/drawing/2014/main" id="{0A09BB13-9316-7E49-A8AC-DE45C6F7B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5a0296b8ef_0_12:notes">
            <a:extLst>
              <a:ext uri="{FF2B5EF4-FFF2-40B4-BE49-F238E27FC236}">
                <a16:creationId xmlns:a16="http://schemas.microsoft.com/office/drawing/2014/main" id="{1B64FED6-DAFE-E2F3-8269-31B2E0865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0007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56c8439d5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9" name="Google Shape;449;g256c8439d5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56c8439d5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" name="Google Shape;458;g256c8439d5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56c8439d5d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7" name="Google Shape;467;g256c8439d5d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56c8439d5d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g256c8439d5d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56c8439d5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g256c8439d5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56c8439d5d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g256c8439d5d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6c8439d5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g256c8439d5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56c8439d5d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0" name="Google Shape;520;g256c8439d5d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>
          <a:extLst>
            <a:ext uri="{FF2B5EF4-FFF2-40B4-BE49-F238E27FC236}">
              <a16:creationId xmlns:a16="http://schemas.microsoft.com/office/drawing/2014/main" id="{ACAAB4DF-7528-8313-B323-30747DDC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56c8439d5d_0_190:notes">
            <a:extLst>
              <a:ext uri="{FF2B5EF4-FFF2-40B4-BE49-F238E27FC236}">
                <a16:creationId xmlns:a16="http://schemas.microsoft.com/office/drawing/2014/main" id="{523D3342-3679-600E-855C-1301143B8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0" name="Google Shape;520;g256c8439d5d_0_190:notes">
            <a:extLst>
              <a:ext uri="{FF2B5EF4-FFF2-40B4-BE49-F238E27FC236}">
                <a16:creationId xmlns:a16="http://schemas.microsoft.com/office/drawing/2014/main" id="{F4EA6BA7-3130-C2D7-D7EB-43A7FA3F4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7563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56c8439d5d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6" name="Google Shape;566;g256c8439d5d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56c8439d5d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4" name="Google Shape;574;g256c8439d5d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56c8439d5d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5" name="Google Shape;585;g256c8439d5d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56c8439d5d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g256c8439d5d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56c8439d5d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7" name="Google Shape;617;g256c8439d5d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56c8439d5d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8" name="Google Shape;628;g256c8439d5d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6c8439d5d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9" name="Google Shape;639;g256c8439d5d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56c8439d5d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7" name="Google Shape;647;g256c8439d5d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>
          <a:extLst>
            <a:ext uri="{FF2B5EF4-FFF2-40B4-BE49-F238E27FC236}">
              <a16:creationId xmlns:a16="http://schemas.microsoft.com/office/drawing/2014/main" id="{4122A5F1-7A21-00BC-A61E-4AD288E9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56c8439d5d_0_356:notes">
            <a:extLst>
              <a:ext uri="{FF2B5EF4-FFF2-40B4-BE49-F238E27FC236}">
                <a16:creationId xmlns:a16="http://schemas.microsoft.com/office/drawing/2014/main" id="{0248CEE1-750C-5606-4136-DF730AFEA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8" name="Google Shape;658;g256c8439d5d_0_356:notes">
            <a:extLst>
              <a:ext uri="{FF2B5EF4-FFF2-40B4-BE49-F238E27FC236}">
                <a16:creationId xmlns:a16="http://schemas.microsoft.com/office/drawing/2014/main" id="{2295B294-989B-8CD9-6608-ED64DBE853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4281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>
          <a:extLst>
            <a:ext uri="{FF2B5EF4-FFF2-40B4-BE49-F238E27FC236}">
              <a16:creationId xmlns:a16="http://schemas.microsoft.com/office/drawing/2014/main" id="{CFE15872-EE12-64D8-39DF-883A5452F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56c8439d5d_0_356:notes">
            <a:extLst>
              <a:ext uri="{FF2B5EF4-FFF2-40B4-BE49-F238E27FC236}">
                <a16:creationId xmlns:a16="http://schemas.microsoft.com/office/drawing/2014/main" id="{6CCDD47F-303F-E709-46A2-951F0B8E76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8" name="Google Shape;658;g256c8439d5d_0_356:notes">
            <a:extLst>
              <a:ext uri="{FF2B5EF4-FFF2-40B4-BE49-F238E27FC236}">
                <a16:creationId xmlns:a16="http://schemas.microsoft.com/office/drawing/2014/main" id="{3F38CE6F-D602-AEBD-7784-4577FE354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90611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42347e35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742347e35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53770f6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2753770f6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53770f6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2753770f6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53770f63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2753770f63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53770f63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2753770f63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53770f63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2753770f63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53770f63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2753770f63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53770f63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2753770f63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53770f632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2753770f63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53770f632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2753770f63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53770f63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2753770f63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53770f632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2753770f632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53770f632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2753770f632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753770f632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g2753770f632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753770f632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2753770f632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53770f632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g2753770f632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753770f632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2753770f632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53770f632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g2753770f632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753770f632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g2753770f632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753770f632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g2753770f632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753770f632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g2753770f632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753770f632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g2753770f632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753770f63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5" name="Google Shape;385;g2753770f63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753770f632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2753770f632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07450AB4-32AD-236A-9500-A65A3D181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1192A5F6-8241-0B10-A2B1-46A8DFB0B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7F665B21-D1C3-BBA4-5FF9-1402E689A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8754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82E6A4A3-767D-5AB3-9743-B83115A7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45BBA4AA-4931-C9D1-C122-18AD10CE0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6B1DEB65-6163-405B-DFDD-9B6DDB509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387513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B56D7246-A52E-F352-0E84-E2456EFE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248FABD6-93AE-6422-F642-0D507D6F9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085E587A-538A-10E6-FD48-0423D6C93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99813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3D29B861-09F6-C6A3-746C-46924BC7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7072CBEF-DAC6-0A06-3AD2-0E8987169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FF3341DD-E0C9-96B4-0454-F26DA3713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48159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7E775BC9-B9DE-58C2-ACCE-2BF32628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878D9FF7-37F0-5D86-23B9-8211804BF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DC311D75-FEC6-9ECA-3D24-773D3EA0C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88518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D01E84B8-B284-7EE2-9960-ECF924D1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53770f632_0_366:notes">
            <a:extLst>
              <a:ext uri="{FF2B5EF4-FFF2-40B4-BE49-F238E27FC236}">
                <a16:creationId xmlns:a16="http://schemas.microsoft.com/office/drawing/2014/main" id="{B27A116E-04B5-7603-9FCD-2068D7C13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753770f632_0_366:notes">
            <a:extLst>
              <a:ext uri="{FF2B5EF4-FFF2-40B4-BE49-F238E27FC236}">
                <a16:creationId xmlns:a16="http://schemas.microsoft.com/office/drawing/2014/main" id="{DB03BECF-9F10-60DB-DE64-90BCA7542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95886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56c8439d5d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8" name="Google Shape;658;g256c8439d5d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EA70515-95E6-1CE8-A1F9-C5CA92C2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3F4B033-FAAF-CDAD-9654-7C764C118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3CFA6E8-994E-54E4-4C74-42E01D4C4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321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9BA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 amt="6000"/>
          </a:blip>
          <a:srcRect b="15604"/>
          <a:stretch/>
        </p:blipFill>
        <p:spPr>
          <a:xfrm>
            <a:off x="0" y="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540000" y="1341650"/>
            <a:ext cx="6032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Анализ данных и искусственный интеллект</a:t>
            </a:r>
            <a:endParaRPr sz="1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40000" y="2080538"/>
            <a:ext cx="8222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Большие языковые модели</a:t>
            </a:r>
            <a:endParaRPr sz="400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FE60B54-ECBB-923E-8211-89778B09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3ED1E0FA-68FC-9DF4-240E-99FF47514AB1}"/>
              </a:ext>
            </a:extLst>
          </p:cNvPr>
          <p:cNvSpPr txBox="1"/>
          <p:nvPr/>
        </p:nvSpPr>
        <p:spPr>
          <a:xfrm>
            <a:off x="610944" y="1658166"/>
            <a:ext cx="7587125" cy="182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32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Что такое большие языковые модели (</a:t>
            </a:r>
            <a:r>
              <a:rPr lang="en-US" sz="32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large language models, LLM</a:t>
            </a:r>
            <a:r>
              <a:rPr lang="ru-RU" sz="3200" b="1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)?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C4EA372-FB5F-8CE9-C255-A8AF6E4CE4B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Большие языковые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256151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Google Shape;320;p39"/>
              <p:cNvSpPr txBox="1"/>
              <p:nvPr/>
            </p:nvSpPr>
            <p:spPr>
              <a:xfrm>
                <a:off x="540000" y="720253"/>
                <a:ext cx="8217139" cy="4042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189" indent="-342892">
                  <a:lnSpc>
                    <a:spcPct val="115000"/>
                  </a:lnSpc>
                  <a:spcBef>
                    <a:spcPts val="9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"/>
                    <a:ea typeface="Montserrat"/>
                    <a:cs typeface="Montserrat"/>
                    <a:sym typeface="Montserrat"/>
                  </a:rPr>
                  <a:t>Языковая модель – это распределение вероятностей по последовательностям слов  </a:t>
                </a:r>
                <a:endParaRPr lang="ru-RU" sz="18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914378" lvl="1" indent="-342892">
                  <a:lnSpc>
                    <a:spcPct val="115000"/>
                  </a:lnSpc>
                  <a:spcBef>
                    <a:spcPts val="450"/>
                  </a:spcBef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"/>
                    <a:sym typeface="Montserrat Medium"/>
                  </a:rPr>
                  <a:t>Для любой последовательности слов длины </a:t>
                </a:r>
                <a:r>
                  <a:rPr lang="ru-RU" sz="1800" i="1" dirty="0">
                    <a:latin typeface="Montserrat"/>
                    <a:sym typeface="Montserrat Medium"/>
                  </a:rPr>
                  <a:t>m</a:t>
                </a:r>
                <a:r>
                  <a:rPr lang="ru-RU" sz="1800" dirty="0">
                    <a:latin typeface="Montserrat"/>
                    <a:sym typeface="Montserrat Medium"/>
                  </a:rPr>
                  <a:t> языковая модель присваивает вероятность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𝑃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Montserrat Medium"/>
                          </a:rPr>
                          <m:t>𝑚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sym typeface="Montserrat Medium"/>
                      </a:rPr>
                      <m:t>)</m:t>
                    </m:r>
                  </m:oMath>
                </a14:m>
                <a:r>
                  <a:rPr lang="ru-RU" sz="1800" dirty="0">
                    <a:latin typeface="Montserrat"/>
                    <a:sym typeface="Montserrat Medium"/>
                  </a:rPr>
                  <a:t> всей последовательности.</a:t>
                </a:r>
              </a:p>
              <a:p>
                <a:pPr marL="457189" indent="-342892">
                  <a:lnSpc>
                    <a:spcPct val="115000"/>
                  </a:lnSpc>
                  <a:spcBef>
                    <a:spcPts val="9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"/>
                    <a:ea typeface="Montserrat"/>
                    <a:cs typeface="Montserrat"/>
                    <a:sym typeface="Montserrat"/>
                  </a:rPr>
                  <a:t>Задачи, которые решает языковая модель:   </a:t>
                </a:r>
                <a:endParaRPr lang="ru-RU" sz="18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914378" lvl="1" indent="-342892">
                  <a:lnSpc>
                    <a:spcPct val="115000"/>
                  </a:lnSpc>
                  <a:spcBef>
                    <a:spcPts val="450"/>
                  </a:spcBef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"/>
                    <a:sym typeface="Montserrat Medium"/>
                  </a:rPr>
                  <a:t>Продолжение последовательности слов: </a:t>
                </a:r>
                <a:r>
                  <a:rPr lang="ru-RU" sz="1800" i="1" dirty="0">
                    <a:latin typeface="Montserrat"/>
                    <a:sym typeface="Montserrat Medium"/>
                  </a:rPr>
                  <a:t>Кошка села на …</a:t>
                </a:r>
              </a:p>
              <a:p>
                <a:pPr marL="914378" lvl="1" indent="-342892">
                  <a:lnSpc>
                    <a:spcPct val="115000"/>
                  </a:lnSpc>
                  <a:spcBef>
                    <a:spcPts val="450"/>
                  </a:spcBef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"/>
                    <a:sym typeface="Montserrat Medium"/>
                  </a:rPr>
                  <a:t>Заполнение маски (отсутствующего слова) в последовательности слов: </a:t>
                </a:r>
                <a:r>
                  <a:rPr lang="ru-RU" sz="1800" i="1" dirty="0">
                    <a:latin typeface="Montserrat"/>
                    <a:sym typeface="Montserrat Medium"/>
                  </a:rPr>
                  <a:t>Одеяло [</a:t>
                </a:r>
                <a:r>
                  <a:rPr lang="en-US" sz="1800" i="1" dirty="0">
                    <a:latin typeface="Montserrat"/>
                    <a:sym typeface="Montserrat Medium"/>
                  </a:rPr>
                  <a:t>MASK], </a:t>
                </a:r>
                <a:r>
                  <a:rPr lang="ru-RU" sz="1800" i="1" dirty="0">
                    <a:latin typeface="Montserrat"/>
                    <a:sym typeface="Montserrat Medium"/>
                  </a:rPr>
                  <a:t>простыня улетела.</a:t>
                </a:r>
              </a:p>
              <a:p>
                <a:pPr marL="457189" indent="-342892">
                  <a:lnSpc>
                    <a:spcPct val="115000"/>
                  </a:lnSpc>
                  <a:spcBef>
                    <a:spcPts val="9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endParaRPr sz="1800" dirty="0">
                  <a:latin typeface="Montserrat"/>
                  <a:sym typeface="Montserrat Medium"/>
                </a:endParaRPr>
              </a:p>
            </p:txBody>
          </p:sp>
        </mc:Choice>
        <mc:Fallback xmlns="">
          <p:sp>
            <p:nvSpPr>
              <p:cNvPr id="320" name="Google Shape;320;p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720253"/>
                <a:ext cx="8217139" cy="4042645"/>
              </a:xfrm>
              <a:prstGeom prst="rect">
                <a:avLst/>
              </a:prstGeom>
              <a:blipFill>
                <a:blip r:embed="rId3"/>
                <a:stretch>
                  <a:fillRect l="-2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9"/>
          <p:cNvSpPr txBox="1"/>
          <p:nvPr/>
        </p:nvSpPr>
        <p:spPr>
          <a:xfrm>
            <a:off x="540000" y="360154"/>
            <a:ext cx="821713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2600"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Языковая модель</a:t>
            </a:r>
            <a:endParaRPr sz="26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E1A20F28-73D0-E958-F40C-E3D310AC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>
            <a:extLst>
              <a:ext uri="{FF2B5EF4-FFF2-40B4-BE49-F238E27FC236}">
                <a16:creationId xmlns:a16="http://schemas.microsoft.com/office/drawing/2014/main" id="{B6990CB4-82ED-E456-F5F5-705EF276DFF5}"/>
              </a:ext>
            </a:extLst>
          </p:cNvPr>
          <p:cNvSpPr txBox="1"/>
          <p:nvPr/>
        </p:nvSpPr>
        <p:spPr>
          <a:xfrm>
            <a:off x="540000" y="720253"/>
            <a:ext cx="8217139" cy="321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Корпус текстов  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Все произведения Пушкина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Все тексты википедии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Заголовки и аннотации статей в газетах</a:t>
            </a:r>
          </a:p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Типы языковых моделей   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Статистическая языковая модель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Нейронная языковая модель</a:t>
            </a:r>
          </a:p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sz="1800" dirty="0">
              <a:latin typeface="Montserrat"/>
              <a:sym typeface="Montserrat Medium"/>
            </a:endParaRPr>
          </a:p>
        </p:txBody>
      </p:sp>
      <p:sp>
        <p:nvSpPr>
          <p:cNvPr id="322" name="Google Shape;322;p39">
            <a:extLst>
              <a:ext uri="{FF2B5EF4-FFF2-40B4-BE49-F238E27FC236}">
                <a16:creationId xmlns:a16="http://schemas.microsoft.com/office/drawing/2014/main" id="{66B0AC71-F126-43C2-610A-0C0AA29263A7}"/>
              </a:ext>
            </a:extLst>
          </p:cNvPr>
          <p:cNvSpPr txBox="1"/>
          <p:nvPr/>
        </p:nvSpPr>
        <p:spPr>
          <a:xfrm>
            <a:off x="540000" y="360154"/>
            <a:ext cx="821713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2600"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Как обучаются языковые модели</a:t>
            </a:r>
            <a:endParaRPr sz="26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7364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056457A-994F-AADF-DF96-7259643D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>
            <a:extLst>
              <a:ext uri="{FF2B5EF4-FFF2-40B4-BE49-F238E27FC236}">
                <a16:creationId xmlns:a16="http://schemas.microsoft.com/office/drawing/2014/main" id="{F06E4D26-E16B-CD88-CCF4-A7D01FF0EE7D}"/>
              </a:ext>
            </a:extLst>
          </p:cNvPr>
          <p:cNvSpPr txBox="1"/>
          <p:nvPr/>
        </p:nvSpPr>
        <p:spPr>
          <a:xfrm>
            <a:off x="540000" y="720253"/>
            <a:ext cx="8217139" cy="316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Люди говорят и пишут шаблонными текстами  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Поэт …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Фрукт …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Цветок …</a:t>
            </a:r>
          </a:p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Вероятности для фразы </a:t>
            </a:r>
            <a:r>
              <a:rPr lang="ru-RU" sz="1800" i="1" dirty="0">
                <a:latin typeface="Montserrat"/>
                <a:ea typeface="Montserrat"/>
                <a:cs typeface="Montserrat"/>
                <a:sym typeface="Montserrat"/>
              </a:rPr>
              <a:t>Одеяло [</a:t>
            </a:r>
            <a:r>
              <a:rPr lang="en-US" sz="1800" i="1" dirty="0">
                <a:latin typeface="Montserrat"/>
                <a:ea typeface="Montserrat"/>
                <a:cs typeface="Montserrat"/>
                <a:sym typeface="Montserrat"/>
              </a:rPr>
              <a:t>MASK], </a:t>
            </a:r>
            <a:r>
              <a:rPr lang="ru-RU" sz="1800" i="1" dirty="0">
                <a:latin typeface="Montserrat"/>
                <a:ea typeface="Montserrat"/>
                <a:cs typeface="Montserrat"/>
                <a:sym typeface="Montserrat"/>
              </a:rPr>
              <a:t>простыня улетела.    </a:t>
            </a:r>
            <a:endParaRPr lang="ru-RU" sz="1800" i="1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убежало, </a:t>
            </a:r>
            <a:r>
              <a:rPr lang="en-US" sz="1800" dirty="0">
                <a:latin typeface="Montserrat"/>
                <a:sym typeface="Montserrat Medium"/>
              </a:rPr>
              <a:t>~</a:t>
            </a:r>
            <a:r>
              <a:rPr lang="ru-RU" sz="1800" dirty="0">
                <a:latin typeface="Montserrat"/>
                <a:sym typeface="Montserrat Medium"/>
              </a:rPr>
              <a:t>0.98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сбежало, </a:t>
            </a:r>
            <a:r>
              <a:rPr lang="en-US" sz="1800" dirty="0">
                <a:latin typeface="Montserrat"/>
                <a:sym typeface="Montserrat Medium"/>
              </a:rPr>
              <a:t>~</a:t>
            </a:r>
            <a:r>
              <a:rPr lang="ru-RU" sz="1800" dirty="0">
                <a:latin typeface="Montserrat"/>
                <a:sym typeface="Montserrat Medium"/>
              </a:rPr>
              <a:t>0.015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исчезло, </a:t>
            </a:r>
            <a:r>
              <a:rPr lang="en-US" sz="1800" dirty="0">
                <a:latin typeface="Montserrat"/>
                <a:sym typeface="Montserrat Medium"/>
              </a:rPr>
              <a:t>~</a:t>
            </a:r>
            <a:r>
              <a:rPr lang="ru-RU" sz="1800" dirty="0">
                <a:latin typeface="Montserrat"/>
                <a:sym typeface="Montserrat Medium"/>
              </a:rPr>
              <a:t>0.</a:t>
            </a:r>
            <a:r>
              <a:rPr lang="en-US" sz="1800" dirty="0">
                <a:latin typeface="Montserrat"/>
                <a:sym typeface="Montserrat Medium"/>
              </a:rPr>
              <a:t>005</a:t>
            </a:r>
            <a:r>
              <a:rPr lang="ru-RU" sz="1800" dirty="0">
                <a:latin typeface="Montserrat"/>
                <a:sym typeface="Montserrat Medium"/>
              </a:rPr>
              <a:t> </a:t>
            </a:r>
            <a:endParaRPr sz="1800" dirty="0">
              <a:latin typeface="Montserrat"/>
              <a:sym typeface="Montserrat Medium"/>
            </a:endParaRPr>
          </a:p>
        </p:txBody>
      </p:sp>
      <p:sp>
        <p:nvSpPr>
          <p:cNvPr id="322" name="Google Shape;322;p39">
            <a:extLst>
              <a:ext uri="{FF2B5EF4-FFF2-40B4-BE49-F238E27FC236}">
                <a16:creationId xmlns:a16="http://schemas.microsoft.com/office/drawing/2014/main" id="{CF9D7BBA-E071-A3DB-724D-C17EBD9EB9D7}"/>
              </a:ext>
            </a:extLst>
          </p:cNvPr>
          <p:cNvSpPr txBox="1"/>
          <p:nvPr/>
        </p:nvSpPr>
        <p:spPr>
          <a:xfrm>
            <a:off x="540000" y="360154"/>
            <a:ext cx="821713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2600"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Статистические языковые модели</a:t>
            </a:r>
            <a:endParaRPr sz="26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49261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F101E5F5-39BA-2D11-82DD-5DDBAFB1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>
            <a:extLst>
              <a:ext uri="{FF2B5EF4-FFF2-40B4-BE49-F238E27FC236}">
                <a16:creationId xmlns:a16="http://schemas.microsoft.com/office/drawing/2014/main" id="{AC542FFE-51EB-A320-E23D-528ED04E9814}"/>
              </a:ext>
            </a:extLst>
          </p:cNvPr>
          <p:cNvSpPr txBox="1"/>
          <p:nvPr/>
        </p:nvSpPr>
        <p:spPr>
          <a:xfrm>
            <a:off x="540000" y="720253"/>
            <a:ext cx="8217139" cy="308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latin typeface="Montserrat"/>
                <a:ea typeface="Montserrat"/>
                <a:cs typeface="Montserrat"/>
                <a:sym typeface="Montserrat"/>
              </a:rPr>
              <a:t>n-</a:t>
            </a: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граммы – последовательность из </a:t>
            </a:r>
            <a:r>
              <a:rPr lang="en-US" sz="1800" dirty="0"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слов.  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Биграммы (</a:t>
            </a:r>
            <a:r>
              <a:rPr lang="en-US" sz="1800" i="1" dirty="0">
                <a:latin typeface="Montserrat"/>
                <a:ea typeface="Montserrat"/>
                <a:cs typeface="Montserrat"/>
                <a:sym typeface="Montserrat"/>
              </a:rPr>
              <a:t>n = </a:t>
            </a:r>
            <a:r>
              <a:rPr lang="ru-RU" sz="1800" i="1" dirty="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) – последовательности из двух слов</a:t>
            </a:r>
            <a:r>
              <a:rPr lang="ru-RU" sz="1800" i="1" dirty="0"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Кошка села на окошко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(кошка, села), (села, на), (на, окошко)</a:t>
            </a:r>
          </a:p>
          <a:p>
            <a:pPr marL="457189" indent="-342892">
              <a:lnSpc>
                <a:spcPct val="115000"/>
              </a:lnSpc>
              <a:spcBef>
                <a:spcPts val="9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Статистическая </a:t>
            </a:r>
            <a:r>
              <a:rPr lang="en-US" sz="1800" dirty="0">
                <a:latin typeface="Montserrat"/>
                <a:ea typeface="Montserrat"/>
                <a:cs typeface="Montserrat"/>
                <a:sym typeface="Montserrat"/>
              </a:rPr>
              <a:t>n-</a:t>
            </a:r>
            <a:r>
              <a:rPr lang="ru-RU" sz="1800" dirty="0" err="1">
                <a:latin typeface="Montserrat"/>
                <a:ea typeface="Montserrat"/>
                <a:cs typeface="Montserrat"/>
                <a:sym typeface="Montserrat"/>
              </a:rPr>
              <a:t>граммная</a:t>
            </a:r>
            <a:r>
              <a:rPr lang="ru-RU" sz="1800" dirty="0">
                <a:latin typeface="Montserrat"/>
                <a:ea typeface="Montserrat"/>
                <a:cs typeface="Montserrat"/>
                <a:sym typeface="Montserrat"/>
              </a:rPr>
              <a:t> модель</a:t>
            </a:r>
            <a:r>
              <a:rPr lang="ru-RU" sz="1800" i="1" dirty="0">
                <a:latin typeface="Montserrat"/>
                <a:ea typeface="Montserrat"/>
                <a:cs typeface="Montserrat"/>
                <a:sym typeface="Montserrat"/>
              </a:rPr>
              <a:t>    </a:t>
            </a:r>
          </a:p>
          <a:p>
            <a:pPr marL="914378" lvl="1" indent="-342892">
              <a:lnSpc>
                <a:spcPct val="115000"/>
              </a:lnSpc>
              <a:spcBef>
                <a:spcPts val="45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"/>
                <a:sym typeface="Montserrat Medium"/>
              </a:rPr>
              <a:t>Вероятность встретить последовательность слов приближенно равна произведению вероятности встретить входящие в последовательность </a:t>
            </a:r>
            <a:r>
              <a:rPr lang="en-US" sz="1800" dirty="0">
                <a:latin typeface="Montserrat"/>
                <a:sym typeface="Montserrat Medium"/>
              </a:rPr>
              <a:t>n-</a:t>
            </a:r>
            <a:r>
              <a:rPr lang="ru-RU" sz="1800" dirty="0">
                <a:latin typeface="Montserrat"/>
                <a:sym typeface="Montserrat Medium"/>
              </a:rPr>
              <a:t>граммы</a:t>
            </a:r>
          </a:p>
        </p:txBody>
      </p:sp>
      <p:sp>
        <p:nvSpPr>
          <p:cNvPr id="322" name="Google Shape;322;p39">
            <a:extLst>
              <a:ext uri="{FF2B5EF4-FFF2-40B4-BE49-F238E27FC236}">
                <a16:creationId xmlns:a16="http://schemas.microsoft.com/office/drawing/2014/main" id="{5C5A64EE-C02F-AB13-68F6-A8C5935A0AB6}"/>
              </a:ext>
            </a:extLst>
          </p:cNvPr>
          <p:cNvSpPr txBox="1"/>
          <p:nvPr/>
        </p:nvSpPr>
        <p:spPr>
          <a:xfrm>
            <a:off x="540000" y="360154"/>
            <a:ext cx="821713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2600"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Статистические языковые модели</a:t>
            </a:r>
            <a:endParaRPr sz="26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6900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4"/>
          <p:cNvSpPr txBox="1"/>
          <p:nvPr/>
        </p:nvSpPr>
        <p:spPr>
          <a:xfrm>
            <a:off x="1886410" y="4794119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 dirty="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54" name="Google Shape;454;p54"/>
          <p:cNvPicPr preferRelativeResize="0"/>
          <p:nvPr/>
        </p:nvPicPr>
        <p:blipFill rotWithShape="1">
          <a:blip r:embed="rId3">
            <a:alphaModFix/>
          </a:blip>
          <a:srcRect t="18573"/>
          <a:stretch/>
        </p:blipFill>
        <p:spPr>
          <a:xfrm>
            <a:off x="1606723" y="1136000"/>
            <a:ext cx="5393577" cy="304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4"/>
          <p:cNvSpPr txBox="1"/>
          <p:nvPr/>
        </p:nvSpPr>
        <p:spPr>
          <a:xfrm>
            <a:off x="540000" y="280081"/>
            <a:ext cx="77353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МОДЕЛЬ НЕЙРОНА МОЗГА ЧЕЛОВЕКА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357" y="1203509"/>
            <a:ext cx="5300725" cy="2736482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5"/>
          <p:cNvSpPr txBox="1"/>
          <p:nvPr/>
        </p:nvSpPr>
        <p:spPr>
          <a:xfrm>
            <a:off x="540000" y="4316328"/>
            <a:ext cx="765912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Уоррен Мак-Каллок, Уолтер Питтс. Логическое исчисление идей, относящихся к нервной активности. 1943.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4" name="Google Shape;464;p55"/>
          <p:cNvSpPr txBox="1"/>
          <p:nvPr/>
        </p:nvSpPr>
        <p:spPr>
          <a:xfrm>
            <a:off x="540000" y="360000"/>
            <a:ext cx="793344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МОДЕЛЬ ИСКУССТВЕННОГО НЕЙРОНА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455" y="1672050"/>
            <a:ext cx="3611449" cy="179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6"/>
          <p:cNvSpPr txBox="1"/>
          <p:nvPr/>
        </p:nvSpPr>
        <p:spPr>
          <a:xfrm>
            <a:off x="540000" y="360000"/>
            <a:ext cx="79563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МОДЕЛЬ ИСКУССТВЕННОГО НЕЙРОНА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73" name="Google Shape;473;p56"/>
          <p:cNvSpPr txBox="1"/>
          <p:nvPr/>
        </p:nvSpPr>
        <p:spPr>
          <a:xfrm>
            <a:off x="540000" y="4316328"/>
            <a:ext cx="767436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Уоррен Мак-Каллок, Уолтер Питтс. Логическое исчисление идей, относящихся к нервной активности. 1943.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00" y="1024264"/>
            <a:ext cx="4679475" cy="18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7"/>
          <p:cNvSpPr txBox="1"/>
          <p:nvPr/>
        </p:nvSpPr>
        <p:spPr>
          <a:xfrm>
            <a:off x="1851598" y="4954761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 dirty="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2" name="Google Shape;482;p57"/>
          <p:cNvSpPr txBox="1"/>
          <p:nvPr/>
        </p:nvSpPr>
        <p:spPr>
          <a:xfrm>
            <a:off x="540000" y="360000"/>
            <a:ext cx="816204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ФУНКЦИИ АКТИВАЦИИ: ХЕВИСАЙДА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83" name="Google Shape;48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6052" y="2925625"/>
            <a:ext cx="3621572" cy="1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8"/>
          <p:cNvSpPr txBox="1"/>
          <p:nvPr/>
        </p:nvSpPr>
        <p:spPr>
          <a:xfrm>
            <a:off x="1775398" y="4767125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1" name="Google Shape;49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185" y="1326775"/>
            <a:ext cx="3303074" cy="12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947" y="2571750"/>
            <a:ext cx="3201549" cy="213354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8"/>
          <p:cNvSpPr txBox="1"/>
          <p:nvPr/>
        </p:nvSpPr>
        <p:spPr>
          <a:xfrm>
            <a:off x="540000" y="360304"/>
            <a:ext cx="816966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ФУНКЦИИ АКТИВАЦИИ: СИГМОИДА (ЛОГИСТИЧЕСКАЯ)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9"/>
          <p:cNvSpPr txBox="1"/>
          <p:nvPr/>
        </p:nvSpPr>
        <p:spPr>
          <a:xfrm>
            <a:off x="1828738" y="4807400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01" name="Google Shape;50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663" y="1080300"/>
            <a:ext cx="5002174" cy="167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714" y="2850700"/>
            <a:ext cx="3534072" cy="17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9"/>
          <p:cNvSpPr txBox="1"/>
          <p:nvPr/>
        </p:nvSpPr>
        <p:spPr>
          <a:xfrm>
            <a:off x="540000" y="360000"/>
            <a:ext cx="825348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ФУНКЦИИ АКТИВАЦИИ: ПОЛУЛИНЕЙНАЯ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725" y="897120"/>
            <a:ext cx="3096003" cy="323022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0"/>
          <p:cNvSpPr txBox="1"/>
          <p:nvPr/>
        </p:nvSpPr>
        <p:spPr>
          <a:xfrm>
            <a:off x="1951050" y="4127345"/>
            <a:ext cx="135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Входной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2" name="Google Shape;512;p60"/>
          <p:cNvSpPr txBox="1"/>
          <p:nvPr/>
        </p:nvSpPr>
        <p:spPr>
          <a:xfrm>
            <a:off x="3181900" y="4127345"/>
            <a:ext cx="2003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Скрытый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3" name="Google Shape;513;p60"/>
          <p:cNvSpPr txBox="1"/>
          <p:nvPr/>
        </p:nvSpPr>
        <p:spPr>
          <a:xfrm>
            <a:off x="5081549" y="4085912"/>
            <a:ext cx="1626199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Выходной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4" name="Google Shape;514;p60"/>
          <p:cNvSpPr txBox="1"/>
          <p:nvPr/>
        </p:nvSpPr>
        <p:spPr>
          <a:xfrm>
            <a:off x="540000" y="360000"/>
            <a:ext cx="81468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ИСКУССТВЕННАЯ НЕЙРОННАЯ СЕТЬ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515" name="Google Shape;515;p60"/>
          <p:cNvCxnSpPr>
            <a:stCxn id="511" idx="0"/>
          </p:cNvCxnSpPr>
          <p:nvPr/>
        </p:nvCxnSpPr>
        <p:spPr>
          <a:xfrm rot="-5400000">
            <a:off x="2546700" y="3642995"/>
            <a:ext cx="563700" cy="405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22B14C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60"/>
          <p:cNvCxnSpPr>
            <a:cxnSpLocks/>
            <a:stCxn id="513" idx="0"/>
          </p:cNvCxnSpPr>
          <p:nvPr/>
        </p:nvCxnSpPr>
        <p:spPr>
          <a:xfrm rot="16200000" flipV="1">
            <a:off x="5032041" y="3223304"/>
            <a:ext cx="1076068" cy="64914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3F48CC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17" name="Google Shape;517;p60"/>
          <p:cNvCxnSpPr/>
          <p:nvPr/>
        </p:nvCxnSpPr>
        <p:spPr>
          <a:xfrm>
            <a:off x="4118075" y="4066820"/>
            <a:ext cx="0" cy="170700"/>
          </a:xfrm>
          <a:prstGeom prst="straightConnector1">
            <a:avLst/>
          </a:prstGeom>
          <a:noFill/>
          <a:ln w="9525" cap="flat" cmpd="sng">
            <a:solidFill>
              <a:srgbClr val="ED1C24"/>
            </a:solidFill>
            <a:prstDash val="dash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1"/>
          <p:cNvSpPr txBox="1"/>
          <p:nvPr/>
        </p:nvSpPr>
        <p:spPr>
          <a:xfrm>
            <a:off x="2087985" y="4255500"/>
            <a:ext cx="135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Входной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5" name="Google Shape;525;p61"/>
          <p:cNvSpPr txBox="1"/>
          <p:nvPr/>
        </p:nvSpPr>
        <p:spPr>
          <a:xfrm>
            <a:off x="3355310" y="4255500"/>
            <a:ext cx="25062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Скрытые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6" name="Google Shape;526;p61"/>
          <p:cNvSpPr txBox="1"/>
          <p:nvPr/>
        </p:nvSpPr>
        <p:spPr>
          <a:xfrm>
            <a:off x="5632510" y="4255500"/>
            <a:ext cx="2003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Выходной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27" name="Google Shape;527;p61"/>
          <p:cNvPicPr preferRelativeResize="0"/>
          <p:nvPr/>
        </p:nvPicPr>
        <p:blipFill rotWithShape="1">
          <a:blip r:embed="rId3">
            <a:alphaModFix/>
          </a:blip>
          <a:srcRect t="3729" b="11889"/>
          <a:stretch/>
        </p:blipFill>
        <p:spPr>
          <a:xfrm>
            <a:off x="2201960" y="1080300"/>
            <a:ext cx="4913000" cy="31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1"/>
          <p:cNvSpPr txBox="1"/>
          <p:nvPr/>
        </p:nvSpPr>
        <p:spPr>
          <a:xfrm>
            <a:off x="540000" y="360000"/>
            <a:ext cx="832206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ГЛУБОКАЯ ИСКУССТВЕННАЯ НЕЙРОННАЯ СЕТЬ 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529" name="Google Shape;529;p61"/>
          <p:cNvCxnSpPr/>
          <p:nvPr/>
        </p:nvCxnSpPr>
        <p:spPr>
          <a:xfrm rot="-5400000">
            <a:off x="2496010" y="3819075"/>
            <a:ext cx="5232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22B14C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30" name="Google Shape;530;p61"/>
          <p:cNvCxnSpPr/>
          <p:nvPr/>
        </p:nvCxnSpPr>
        <p:spPr>
          <a:xfrm rot="-5400000">
            <a:off x="6031660" y="3537925"/>
            <a:ext cx="12060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3F48CC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31" name="Google Shape;531;p61"/>
          <p:cNvSpPr/>
          <p:nvPr/>
        </p:nvSpPr>
        <p:spPr>
          <a:xfrm rot="5400000">
            <a:off x="4504310" y="3075025"/>
            <a:ext cx="208200" cy="2340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99A4A3D8-AA8D-1C1C-5DD0-AF9F026A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1">
            <a:extLst>
              <a:ext uri="{FF2B5EF4-FFF2-40B4-BE49-F238E27FC236}">
                <a16:creationId xmlns:a16="http://schemas.microsoft.com/office/drawing/2014/main" id="{91A3FD4F-26D0-792E-C87C-D351217BB4D1}"/>
              </a:ext>
            </a:extLst>
          </p:cNvPr>
          <p:cNvSpPr txBox="1"/>
          <p:nvPr/>
        </p:nvSpPr>
        <p:spPr>
          <a:xfrm>
            <a:off x="540000" y="360000"/>
            <a:ext cx="832206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АНАЛОГИЯ С БИОЛОГИЧЕСКИМ НЕЙРОНОМ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4FB99-9424-2B50-BF12-90A0F7609F40}"/>
              </a:ext>
            </a:extLst>
          </p:cNvPr>
          <p:cNvSpPr txBox="1"/>
          <p:nvPr/>
        </p:nvSpPr>
        <p:spPr>
          <a:xfrm>
            <a:off x="236482" y="48260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https://www.sscardapane.it/alice-book/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391E6E-660A-AFE8-33CF-911EDF92E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79" b="15043"/>
          <a:stretch>
            <a:fillRect/>
          </a:stretch>
        </p:blipFill>
        <p:spPr>
          <a:xfrm>
            <a:off x="2750663" y="882869"/>
            <a:ext cx="3642673" cy="37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5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375" y="1467734"/>
            <a:ext cx="5467249" cy="2822451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5"/>
          <p:cNvSpPr txBox="1"/>
          <p:nvPr/>
        </p:nvSpPr>
        <p:spPr>
          <a:xfrm>
            <a:off x="540000" y="360000"/>
            <a:ext cx="813918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ОБУЧЕНИЕ МОДЕЛИ ИСКУССТВЕННОГО НЕЙРОНА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315" y="1437254"/>
            <a:ext cx="5467249" cy="282245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6"/>
          <p:cNvSpPr/>
          <p:nvPr/>
        </p:nvSpPr>
        <p:spPr>
          <a:xfrm>
            <a:off x="2961165" y="1607005"/>
            <a:ext cx="625200" cy="585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66"/>
          <p:cNvSpPr/>
          <p:nvPr/>
        </p:nvSpPr>
        <p:spPr>
          <a:xfrm>
            <a:off x="2961165" y="2263655"/>
            <a:ext cx="625200" cy="585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66"/>
          <p:cNvSpPr/>
          <p:nvPr/>
        </p:nvSpPr>
        <p:spPr>
          <a:xfrm>
            <a:off x="2961165" y="3394330"/>
            <a:ext cx="625200" cy="585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66"/>
          <p:cNvSpPr txBox="1"/>
          <p:nvPr/>
        </p:nvSpPr>
        <p:spPr>
          <a:xfrm>
            <a:off x="540000" y="360000"/>
            <a:ext cx="821538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ОБУЧЕНИЕ МОДЕЛИ ИСКУССТВЕННОГО НЕЙРОНА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7"/>
          <p:cNvSpPr txBox="1"/>
          <p:nvPr/>
        </p:nvSpPr>
        <p:spPr>
          <a:xfrm>
            <a:off x="540000" y="1109590"/>
            <a:ext cx="8085840" cy="254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с учителем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Набор данных с правильными ответами (разметка)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Правила Хебба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Усиливаются связи между нейронами, которые часто срабатывают вместе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противном случае связи ослабляются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Градиентный спуск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Метод обратного распространения ошибки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0" name="Google Shape;590;p67"/>
          <p:cNvSpPr txBox="1"/>
          <p:nvPr/>
        </p:nvSpPr>
        <p:spPr>
          <a:xfrm>
            <a:off x="540000" y="360000"/>
            <a:ext cx="808584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МЕТОДЫ ОБУЧЕНИЯ НЕЙРОННОГО СЕТИ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8"/>
          <p:cNvSpPr txBox="1"/>
          <p:nvPr/>
        </p:nvSpPr>
        <p:spPr>
          <a:xfrm>
            <a:off x="540000" y="1232406"/>
            <a:ext cx="8230620" cy="364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Начальные значения весов инициализируются случайным образом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Данные для обучения подают на вход нейронной сети </a:t>
            </a:r>
            <a:b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 рассчитываются значения на выходе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Выходные значения сравниваются с правильными: оценивается </a:t>
            </a:r>
            <a:r>
              <a:rPr lang="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ошибка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Рассчитывается </a:t>
            </a:r>
            <a:r>
              <a:rPr lang="ru-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градиент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направление самого быстрого увеличения функции ошибки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Веса меняются на небольшое значение в зависимости от градиента (</a:t>
            </a:r>
            <a:r>
              <a:rPr lang="ru-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шаг обучения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8" name="Google Shape;598;p68"/>
          <p:cNvSpPr txBox="1"/>
          <p:nvPr/>
        </p:nvSpPr>
        <p:spPr>
          <a:xfrm>
            <a:off x="540000" y="360000"/>
            <a:ext cx="759054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МЕТОД ГРАДИЕНТНОГО СПУСКА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71"/>
          <p:cNvPicPr preferRelativeResize="0"/>
          <p:nvPr/>
        </p:nvPicPr>
        <p:blipFill rotWithShape="1">
          <a:blip r:embed="rId3">
            <a:alphaModFix/>
          </a:blip>
          <a:srcRect b="11894"/>
          <a:stretch/>
        </p:blipFill>
        <p:spPr>
          <a:xfrm>
            <a:off x="2003840" y="881710"/>
            <a:ext cx="4913000" cy="32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71"/>
          <p:cNvSpPr txBox="1"/>
          <p:nvPr/>
        </p:nvSpPr>
        <p:spPr>
          <a:xfrm>
            <a:off x="1889865" y="4256885"/>
            <a:ext cx="135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Входной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3" name="Google Shape;623;p71"/>
          <p:cNvSpPr txBox="1"/>
          <p:nvPr/>
        </p:nvSpPr>
        <p:spPr>
          <a:xfrm>
            <a:off x="3235240" y="4256885"/>
            <a:ext cx="25062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Скрытые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4" name="Google Shape;624;p71"/>
          <p:cNvSpPr txBox="1"/>
          <p:nvPr/>
        </p:nvSpPr>
        <p:spPr>
          <a:xfrm>
            <a:off x="5434390" y="4256885"/>
            <a:ext cx="2003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Выходной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5" name="Google Shape;625;p71"/>
          <p:cNvSpPr txBox="1"/>
          <p:nvPr/>
        </p:nvSpPr>
        <p:spPr>
          <a:xfrm>
            <a:off x="540000" y="360000"/>
            <a:ext cx="55440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ГЛУБОКАЯ НЕЙРОННАЯ СЕТЬ 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72"/>
          <p:cNvPicPr preferRelativeResize="0"/>
          <p:nvPr/>
        </p:nvPicPr>
        <p:blipFill rotWithShape="1">
          <a:blip r:embed="rId3">
            <a:alphaModFix/>
          </a:blip>
          <a:srcRect b="11894"/>
          <a:stretch/>
        </p:blipFill>
        <p:spPr>
          <a:xfrm>
            <a:off x="2019850" y="1080197"/>
            <a:ext cx="4913000" cy="32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72"/>
          <p:cNvSpPr txBox="1"/>
          <p:nvPr/>
        </p:nvSpPr>
        <p:spPr>
          <a:xfrm>
            <a:off x="1905875" y="4310422"/>
            <a:ext cx="135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Входной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4" name="Google Shape;634;p72"/>
          <p:cNvSpPr txBox="1"/>
          <p:nvPr/>
        </p:nvSpPr>
        <p:spPr>
          <a:xfrm>
            <a:off x="3251250" y="4310422"/>
            <a:ext cx="25062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Скрытые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5" name="Google Shape;635;p72"/>
          <p:cNvSpPr txBox="1"/>
          <p:nvPr/>
        </p:nvSpPr>
        <p:spPr>
          <a:xfrm>
            <a:off x="5450400" y="4310422"/>
            <a:ext cx="2003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Выходной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6" name="Google Shape;636;p72"/>
          <p:cNvSpPr txBox="1"/>
          <p:nvPr/>
        </p:nvSpPr>
        <p:spPr>
          <a:xfrm>
            <a:off x="540000" y="360000"/>
            <a:ext cx="787270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МЕТОД ОБРАТНОГО РАСПРОСТРАНЕНИЯ ОШИБКИ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075" y="1156350"/>
            <a:ext cx="3568286" cy="375839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73"/>
          <p:cNvSpPr txBox="1"/>
          <p:nvPr/>
        </p:nvSpPr>
        <p:spPr>
          <a:xfrm>
            <a:off x="540000" y="360000"/>
            <a:ext cx="784962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МЕТОД ОБРАТНОГО РАСПРОСТРАНЕНИЯ ОШИБКИ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74"/>
          <p:cNvPicPr preferRelativeResize="0"/>
          <p:nvPr/>
        </p:nvPicPr>
        <p:blipFill rotWithShape="1">
          <a:blip r:embed="rId3">
            <a:alphaModFix/>
          </a:blip>
          <a:srcRect b="11894"/>
          <a:stretch/>
        </p:blipFill>
        <p:spPr>
          <a:xfrm>
            <a:off x="2115500" y="1080197"/>
            <a:ext cx="4913000" cy="32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74"/>
          <p:cNvSpPr txBox="1"/>
          <p:nvPr/>
        </p:nvSpPr>
        <p:spPr>
          <a:xfrm>
            <a:off x="2001525" y="4310422"/>
            <a:ext cx="135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Входной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3" name="Google Shape;653;p74"/>
          <p:cNvSpPr txBox="1"/>
          <p:nvPr/>
        </p:nvSpPr>
        <p:spPr>
          <a:xfrm>
            <a:off x="3346900" y="4310422"/>
            <a:ext cx="25062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Скрытые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4" name="Google Shape;654;p74"/>
          <p:cNvSpPr txBox="1"/>
          <p:nvPr/>
        </p:nvSpPr>
        <p:spPr>
          <a:xfrm>
            <a:off x="5546050" y="4310422"/>
            <a:ext cx="2003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Выходной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5" name="Google Shape;655;p74"/>
          <p:cNvSpPr txBox="1"/>
          <p:nvPr/>
        </p:nvSpPr>
        <p:spPr>
          <a:xfrm>
            <a:off x="540000" y="360000"/>
            <a:ext cx="828396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МЕТОД ОБРАТНОГО РАСПРОСТРАНЕНИЯ ОШИБКИ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>
          <a:extLst>
            <a:ext uri="{FF2B5EF4-FFF2-40B4-BE49-F238E27FC236}">
              <a16:creationId xmlns:a16="http://schemas.microsoft.com/office/drawing/2014/main" id="{B0A23192-11F1-4771-0A24-39C97E7E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5">
            <a:extLst>
              <a:ext uri="{FF2B5EF4-FFF2-40B4-BE49-F238E27FC236}">
                <a16:creationId xmlns:a16="http://schemas.microsoft.com/office/drawing/2014/main" id="{6E065D91-0F58-24A7-DD29-73D553FC54A7}"/>
              </a:ext>
            </a:extLst>
          </p:cNvPr>
          <p:cNvSpPr txBox="1"/>
          <p:nvPr/>
        </p:nvSpPr>
        <p:spPr>
          <a:xfrm>
            <a:off x="540000" y="360000"/>
            <a:ext cx="8131034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Обучение языковой модели на основе нейронной сети 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p75">
            <a:extLst>
              <a:ext uri="{FF2B5EF4-FFF2-40B4-BE49-F238E27FC236}">
                <a16:creationId xmlns:a16="http://schemas.microsoft.com/office/drawing/2014/main" id="{CADCBB39-71A2-A9D0-AD3A-B23DAF7955EF}"/>
              </a:ext>
            </a:extLst>
          </p:cNvPr>
          <p:cNvSpPr txBox="1"/>
          <p:nvPr/>
        </p:nvSpPr>
        <p:spPr>
          <a:xfrm>
            <a:off x="539999" y="1239113"/>
            <a:ext cx="8430579" cy="370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Semi-supervised learning</a:t>
            </a:r>
            <a:endParaRPr lang="ru-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Корпус текстов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Илья Сегалович родился в семье советского геофизика Валентина Сегаловича. Детство провёл в Казахстане. В Республиканской физико-математической школе познакомился с будущим сооснователем «Яндекса» Аркадием Воложем.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Данные для обучения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Илья Сегалович родился в, семье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Сегалович родился в семье, советского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родился в семье советского, геофизика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53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>
          <a:extLst>
            <a:ext uri="{FF2B5EF4-FFF2-40B4-BE49-F238E27FC236}">
              <a16:creationId xmlns:a16="http://schemas.microsoft.com/office/drawing/2014/main" id="{3FC5FDE9-FED6-359A-FD62-0181DA4B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5">
            <a:extLst>
              <a:ext uri="{FF2B5EF4-FFF2-40B4-BE49-F238E27FC236}">
                <a16:creationId xmlns:a16="http://schemas.microsoft.com/office/drawing/2014/main" id="{E2576B2A-4166-08D9-C65D-B8AFAD15E991}"/>
              </a:ext>
            </a:extLst>
          </p:cNvPr>
          <p:cNvSpPr txBox="1"/>
          <p:nvPr/>
        </p:nvSpPr>
        <p:spPr>
          <a:xfrm>
            <a:off x="540000" y="360000"/>
            <a:ext cx="8131034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Архитектуры нейронных сетей для языковых моделей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p75">
            <a:extLst>
              <a:ext uri="{FF2B5EF4-FFF2-40B4-BE49-F238E27FC236}">
                <a16:creationId xmlns:a16="http://schemas.microsoft.com/office/drawing/2014/main" id="{97B6D763-D2E8-038A-B576-1DBB3479F92B}"/>
              </a:ext>
            </a:extLst>
          </p:cNvPr>
          <p:cNvSpPr txBox="1"/>
          <p:nvPr/>
        </p:nvSpPr>
        <p:spPr>
          <a:xfrm>
            <a:off x="539999" y="1239113"/>
            <a:ext cx="8430579" cy="1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ru-RU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Полносвязные</a:t>
            </a: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нейронные сети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Рекуррентные нейронные сети (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LSTM, GRU)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Сети с архитектурой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Transformer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9819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539999" y="983375"/>
            <a:ext cx="7847255" cy="255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Лучшие результаты в обработке естественного языка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Механизм внимания (attention)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Нейронные сети с архитектурой Transformer (GPT, BERT)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Механизм внимания и сети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 архитектурой Transformer применяются в других областях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Компьютерное зрение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539999" y="1013600"/>
            <a:ext cx="8383283" cy="318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Механизм внимания придумали </a:t>
            </a:r>
            <a:b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задачи автоматического перевода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Проблема с переводом длинных предложений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Недостаточно памяти/информации в компактном представлении для перевода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Решение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Выделять слова, на которые нужно обратить внимание при переводе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1408975" y="2748100"/>
            <a:ext cx="6240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1401490" y="1671624"/>
            <a:ext cx="10281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1408975" y="2748100"/>
            <a:ext cx="6240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2018575" y="2748100"/>
            <a:ext cx="6888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2420823" y="1671625"/>
            <a:ext cx="19560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3"/>
          <p:cNvSpPr/>
          <p:nvPr/>
        </p:nvSpPr>
        <p:spPr>
          <a:xfrm>
            <a:off x="2018575" y="2748100"/>
            <a:ext cx="6888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2039850" y="3062250"/>
            <a:ext cx="14418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4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/>
        </p:nvSpPr>
        <p:spPr>
          <a:xfrm>
            <a:off x="540000" y="1235025"/>
            <a:ext cx="52323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 из набора данных OPUS 100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времени обсудить,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важное решение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don't you let us talk about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for a little while, it's a big decision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425850" y="1992575"/>
            <a:ext cx="22428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2039850" y="3062250"/>
            <a:ext cx="1441800" cy="360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ЗАДАЧА ПЕРЕВОДА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1983222" y="1572617"/>
            <a:ext cx="17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почему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1983222" y="2076642"/>
            <a:ext cx="17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бы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1974804" y="2568267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тебе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978997" y="3040467"/>
            <a:ext cx="17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'не'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1974679" y="3531942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дать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276243" y="15940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0.11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3851045" y="15928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-1.2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3276243" y="20779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1.8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3851045" y="20766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3276243" y="25630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3.7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3851045" y="25617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0.9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3276243" y="30352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-1.3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3851045" y="30339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4.1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3276243" y="350996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2.6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851045" y="35086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0.6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6399993" y="2552288"/>
            <a:ext cx="82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BOS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5250393" y="254766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5825195" y="25463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-2.1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3228945" y="915613"/>
            <a:ext cx="332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Функция внимания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1935924" y="1572617"/>
            <a:ext cx="17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почему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1935924" y="2076642"/>
            <a:ext cx="17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бы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1927506" y="2568267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тебе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1931699" y="3040467"/>
            <a:ext cx="17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'не'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1927381" y="3531942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дать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3228945" y="15940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0.11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3803747" y="15928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-1.2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228945" y="20779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1.8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3803747" y="20766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3228945" y="25630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3.7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3803747" y="25617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0.9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3228945" y="30352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-1.3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3803747" y="30339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4.1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3228945" y="350996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2.6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3803747" y="35086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0.6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6352695" y="2552288"/>
            <a:ext cx="82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BOS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5203095" y="254766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5777897" y="25463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-2.1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4659395" y="169445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4659395" y="2178275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4650720" y="266210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4650720" y="313430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4650833" y="360650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7"/>
          <p:cNvCxnSpPr>
            <a:stCxn id="214" idx="2"/>
            <a:endCxn id="202" idx="3"/>
          </p:cNvCxnSpPr>
          <p:nvPr/>
        </p:nvCxnSpPr>
        <p:spPr>
          <a:xfrm rot="10800000">
            <a:off x="4378595" y="1829000"/>
            <a:ext cx="2808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0" name="Google Shape;220;p27"/>
          <p:cNvCxnSpPr>
            <a:stCxn id="215" idx="2"/>
            <a:endCxn id="204" idx="3"/>
          </p:cNvCxnSpPr>
          <p:nvPr/>
        </p:nvCxnSpPr>
        <p:spPr>
          <a:xfrm rot="10800000">
            <a:off x="4378595" y="2312825"/>
            <a:ext cx="2808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1" name="Google Shape;221;p27"/>
          <p:cNvCxnSpPr>
            <a:stCxn id="216" idx="2"/>
            <a:endCxn id="206" idx="3"/>
          </p:cNvCxnSpPr>
          <p:nvPr/>
        </p:nvCxnSpPr>
        <p:spPr>
          <a:xfrm rot="10800000">
            <a:off x="4378620" y="2797850"/>
            <a:ext cx="27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2" name="Google Shape;222;p27"/>
          <p:cNvCxnSpPr>
            <a:stCxn id="217" idx="2"/>
            <a:endCxn id="208" idx="3"/>
          </p:cNvCxnSpPr>
          <p:nvPr/>
        </p:nvCxnSpPr>
        <p:spPr>
          <a:xfrm rot="10800000">
            <a:off x="4378620" y="3270050"/>
            <a:ext cx="27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3" name="Google Shape;223;p27"/>
          <p:cNvCxnSpPr>
            <a:stCxn id="218" idx="2"/>
            <a:endCxn id="210" idx="3"/>
          </p:cNvCxnSpPr>
          <p:nvPr/>
        </p:nvCxnSpPr>
        <p:spPr>
          <a:xfrm flipH="1">
            <a:off x="4378433" y="3742250"/>
            <a:ext cx="272400" cy="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4" name="Google Shape;224;p27"/>
          <p:cNvCxnSpPr>
            <a:stCxn id="214" idx="6"/>
            <a:endCxn id="212" idx="1"/>
          </p:cNvCxnSpPr>
          <p:nvPr/>
        </p:nvCxnSpPr>
        <p:spPr>
          <a:xfrm>
            <a:off x="4930895" y="1830200"/>
            <a:ext cx="272100" cy="953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5" name="Google Shape;225;p27"/>
          <p:cNvCxnSpPr>
            <a:stCxn id="215" idx="6"/>
            <a:endCxn id="212" idx="1"/>
          </p:cNvCxnSpPr>
          <p:nvPr/>
        </p:nvCxnSpPr>
        <p:spPr>
          <a:xfrm>
            <a:off x="4930895" y="2314025"/>
            <a:ext cx="272100" cy="46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6" name="Google Shape;226;p27"/>
          <p:cNvCxnSpPr>
            <a:stCxn id="216" idx="6"/>
            <a:endCxn id="212" idx="1"/>
          </p:cNvCxnSpPr>
          <p:nvPr/>
        </p:nvCxnSpPr>
        <p:spPr>
          <a:xfrm rot="10800000" flipH="1">
            <a:off x="4922220" y="2783750"/>
            <a:ext cx="280800" cy="1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7" name="Google Shape;227;p27"/>
          <p:cNvCxnSpPr>
            <a:stCxn id="217" idx="6"/>
            <a:endCxn id="212" idx="1"/>
          </p:cNvCxnSpPr>
          <p:nvPr/>
        </p:nvCxnSpPr>
        <p:spPr>
          <a:xfrm rot="10800000" flipH="1">
            <a:off x="4922220" y="2783750"/>
            <a:ext cx="280800" cy="48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8" name="Google Shape;228;p27"/>
          <p:cNvCxnSpPr>
            <a:stCxn id="218" idx="6"/>
            <a:endCxn id="212" idx="1"/>
          </p:cNvCxnSpPr>
          <p:nvPr/>
        </p:nvCxnSpPr>
        <p:spPr>
          <a:xfrm rot="10800000" flipH="1">
            <a:off x="4922333" y="2783750"/>
            <a:ext cx="280800" cy="95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/>
        </p:nvSpPr>
        <p:spPr>
          <a:xfrm>
            <a:off x="540000" y="1235025"/>
            <a:ext cx="5232300" cy="24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Скалярное произведение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Однослойная нейронная сеть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Другие варианты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ФУНКЦИИ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29"/>
          <p:cNvCxnSpPr>
            <a:stCxn id="242" idx="1"/>
            <a:endCxn id="243" idx="4"/>
          </p:cNvCxnSpPr>
          <p:nvPr/>
        </p:nvCxnSpPr>
        <p:spPr>
          <a:xfrm rot="10800000" flipH="1">
            <a:off x="4785897" y="3878138"/>
            <a:ext cx="600" cy="57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29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5445044" y="1603050"/>
            <a:ext cx="7422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0.8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5444994" y="2086875"/>
            <a:ext cx="7422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5444995" y="2571975"/>
            <a:ext cx="742200" cy="461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0.11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5444995" y="3044175"/>
            <a:ext cx="7422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0.09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5445045" y="3518925"/>
            <a:ext cx="742200" cy="441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0.08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4659395" y="915625"/>
            <a:ext cx="240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Вектор внимания</a:t>
            </a:r>
            <a:endParaRPr/>
          </a:p>
        </p:txBody>
      </p:sp>
      <p:sp>
        <p:nvSpPr>
          <p:cNvPr id="253" name="Google Shape;253;p29"/>
          <p:cNvSpPr txBox="1"/>
          <p:nvPr/>
        </p:nvSpPr>
        <p:spPr>
          <a:xfrm>
            <a:off x="1935924" y="1572617"/>
            <a:ext cx="17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почему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1935924" y="2076642"/>
            <a:ext cx="17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бы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1927506" y="2568267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тебе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1931699" y="3040467"/>
            <a:ext cx="17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'не'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1927381" y="3531942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дать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3228945" y="15940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0.11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3803747" y="15928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-1.2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3228945" y="20779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1.8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3803747" y="20766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3228945" y="25630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3.7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3803747" y="25617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0.9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3228945" y="30352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-1.3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3803747" y="30339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4.1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3228945" y="350996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2.6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3803747" y="350868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0.6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5360695" y="4222738"/>
            <a:ext cx="82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BOS</a:t>
            </a:r>
            <a:r>
              <a:rPr lang="ru" sz="18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'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4211095" y="4218113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0.2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4785897" y="4216838"/>
            <a:ext cx="574800" cy="472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-2.1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4659395" y="169445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4659395" y="2178275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4650720" y="266210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50720" y="313430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9"/>
          <p:cNvSpPr/>
          <p:nvPr/>
        </p:nvSpPr>
        <p:spPr>
          <a:xfrm>
            <a:off x="4650833" y="3606500"/>
            <a:ext cx="271500" cy="271500"/>
          </a:xfrm>
          <a:prstGeom prst="ellipse">
            <a:avLst/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4" name="Google Shape;274;p29"/>
          <p:cNvCxnSpPr>
            <a:stCxn id="270" idx="2"/>
            <a:endCxn id="259" idx="3"/>
          </p:cNvCxnSpPr>
          <p:nvPr/>
        </p:nvCxnSpPr>
        <p:spPr>
          <a:xfrm rot="10800000">
            <a:off x="4378595" y="1829000"/>
            <a:ext cx="2808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5" name="Google Shape;275;p29"/>
          <p:cNvCxnSpPr>
            <a:stCxn id="271" idx="2"/>
            <a:endCxn id="261" idx="3"/>
          </p:cNvCxnSpPr>
          <p:nvPr/>
        </p:nvCxnSpPr>
        <p:spPr>
          <a:xfrm rot="10800000">
            <a:off x="4378595" y="2312825"/>
            <a:ext cx="2808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6" name="Google Shape;276;p29"/>
          <p:cNvCxnSpPr>
            <a:stCxn id="272" idx="2"/>
            <a:endCxn id="263" idx="3"/>
          </p:cNvCxnSpPr>
          <p:nvPr/>
        </p:nvCxnSpPr>
        <p:spPr>
          <a:xfrm rot="10800000">
            <a:off x="4378620" y="2797850"/>
            <a:ext cx="27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7" name="Google Shape;277;p29"/>
          <p:cNvCxnSpPr>
            <a:stCxn id="273" idx="2"/>
            <a:endCxn id="265" idx="3"/>
          </p:cNvCxnSpPr>
          <p:nvPr/>
        </p:nvCxnSpPr>
        <p:spPr>
          <a:xfrm rot="10800000">
            <a:off x="4378620" y="3270050"/>
            <a:ext cx="27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8" name="Google Shape;278;p29"/>
          <p:cNvCxnSpPr>
            <a:stCxn id="243" idx="2"/>
            <a:endCxn id="267" idx="3"/>
          </p:cNvCxnSpPr>
          <p:nvPr/>
        </p:nvCxnSpPr>
        <p:spPr>
          <a:xfrm flipH="1">
            <a:off x="4378433" y="3742250"/>
            <a:ext cx="272400" cy="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9" name="Google Shape;279;p29"/>
          <p:cNvCxnSpPr>
            <a:stCxn id="247" idx="1"/>
            <a:endCxn id="270" idx="6"/>
          </p:cNvCxnSpPr>
          <p:nvPr/>
        </p:nvCxnSpPr>
        <p:spPr>
          <a:xfrm rot="10800000">
            <a:off x="4930844" y="1830150"/>
            <a:ext cx="514200" cy="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0" name="Google Shape;280;p29"/>
          <p:cNvCxnSpPr>
            <a:stCxn id="248" idx="1"/>
            <a:endCxn id="271" idx="6"/>
          </p:cNvCxnSpPr>
          <p:nvPr/>
        </p:nvCxnSpPr>
        <p:spPr>
          <a:xfrm rot="10800000">
            <a:off x="4930794" y="2313975"/>
            <a:ext cx="514200" cy="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1" name="Google Shape;281;p29"/>
          <p:cNvCxnSpPr>
            <a:stCxn id="249" idx="1"/>
            <a:endCxn id="272" idx="6"/>
          </p:cNvCxnSpPr>
          <p:nvPr/>
        </p:nvCxnSpPr>
        <p:spPr>
          <a:xfrm rot="10800000">
            <a:off x="4922095" y="2797725"/>
            <a:ext cx="5229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2" name="Google Shape;282;p29"/>
          <p:cNvCxnSpPr>
            <a:stCxn id="250" idx="1"/>
            <a:endCxn id="273" idx="6"/>
          </p:cNvCxnSpPr>
          <p:nvPr/>
        </p:nvCxnSpPr>
        <p:spPr>
          <a:xfrm rot="10800000">
            <a:off x="4922095" y="3270075"/>
            <a:ext cx="522900" cy="1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3" name="Google Shape;283;p29"/>
          <p:cNvCxnSpPr>
            <a:stCxn id="251" idx="1"/>
            <a:endCxn id="243" idx="6"/>
          </p:cNvCxnSpPr>
          <p:nvPr/>
        </p:nvCxnSpPr>
        <p:spPr>
          <a:xfrm flipH="1">
            <a:off x="4922445" y="3739875"/>
            <a:ext cx="522600" cy="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/>
        </p:nvSpPr>
        <p:spPr>
          <a:xfrm>
            <a:off x="540000" y="1395225"/>
            <a:ext cx="7665952" cy="197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Механизм внимания позволяет выделить из предложения информацию, важную для генерации следующего слова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Механизм внимания помогает переводить длинные предложения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540000" y="360000"/>
            <a:ext cx="8272924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r>
              <a:rPr lang="en-US" sz="26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26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 ПЕРЕВОДЕ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/>
          <p:nvPr/>
        </p:nvSpPr>
        <p:spPr>
          <a:xfrm>
            <a:off x="540000" y="1020589"/>
            <a:ext cx="7997028" cy="197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Самовнимание (self attention)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механизм внимания, где на входе и выходе одни и те же данные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 переводе нужно несколько раз читать не только исходное предложение, но и генерируемое предложение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Согласование слов в предложении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САМОВНИМАНИЕ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/>
          <p:nvPr/>
        </p:nvSpPr>
        <p:spPr>
          <a:xfrm>
            <a:off x="540000" y="1189800"/>
            <a:ext cx="5232300" cy="10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Почему бы тебе не дать нам немного … (время, времени, времена, ???)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САМОВНИМАНИЕ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/>
        </p:nvSpPr>
        <p:spPr>
          <a:xfrm>
            <a:off x="539999" y="1189800"/>
            <a:ext cx="8257159" cy="242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Механизм внимания (attention) выделяет важную информацию </a:t>
            </a:r>
            <a:b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предложении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Статья Attention Is All You Need, 2017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Архитектура нейронной сети, состоящая только из блоков </a:t>
            </a:r>
            <a:b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 механизмом внимания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Архитектура Transformer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МЕХАНИЗМ ВНИМАНИЯ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/>
          <p:nvPr/>
        </p:nvSpPr>
        <p:spPr>
          <a:xfrm>
            <a:off x="540000" y="360000"/>
            <a:ext cx="7358524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АРХИТЕКТУРА TRANSFORMER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2195963" y="2318800"/>
            <a:ext cx="1918800" cy="79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Кодировщик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(encoder)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4675588" y="2318800"/>
            <a:ext cx="2221800" cy="79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32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Декодировщик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(decoder)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43" name="Google Shape;343;p36"/>
          <p:cNvCxnSpPr>
            <a:stCxn id="341" idx="3"/>
            <a:endCxn id="342" idx="1"/>
          </p:cNvCxnSpPr>
          <p:nvPr/>
        </p:nvCxnSpPr>
        <p:spPr>
          <a:xfrm>
            <a:off x="4114763" y="2715100"/>
            <a:ext cx="56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44" name="Google Shape;344;p36"/>
          <p:cNvCxnSpPr/>
          <p:nvPr/>
        </p:nvCxnSpPr>
        <p:spPr>
          <a:xfrm rot="10800000" flipH="1">
            <a:off x="1838560" y="2715050"/>
            <a:ext cx="349200" cy="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45" name="Google Shape;345;p36"/>
          <p:cNvCxnSpPr/>
          <p:nvPr/>
        </p:nvCxnSpPr>
        <p:spPr>
          <a:xfrm>
            <a:off x="6906674" y="2715950"/>
            <a:ext cx="56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46" name="Google Shape;346;p36"/>
          <p:cNvCxnSpPr/>
          <p:nvPr/>
        </p:nvCxnSpPr>
        <p:spPr>
          <a:xfrm>
            <a:off x="7099788" y="2716850"/>
            <a:ext cx="0" cy="85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36"/>
          <p:cNvCxnSpPr/>
          <p:nvPr/>
        </p:nvCxnSpPr>
        <p:spPr>
          <a:xfrm>
            <a:off x="5792838" y="3568475"/>
            <a:ext cx="1315500" cy="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36"/>
          <p:cNvCxnSpPr>
            <a:endCxn id="342" idx="2"/>
          </p:cNvCxnSpPr>
          <p:nvPr/>
        </p:nvCxnSpPr>
        <p:spPr>
          <a:xfrm rot="10800000">
            <a:off x="5786488" y="3111400"/>
            <a:ext cx="6300" cy="46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/>
        </p:nvSpPr>
        <p:spPr>
          <a:xfrm>
            <a:off x="539999" y="928100"/>
            <a:ext cx="8469993" cy="299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Что включают кодировщик и декодировщик в Transformer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Блоки внимания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Attention Is All You Need!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Multihead attention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Несколько блоков с механизмом внимания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Каждый блок выделяет информацию, полезную для разных задач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6" name="Google Shape;356;p37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ЧТО ВНУТРИ TRANSFORMER?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ЧТО ВНУТРИ TRANSFORMER?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64" name="Google Shape;3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0650" y="720300"/>
            <a:ext cx="3000000" cy="41576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8"/>
          <p:cNvSpPr txBox="1"/>
          <p:nvPr/>
        </p:nvSpPr>
        <p:spPr>
          <a:xfrm>
            <a:off x="1950600" y="4943258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900" dirty="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Vaswani, Ashish, Shazeer. Attention is all you need. 2017</a:t>
            </a:r>
            <a:endParaRPr sz="900" dirty="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/>
        </p:nvSpPr>
        <p:spPr>
          <a:xfrm>
            <a:off x="540000" y="1240833"/>
            <a:ext cx="7839372" cy="299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Только кодировщик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Задача понимания текста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Только декодировщик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Задача генерации текста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Кодировщик и декодировщик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Генеративные задачи, для которых нужны входные данные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4" name="Google Shape;374;p39"/>
          <p:cNvSpPr txBox="1"/>
          <p:nvPr/>
        </p:nvSpPr>
        <p:spPr>
          <a:xfrm>
            <a:off x="540000" y="360000"/>
            <a:ext cx="81231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ТИПЫ СЕТЕЙ АРХИТЕКТУРЫ TRANSFORMER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/>
        </p:nvSpPr>
        <p:spPr>
          <a:xfrm>
            <a:off x="540000" y="1020609"/>
            <a:ext cx="8225628" cy="287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Модули внимания имеют доступ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 каждому слову во входном предложении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Восстановление предложения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Примеры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BERT: Deep Bidirectional Transformers for Language Understanding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2" name="Google Shape;382;p40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КОДИРОВЩИКИ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 txBox="1"/>
          <p:nvPr/>
        </p:nvSpPr>
        <p:spPr>
          <a:xfrm>
            <a:off x="540000" y="1189800"/>
            <a:ext cx="8170448" cy="255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Модули внимания имеют доступ только к предыдущему слову в предложении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Предсказание следующего слова в предложении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Примеры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GPT: Generative pre-trained transformer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ДЕКОДИРОВЩИКИ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"/>
          <p:cNvSpPr txBox="1"/>
          <p:nvPr/>
        </p:nvSpPr>
        <p:spPr>
          <a:xfrm>
            <a:off x="540000" y="1266092"/>
            <a:ext cx="8667062" cy="268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Полная архитектура Transformer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Обучение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Преобразование одной последовательности в другую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Примеры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T5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BART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8" name="Google Shape;398;p42"/>
          <p:cNvSpPr txBox="1"/>
          <p:nvPr/>
        </p:nvSpPr>
        <p:spPr>
          <a:xfrm>
            <a:off x="540000" y="360000"/>
            <a:ext cx="8107386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КОДИРОВЩИК</a:t>
            </a: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И ДЕКОДИРОВЩИК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/>
        </p:nvSpPr>
        <p:spPr>
          <a:xfrm>
            <a:off x="540000" y="1259150"/>
            <a:ext cx="8272924" cy="287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Показывают лучшие результаты для задач обработки естественного языка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Сети семейства архитектур BERT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Понимание языка (классификация, выделение именованных сущностей, ответы на вопросы)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Сети семейства архитектур GPT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текста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/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СЕТИ С АРХИТЕКТУРОЙ TRANSFORMER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DCE54C13-D3BF-C055-D7E3-B6D3E73B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4FA8B1B1-8622-4E22-6D04-0B16FFBD136E}"/>
              </a:ext>
            </a:extLst>
          </p:cNvPr>
          <p:cNvSpPr txBox="1"/>
          <p:nvPr/>
        </p:nvSpPr>
        <p:spPr>
          <a:xfrm>
            <a:off x="540000" y="1259150"/>
            <a:ext cx="8272924" cy="31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«Большой» размер модели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Миллиарды и трилионы параметров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«Большой» корпус текстов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Весь интернет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«Большие» вычислительные ресурсы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Вычислительные кластеры с тысячами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GPU</a:t>
            </a:r>
            <a:endParaRPr lang="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A0AE2840-4378-5CAF-457D-A74E15E2C8BA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Большие языковые модели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500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236831FB-4C29-4475-7062-FEF9327E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6CB18C80-94D3-C9E4-80DE-3EA636CEB7C6}"/>
              </a:ext>
            </a:extLst>
          </p:cNvPr>
          <p:cNvSpPr txBox="1"/>
          <p:nvPr/>
        </p:nvSpPr>
        <p:spPr>
          <a:xfrm>
            <a:off x="540000" y="1259150"/>
            <a:ext cx="8272924" cy="31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OpenAI GPT-5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Anthropic Sonnet 4.5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DeepSeek R1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Alibaba Qwen  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Сбер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ruGPT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YandexGPT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B8418A76-6960-A355-5A7E-FFFCE5E16836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больших языковых мо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720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55184353-AC95-844D-EB3D-9DC08802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5C8346D5-6B8B-0235-1436-C4A57DB67D6F}"/>
              </a:ext>
            </a:extLst>
          </p:cNvPr>
          <p:cNvSpPr txBox="1"/>
          <p:nvPr/>
        </p:nvSpPr>
        <p:spPr>
          <a:xfrm>
            <a:off x="540000" y="1259150"/>
            <a:ext cx="8272924" cy="31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OpenAI ChatGPT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Anthropic Cloude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DeepSeek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Alibaba Qwen  </a:t>
            </a: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Сбер </a:t>
            </a:r>
            <a:r>
              <a:rPr lang="en-US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GigaChat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Алиса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5B81FA7C-D4B5-5181-C62D-CFE37FE14BA9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Диалоговые системы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7243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7D7AB449-9248-132F-7089-5F5E84D6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48C22F15-549C-059C-075C-35510805C32B}"/>
              </a:ext>
            </a:extLst>
          </p:cNvPr>
          <p:cNvSpPr txBox="1"/>
          <p:nvPr/>
        </p:nvSpPr>
        <p:spPr>
          <a:xfrm>
            <a:off x="540000" y="1054198"/>
            <a:ext cx="8272924" cy="357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Диалоговая система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Большая языковая модель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Диалоговый интерфейс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Что делает диалоговая система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Получает запросы пользователя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Отправляет запросы в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Выдает ответы пользователю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Хранит историю диалога</a:t>
            </a: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6AB76515-40E4-7036-E02C-CEC41CF5AB58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Диалоговые системы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65979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B6E39DCC-DEBA-C49C-9DC4-CEA2E1B0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>
            <a:extLst>
              <a:ext uri="{FF2B5EF4-FFF2-40B4-BE49-F238E27FC236}">
                <a16:creationId xmlns:a16="http://schemas.microsoft.com/office/drawing/2014/main" id="{D25F4526-00C2-0810-2844-F58AD77F6D18}"/>
              </a:ext>
            </a:extLst>
          </p:cNvPr>
          <p:cNvSpPr txBox="1"/>
          <p:nvPr/>
        </p:nvSpPr>
        <p:spPr>
          <a:xfrm>
            <a:off x="540000" y="1259150"/>
            <a:ext cx="8272924" cy="318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Обучены на данных, собранных год или больше назад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Сложно собрать данные со всего интернет, подготовить их для обучения</a:t>
            </a:r>
          </a:p>
          <a:p>
            <a:pPr marL="914400" lvl="1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Обучение занимает несколько месяцев, стоимость обучения измеряется в сотнях миллионов долларов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Обучены на открытых данных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Нет доступа к данным компании, находящихся в закрытых базах</a:t>
            </a:r>
            <a:endParaRPr lang="ru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A7553D04-F398-DF9E-5D0C-8DD505336F15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Ограничения больших языковых моделей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8500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41C9165B-9BCE-8F7F-51DA-FE3BC010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>
            <a:extLst>
              <a:ext uri="{FF2B5EF4-FFF2-40B4-BE49-F238E27FC236}">
                <a16:creationId xmlns:a16="http://schemas.microsoft.com/office/drawing/2014/main" id="{1043C344-303B-676C-A3ED-5DEF5E491433}"/>
              </a:ext>
            </a:extLst>
          </p:cNvPr>
          <p:cNvSpPr txBox="1"/>
          <p:nvPr/>
        </p:nvSpPr>
        <p:spPr>
          <a:xfrm>
            <a:off x="540000" y="360103"/>
            <a:ext cx="791820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Эксперимент «Китайская комната»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CBB861-5215-7C6A-4643-2B9D4F1B8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46" y="1370734"/>
            <a:ext cx="6376969" cy="24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9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5"/>
          <p:cNvSpPr txBox="1"/>
          <p:nvPr/>
        </p:nvSpPr>
        <p:spPr>
          <a:xfrm>
            <a:off x="540000" y="360000"/>
            <a:ext cx="55440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ИТОГИ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p75"/>
          <p:cNvSpPr txBox="1"/>
          <p:nvPr/>
        </p:nvSpPr>
        <p:spPr>
          <a:xfrm>
            <a:off x="547883" y="947449"/>
            <a:ext cx="8276340" cy="3837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Языковая модель – это распределение вероятностей по последовательностям слов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Типы языковых моделей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Статистическая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Нейронная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Архитектуры нейронных сетей для языковых моделей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Внимание и 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Transformer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GPT – Generative Pretrained Transformer 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Диалоговые системы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Большая языковая модель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Диалоговый интерфейс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2A1A23F-B6C2-0B7C-8E6B-67168A14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3960DD-4674-662C-0CB0-B079418AD5E1}"/>
              </a:ext>
            </a:extLst>
          </p:cNvPr>
          <p:cNvSpPr txBox="1"/>
          <p:nvPr/>
        </p:nvSpPr>
        <p:spPr>
          <a:xfrm>
            <a:off x="1502683" y="2196743"/>
            <a:ext cx="5957455" cy="75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40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Вопросы?</a:t>
            </a:r>
            <a:endParaRPr lang="ru-RU" sz="44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54736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1169</Words>
  <Application>Microsoft Office PowerPoint</Application>
  <PresentationFormat>Экран (16:9)</PresentationFormat>
  <Paragraphs>330</Paragraphs>
  <Slides>58</Slides>
  <Notes>58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5" baseType="lpstr">
      <vt:lpstr>Calibri</vt:lpstr>
      <vt:lpstr>Montserrat</vt:lpstr>
      <vt:lpstr>Montserrat ExtraBold</vt:lpstr>
      <vt:lpstr>Cambria Math</vt:lpstr>
      <vt:lpstr>Arial</vt:lpstr>
      <vt:lpstr>Montserrat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Ронкин Михаил Владимирович</cp:lastModifiedBy>
  <cp:revision>148</cp:revision>
  <dcterms:modified xsi:type="dcterms:W3CDTF">2026-10-12T12:39:45Z</dcterms:modified>
</cp:coreProperties>
</file>